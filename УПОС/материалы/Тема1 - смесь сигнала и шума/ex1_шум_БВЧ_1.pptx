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</p:sldMasterIdLst>
  <p:sldIdLst>
    <p:sldId id="256" r:id="rId10"/>
    <p:sldId id="257" r:id="rId11"/>
    <p:sldId id="258" r:id="rId12"/>
    <p:sldId id="259" r:id="rId13"/>
    <p:sldId id="266" r:id="rId14"/>
    <p:sldId id="260" r:id="rId15"/>
    <p:sldId id="261" r:id="rId16"/>
    <p:sldId id="262" r:id="rId17"/>
    <p:sldId id="263" r:id="rId18"/>
    <p:sldId id="264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0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11" Type="http://schemas.openxmlformats.org/officeDocument/2006/relationships/image" Target="../media/image16.wmf"/><Relationship Id="rId5" Type="http://schemas.openxmlformats.org/officeDocument/2006/relationships/image" Target="../media/image10.wmf"/><Relationship Id="rId10" Type="http://schemas.openxmlformats.org/officeDocument/2006/relationships/image" Target="../media/image15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11" Type="http://schemas.openxmlformats.org/officeDocument/2006/relationships/image" Target="../media/image64.wmf"/><Relationship Id="rId5" Type="http://schemas.openxmlformats.org/officeDocument/2006/relationships/image" Target="../media/image58.wmf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2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43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6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187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31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72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16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0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6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57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subTitle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ubTitle"/>
          </p:nvPr>
        </p:nvSpPr>
        <p:spPr>
          <a:xfrm>
            <a:off x="304920" y="457200"/>
            <a:ext cx="8686800" cy="3886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799"/>
              </a:spcBef>
            </a:pPr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304920" y="3918240"/>
            <a:ext cx="8686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body"/>
          </p:nvPr>
        </p:nvSpPr>
        <p:spPr>
          <a:xfrm>
            <a:off x="4756320" y="155412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body"/>
          </p:nvPr>
        </p:nvSpPr>
        <p:spPr>
          <a:xfrm>
            <a:off x="3049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body"/>
          </p:nvPr>
        </p:nvSpPr>
        <p:spPr>
          <a:xfrm>
            <a:off x="4756320" y="3918240"/>
            <a:ext cx="42390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endParaRPr lang="en-US" sz="3600" b="0" strike="noStrike" spc="-1">
              <a:solidFill>
                <a:srgbClr val="444D26"/>
              </a:solidFill>
              <a:latin typeface="Franklin Gothic Medium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30492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>
            <a:off x="324216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body"/>
          </p:nvPr>
        </p:nvSpPr>
        <p:spPr>
          <a:xfrm>
            <a:off x="6179040" y="155412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6" name="PlaceHolder 5"/>
          <p:cNvSpPr>
            <a:spLocks noGrp="1"/>
          </p:cNvSpPr>
          <p:nvPr>
            <p:ph type="body"/>
          </p:nvPr>
        </p:nvSpPr>
        <p:spPr>
          <a:xfrm>
            <a:off x="30492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7" name="PlaceHolder 6"/>
          <p:cNvSpPr>
            <a:spLocks noGrp="1"/>
          </p:cNvSpPr>
          <p:nvPr>
            <p:ph type="body"/>
          </p:nvPr>
        </p:nvSpPr>
        <p:spPr>
          <a:xfrm>
            <a:off x="324216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  <p:sp>
        <p:nvSpPr>
          <p:cNvPr id="398" name="PlaceHolder 7"/>
          <p:cNvSpPr>
            <a:spLocks noGrp="1"/>
          </p:cNvSpPr>
          <p:nvPr>
            <p:ph type="body"/>
          </p:nvPr>
        </p:nvSpPr>
        <p:spPr>
          <a:xfrm>
            <a:off x="6179040" y="3918240"/>
            <a:ext cx="279684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4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1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jpe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1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15" name="Прямая соединительная линия 6"/>
            <p:cNvPicPr/>
            <p:nvPr/>
          </p:nvPicPr>
          <p:blipFill>
            <a:blip r:embed="rId15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2" name="CustomShape 2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0E08AA7B-0DBC-4166-BF34-FC068CBB66C0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7" name="PlaceHolder 7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" name="Прямая соединительная линия 8"/>
            <p:cNvPicPr/>
            <p:nvPr/>
          </p:nvPicPr>
          <p:blipFill>
            <a:blip r:embed="rId15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" name="CustomShape 9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1" name="Group 10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12" name="Прямая соединительная линия 11"/>
            <p:cNvPicPr/>
            <p:nvPr/>
          </p:nvPicPr>
          <p:blipFill>
            <a:blip r:embed="rId16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CustomShape 11"/>
            <p:cNvSpPr/>
            <p:nvPr/>
          </p:nvSpPr>
          <p:spPr>
            <a:xfrm>
              <a:off x="514440" y="105732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1"/>
          <p:cNvGrpSpPr/>
          <p:nvPr/>
        </p:nvGrpSpPr>
        <p:grpSpPr>
          <a:xfrm>
            <a:off x="512640" y="5346720"/>
            <a:ext cx="8637840" cy="11160"/>
            <a:chOff x="512640" y="5346720"/>
            <a:chExt cx="8637840" cy="11160"/>
          </a:xfrm>
        </p:grpSpPr>
        <p:pic>
          <p:nvPicPr>
            <p:cNvPr id="51" name="Прямая соединительная линия 12"/>
            <p:cNvPicPr/>
            <p:nvPr/>
          </p:nvPicPr>
          <p:blipFill>
            <a:blip r:embed="rId15"/>
            <a:stretch/>
          </p:blipFill>
          <p:spPr>
            <a:xfrm>
              <a:off x="512640" y="534672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2" name="CustomShape 2"/>
            <p:cNvSpPr/>
            <p:nvPr/>
          </p:nvSpPr>
          <p:spPr>
            <a:xfrm>
              <a:off x="514440" y="534996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sldNum"/>
          </p:nvPr>
        </p:nvSpPr>
        <p:spPr>
          <a:xfrm>
            <a:off x="8229600" y="6473880"/>
            <a:ext cx="758880" cy="24768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83E39C77-E4B5-419F-868A-F9633CB7549D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1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5" name="Прямая соединительная линия 6"/>
            <p:cNvPicPr/>
            <p:nvPr/>
          </p:nvPicPr>
          <p:blipFill>
            <a:blip r:embed="rId15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96" name="CustomShape 2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97" name="Group 3"/>
          <p:cNvGrpSpPr/>
          <p:nvPr/>
        </p:nvGrpSpPr>
        <p:grpSpPr>
          <a:xfrm>
            <a:off x="512640" y="1042920"/>
            <a:ext cx="8637840" cy="17640"/>
            <a:chOff x="512640" y="1042920"/>
            <a:chExt cx="8637840" cy="17640"/>
          </a:xfrm>
        </p:grpSpPr>
        <p:pic>
          <p:nvPicPr>
            <p:cNvPr id="98" name="Прямая соединительная линия 8"/>
            <p:cNvPicPr/>
            <p:nvPr/>
          </p:nvPicPr>
          <p:blipFill>
            <a:blip r:embed="rId15"/>
            <a:stretch/>
          </p:blipFill>
          <p:spPr>
            <a:xfrm>
              <a:off x="512640" y="1042920"/>
              <a:ext cx="8637840" cy="1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99" name="CustomShape 4"/>
            <p:cNvSpPr/>
            <p:nvPr/>
          </p:nvSpPr>
          <p:spPr>
            <a:xfrm>
              <a:off x="514440" y="10508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00" name="Group 5"/>
          <p:cNvGrpSpPr/>
          <p:nvPr/>
        </p:nvGrpSpPr>
        <p:grpSpPr>
          <a:xfrm>
            <a:off x="512640" y="1054080"/>
            <a:ext cx="8637840" cy="12600"/>
            <a:chOff x="512640" y="1054080"/>
            <a:chExt cx="8637840" cy="12600"/>
          </a:xfrm>
        </p:grpSpPr>
        <p:pic>
          <p:nvPicPr>
            <p:cNvPr id="101" name="Прямая соединительная линия 11"/>
            <p:cNvPicPr/>
            <p:nvPr/>
          </p:nvPicPr>
          <p:blipFill>
            <a:blip r:embed="rId16"/>
            <a:stretch/>
          </p:blipFill>
          <p:spPr>
            <a:xfrm>
              <a:off x="512640" y="10540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2" name="CustomShape 6"/>
            <p:cNvSpPr/>
            <p:nvPr/>
          </p:nvSpPr>
          <p:spPr>
            <a:xfrm>
              <a:off x="514440" y="105732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03" name="PlaceHolder 7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104" name="PlaceHolder 8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105" name="PlaceHolder 9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6" name="PlaceHolder 10"/>
          <p:cNvSpPr>
            <a:spLocks noGrp="1"/>
          </p:cNvSpPr>
          <p:nvPr>
            <p:ph type="ftr"/>
          </p:nvPr>
        </p:nvSpPr>
        <p:spPr>
          <a:xfrm>
            <a:off x="3581280" y="76320"/>
            <a:ext cx="28958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1"/>
          <p:cNvSpPr>
            <a:spLocks noGrp="1"/>
          </p:cNvSpPr>
          <p:nvPr>
            <p:ph type="sldNum"/>
          </p:nvPr>
        </p:nvSpPr>
        <p:spPr>
          <a:xfrm>
            <a:off x="8229600" y="6473880"/>
            <a:ext cx="758880" cy="24768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13D9F7EB-BEF7-43D2-BF5F-8BFCBCE45732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"/>
          <p:cNvGrpSpPr/>
          <p:nvPr/>
        </p:nvGrpSpPr>
        <p:grpSpPr>
          <a:xfrm>
            <a:off x="512640" y="3438360"/>
            <a:ext cx="8637840" cy="11160"/>
            <a:chOff x="512640" y="3438360"/>
            <a:chExt cx="8637840" cy="11160"/>
          </a:xfrm>
        </p:grpSpPr>
        <p:pic>
          <p:nvPicPr>
            <p:cNvPr id="145" name="Прямая соединительная линия 12"/>
            <p:cNvPicPr/>
            <p:nvPr/>
          </p:nvPicPr>
          <p:blipFill>
            <a:blip r:embed="rId15"/>
            <a:stretch/>
          </p:blipFill>
          <p:spPr>
            <a:xfrm>
              <a:off x="512640" y="343836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6" name="CustomShape 2"/>
            <p:cNvSpPr/>
            <p:nvPr/>
          </p:nvSpPr>
          <p:spPr>
            <a:xfrm>
              <a:off x="514440" y="34448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FEFAC9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FEFAC9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FEFAC9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FEFAC9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FEFAC9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FEFAC9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FEFAC9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148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FEFAC9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F428191B-F0F8-4E8E-89A5-179325F61842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roup 1"/>
          <p:cNvGrpSpPr/>
          <p:nvPr/>
        </p:nvGrpSpPr>
        <p:grpSpPr>
          <a:xfrm>
            <a:off x="512640" y="6016680"/>
            <a:ext cx="8637840" cy="12600"/>
            <a:chOff x="512640" y="6016680"/>
            <a:chExt cx="8637840" cy="12600"/>
          </a:xfrm>
        </p:grpSpPr>
        <p:pic>
          <p:nvPicPr>
            <p:cNvPr id="189" name="Прямая соединительная линия 12"/>
            <p:cNvPicPr/>
            <p:nvPr/>
          </p:nvPicPr>
          <p:blipFill>
            <a:blip r:embed="rId15"/>
            <a:stretch/>
          </p:blipFill>
          <p:spPr>
            <a:xfrm>
              <a:off x="512640" y="6016680"/>
              <a:ext cx="8637840" cy="1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90" name="CustomShape 2"/>
            <p:cNvSpPr/>
            <p:nvPr/>
          </p:nvSpPr>
          <p:spPr>
            <a:xfrm>
              <a:off x="514440" y="601992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192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193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 type="sldNum"/>
          </p:nvPr>
        </p:nvSpPr>
        <p:spPr>
          <a:xfrm>
            <a:off x="8229240" y="6477120"/>
            <a:ext cx="762120" cy="24768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36E5911E-BC77-47E4-AA9B-8ABF890CF33E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233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234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C648DEB1-6F89-4C63-AE95-265C9CDD0945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oup 1"/>
          <p:cNvGrpSpPr/>
          <p:nvPr/>
        </p:nvGrpSpPr>
        <p:grpSpPr>
          <a:xfrm>
            <a:off x="512640" y="5846760"/>
            <a:ext cx="8637840" cy="11160"/>
            <a:chOff x="512640" y="5846760"/>
            <a:chExt cx="8637840" cy="11160"/>
          </a:xfrm>
        </p:grpSpPr>
        <p:pic>
          <p:nvPicPr>
            <p:cNvPr id="274" name="Прямая соединительная линия 12"/>
            <p:cNvPicPr/>
            <p:nvPr/>
          </p:nvPicPr>
          <p:blipFill>
            <a:blip r:embed="rId15"/>
            <a:stretch/>
          </p:blipFill>
          <p:spPr>
            <a:xfrm>
              <a:off x="512640" y="5846760"/>
              <a:ext cx="8637840" cy="1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5" name="CustomShape 2"/>
            <p:cNvSpPr/>
            <p:nvPr/>
          </p:nvSpPr>
          <p:spPr>
            <a:xfrm>
              <a:off x="514440" y="584820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277" name="PlaceHolder 4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278" name="PlaceHolder 5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79" name="PlaceHolder 6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7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D28A0AFC-AE20-45C5-9050-64FACFE41278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318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319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51EFBCC8-03A9-41EB-9E39-55F6C8A33E00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body"/>
          </p:nvPr>
        </p:nvSpPr>
        <p:spPr>
          <a:xfrm>
            <a:off x="304920" y="1554120"/>
            <a:ext cx="8686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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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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A5B592"/>
              </a:buClr>
              <a:buSzPct val="70000"/>
              <a:buFont typeface="Wingdings 2" charset="2"/>
              <a:buChar char="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A5B592"/>
              </a:buClr>
              <a:buSzPct val="60000"/>
              <a:buFont typeface="Wingdings 2" charset="2"/>
              <a:buChar char=""/>
            </a:pPr>
            <a:r>
              <a:rPr lang="en-US" sz="3200" b="0" strike="noStrike" spc="-1">
                <a:solidFill>
                  <a:srgbClr val="444D26"/>
                </a:solidFill>
                <a:latin typeface="Franklin Gothic Book"/>
              </a:rPr>
              <a:t>Seventh Outline Level</a:t>
            </a:r>
          </a:p>
        </p:txBody>
      </p:sp>
      <p:sp>
        <p:nvSpPr>
          <p:cNvPr id="359" name="PlaceHolder 2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800" cy="83808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3600" b="0" strike="noStrike" spc="-1">
                <a:solidFill>
                  <a:srgbClr val="444D26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360" name="PlaceHolder 3"/>
          <p:cNvSpPr>
            <a:spLocks noGrp="1"/>
          </p:cNvSpPr>
          <p:nvPr>
            <p:ph type="dt"/>
          </p:nvPr>
        </p:nvSpPr>
        <p:spPr>
          <a:xfrm>
            <a:off x="6476760" y="76320"/>
            <a:ext cx="251460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r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ftr"/>
          </p:nvPr>
        </p:nvSpPr>
        <p:spPr>
          <a:xfrm>
            <a:off x="3124080" y="76320"/>
            <a:ext cx="3353040" cy="28872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sldNum"/>
          </p:nvPr>
        </p:nvSpPr>
        <p:spPr>
          <a:xfrm>
            <a:off x="8229240" y="6476760"/>
            <a:ext cx="762120" cy="24444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/>
            <a:fld id="{D9F27D86-E7F2-467B-BB2A-E5E6555953E4}" type="slidenum">
              <a:rPr lang="ru-RU" sz="1200" b="0" strike="noStrike" spc="-1">
                <a:solidFill>
                  <a:srgbClr val="919F80"/>
                </a:solidFill>
                <a:latin typeface="Times New Roman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9.wmf"/><Relationship Id="rId18" Type="http://schemas.openxmlformats.org/officeDocument/2006/relationships/image" Target="../media/image20.png"/><Relationship Id="rId26" Type="http://schemas.openxmlformats.org/officeDocument/2006/relationships/image" Target="../media/image15.wmf"/><Relationship Id="rId3" Type="http://schemas.openxmlformats.org/officeDocument/2006/relationships/image" Target="../media/image17.png"/><Relationship Id="rId21" Type="http://schemas.openxmlformats.org/officeDocument/2006/relationships/oleObject" Target="../embeddings/oleObject8.bin"/><Relationship Id="rId7" Type="http://schemas.openxmlformats.org/officeDocument/2006/relationships/image" Target="../media/image6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11.wmf"/><Relationship Id="rId25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6.bin"/><Relationship Id="rId20" Type="http://schemas.openxmlformats.org/officeDocument/2006/relationships/image" Target="../media/image12.wmf"/><Relationship Id="rId29" Type="http://schemas.openxmlformats.org/officeDocument/2006/relationships/image" Target="../media/image16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8.wmf"/><Relationship Id="rId24" Type="http://schemas.openxmlformats.org/officeDocument/2006/relationships/image" Target="../media/image14.wmf"/><Relationship Id="rId5" Type="http://schemas.openxmlformats.org/officeDocument/2006/relationships/image" Target="../media/image19.wmf"/><Relationship Id="rId15" Type="http://schemas.openxmlformats.org/officeDocument/2006/relationships/image" Target="../media/image10.wmf"/><Relationship Id="rId23" Type="http://schemas.openxmlformats.org/officeDocument/2006/relationships/oleObject" Target="../embeddings/oleObject9.bin"/><Relationship Id="rId28" Type="http://schemas.openxmlformats.org/officeDocument/2006/relationships/oleObject" Target="../embeddings/oleObject11.bin"/><Relationship Id="rId10" Type="http://schemas.openxmlformats.org/officeDocument/2006/relationships/oleObject" Target="../embeddings/oleObject3.bin"/><Relationship Id="rId19" Type="http://schemas.openxmlformats.org/officeDocument/2006/relationships/oleObject" Target="../embeddings/oleObject7.bin"/><Relationship Id="rId4" Type="http://schemas.openxmlformats.org/officeDocument/2006/relationships/image" Target="../media/image18.png"/><Relationship Id="rId9" Type="http://schemas.openxmlformats.org/officeDocument/2006/relationships/image" Target="../media/image7.wmf"/><Relationship Id="rId14" Type="http://schemas.openxmlformats.org/officeDocument/2006/relationships/oleObject" Target="../embeddings/oleObject5.bin"/><Relationship Id="rId22" Type="http://schemas.openxmlformats.org/officeDocument/2006/relationships/image" Target="../media/image13.wmf"/><Relationship Id="rId27" Type="http://schemas.openxmlformats.org/officeDocument/2006/relationships/image" Target="../media/image21.png"/><Relationship Id="rId30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2.png"/><Relationship Id="rId18" Type="http://schemas.openxmlformats.org/officeDocument/2006/relationships/image" Target="../media/image28.wmf"/><Relationship Id="rId3" Type="http://schemas.openxmlformats.org/officeDocument/2006/relationships/image" Target="../media/image30.png"/><Relationship Id="rId7" Type="http://schemas.openxmlformats.org/officeDocument/2006/relationships/image" Target="../media/image24.wmf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3.png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23.wmf"/><Relationship Id="rId15" Type="http://schemas.openxmlformats.org/officeDocument/2006/relationships/image" Target="../media/image27.wmf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7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Relationship Id="rId1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37.png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46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42.wmf"/><Relationship Id="rId4" Type="http://schemas.openxmlformats.org/officeDocument/2006/relationships/image" Target="../media/image39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4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2.png"/><Relationship Id="rId7" Type="http://schemas.openxmlformats.org/officeDocument/2006/relationships/image" Target="../media/image49.wmf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57.wmf"/><Relationship Id="rId18" Type="http://schemas.openxmlformats.org/officeDocument/2006/relationships/oleObject" Target="../embeddings/oleObject7.bin"/><Relationship Id="rId26" Type="http://schemas.openxmlformats.org/officeDocument/2006/relationships/image" Target="../media/image63.wmf"/><Relationship Id="rId3" Type="http://schemas.openxmlformats.org/officeDocument/2006/relationships/image" Target="../media/image65.png"/><Relationship Id="rId21" Type="http://schemas.openxmlformats.org/officeDocument/2006/relationships/image" Target="../media/image61.wmf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59.wmf"/><Relationship Id="rId25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6.bin"/><Relationship Id="rId20" Type="http://schemas.openxmlformats.org/officeDocument/2006/relationships/oleObject" Target="../embeddings/oleObject8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56.wmf"/><Relationship Id="rId24" Type="http://schemas.openxmlformats.org/officeDocument/2006/relationships/image" Target="../media/image68.png"/><Relationship Id="rId5" Type="http://schemas.openxmlformats.org/officeDocument/2006/relationships/image" Target="../media/image67.png"/><Relationship Id="rId15" Type="http://schemas.openxmlformats.org/officeDocument/2006/relationships/image" Target="../media/image58.wmf"/><Relationship Id="rId23" Type="http://schemas.openxmlformats.org/officeDocument/2006/relationships/image" Target="../media/image62.wmf"/><Relationship Id="rId28" Type="http://schemas.openxmlformats.org/officeDocument/2006/relationships/image" Target="../media/image64.wmf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60.wmf"/><Relationship Id="rId4" Type="http://schemas.openxmlformats.org/officeDocument/2006/relationships/image" Target="../media/image66.png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5.bin"/><Relationship Id="rId22" Type="http://schemas.openxmlformats.org/officeDocument/2006/relationships/oleObject" Target="../embeddings/oleObject9.bin"/><Relationship Id="rId27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72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3.png"/><Relationship Id="rId11" Type="http://schemas.openxmlformats.org/officeDocument/2006/relationships/image" Target="../media/image71.wmf"/><Relationship Id="rId5" Type="http://schemas.openxmlformats.org/officeDocument/2006/relationships/image" Target="../media/image69.wmf"/><Relationship Id="rId10" Type="http://schemas.openxmlformats.org/officeDocument/2006/relationships/oleObject" Target="../embeddings/oleObject3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Заголовок 1"/>
          <p:cNvPicPr/>
          <p:nvPr/>
        </p:nvPicPr>
        <p:blipFill>
          <a:blip r:embed="rId2"/>
          <a:stretch/>
        </p:blipFill>
        <p:spPr>
          <a:xfrm>
            <a:off x="182520" y="4724280"/>
            <a:ext cx="8650440" cy="1316160"/>
          </a:xfrm>
          <a:prstGeom prst="rect">
            <a:avLst/>
          </a:prstGeom>
          <a:ln>
            <a:noFill/>
          </a:ln>
        </p:spPr>
      </p:pic>
      <p:sp>
        <p:nvSpPr>
          <p:cNvPr id="400" name="TextShape 1"/>
          <p:cNvSpPr txBox="1"/>
          <p:nvPr/>
        </p:nvSpPr>
        <p:spPr>
          <a:xfrm>
            <a:off x="323640" y="508464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spcBef>
                <a:spcPts val="598"/>
              </a:spcBef>
            </a:pPr>
            <a:r>
              <a:rPr lang="ru-RU" sz="2400" b="0" strike="noStrike" spc="-1">
                <a:solidFill>
                  <a:srgbClr val="3B4320"/>
                </a:solidFill>
                <a:latin typeface="Franklin Gothic Book"/>
              </a:rPr>
              <a:t>Прохождение шума через БВЧ РПУ (занятия 1-2)</a:t>
            </a:r>
            <a:endParaRPr lang="en-US" sz="2400" b="0" strike="noStrike" spc="-1">
              <a:solidFill>
                <a:srgbClr val="444D26"/>
              </a:solidFill>
              <a:latin typeface="Franklin Gothic Book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468360" y="260280"/>
            <a:ext cx="8424720" cy="825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1" strike="noStrike" spc="-1">
                <a:solidFill>
                  <a:srgbClr val="000000"/>
                </a:solidFill>
                <a:latin typeface="Franklin Gothic Book"/>
              </a:rPr>
              <a:t>Основные понятия шумовых характеристик РПУ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2" name="Group 2"/>
          <p:cNvGrpSpPr/>
          <p:nvPr/>
        </p:nvGrpSpPr>
        <p:grpSpPr>
          <a:xfrm>
            <a:off x="36360" y="1122480"/>
            <a:ext cx="9004320" cy="2309760"/>
            <a:chOff x="36360" y="1122480"/>
            <a:chExt cx="9004320" cy="2309760"/>
          </a:xfrm>
        </p:grpSpPr>
        <p:pic>
          <p:nvPicPr>
            <p:cNvPr id="403" name="Прямоугольник 14"/>
            <p:cNvPicPr/>
            <p:nvPr/>
          </p:nvPicPr>
          <p:blipFill>
            <a:blip r:embed="rId3"/>
            <a:stretch/>
          </p:blipFill>
          <p:spPr>
            <a:xfrm>
              <a:off x="36360" y="1122480"/>
              <a:ext cx="9004320" cy="2309760"/>
            </a:xfrm>
            <a:prstGeom prst="rect">
              <a:avLst/>
            </a:prstGeom>
            <a:ln>
              <a:noFill/>
            </a:ln>
          </p:spPr>
        </p:pic>
        <p:sp>
          <p:nvSpPr>
            <p:cNvPr id="404" name="CustomShape 3"/>
            <p:cNvSpPr/>
            <p:nvPr/>
          </p:nvSpPr>
          <p:spPr>
            <a:xfrm>
              <a:off x="108000" y="1197000"/>
              <a:ext cx="8856720" cy="2160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2200" b="0" strike="noStrike" spc="-1" baseline="-25000">
                  <a:solidFill>
                    <a:srgbClr val="000000"/>
                  </a:solidFill>
                  <a:latin typeface="Franklin Gothic Book"/>
                </a:rPr>
                <a:t>                                 </a:t>
              </a:r>
              <a:r>
                <a:rPr lang="ru-RU" sz="1400" b="0" strike="noStrike" spc="-1">
                  <a:solidFill>
                    <a:srgbClr val="000000"/>
                  </a:solidFill>
                  <a:latin typeface="Franklin Gothic Book"/>
                </a:rPr>
                <a:t>     - </a:t>
              </a:r>
              <a:r>
                <a:rPr lang="ru-RU" sz="1400" b="1" i="1" strike="noStrike" spc="-1">
                  <a:solidFill>
                    <a:srgbClr val="000000"/>
                  </a:solidFill>
                  <a:latin typeface="Franklin Gothic Book"/>
                </a:rPr>
                <a:t>эквивалентная шумовая полоса 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1400" b="1" i="1" strike="noStrike" spc="-1">
                  <a:solidFill>
                    <a:srgbClr val="000000"/>
                  </a:solidFill>
                  <a:latin typeface="Franklin Gothic Book"/>
                </a:rPr>
                <a:t>                                        пропускания БВЧ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2200" b="0" strike="noStrike" spc="-1" baseline="-25000">
                  <a:solidFill>
                    <a:srgbClr val="000000"/>
                  </a:solidFill>
                  <a:latin typeface="Franklin Gothic Book"/>
                </a:rPr>
                <a:t>         </a:t>
              </a:r>
              <a:r>
                <a:rPr lang="ru-RU" sz="1400" b="0" strike="noStrike" spc="-1">
                  <a:solidFill>
                    <a:srgbClr val="000000"/>
                  </a:solidFill>
                  <a:latin typeface="Franklin Gothic Book"/>
                </a:rPr>
                <a:t>- нормированная АЧХ БВЧ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50000"/>
                </a:lnSpc>
              </a:pPr>
              <a:r>
                <a:rPr lang="ru-RU" sz="1400" b="0" strike="noStrike" spc="-1">
                  <a:solidFill>
                    <a:srgbClr val="000000"/>
                  </a:solidFill>
                  <a:latin typeface="Franklin Gothic Book"/>
                </a:rPr>
                <a:t>Для одиночного колебательного контура: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1400" b="0" strike="noStrike" spc="-1">
                  <a:solidFill>
                    <a:srgbClr val="000000"/>
                  </a:solidFill>
                  <a:latin typeface="Franklin Gothic Book"/>
                </a:rPr>
                <a:t>Для двухконтурного преселектора: 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1400" b="0" strike="noStrike" spc="-1">
                  <a:solidFill>
                    <a:srgbClr val="000000"/>
                  </a:solidFill>
                  <a:latin typeface="Franklin Gothic Book"/>
                </a:rPr>
                <a:t> 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5" name="Group 4"/>
          <p:cNvGrpSpPr/>
          <p:nvPr/>
        </p:nvGrpSpPr>
        <p:grpSpPr>
          <a:xfrm>
            <a:off x="36360" y="3425760"/>
            <a:ext cx="9071280" cy="865080"/>
            <a:chOff x="36360" y="3425760"/>
            <a:chExt cx="9071280" cy="865080"/>
          </a:xfrm>
        </p:grpSpPr>
        <p:pic>
          <p:nvPicPr>
            <p:cNvPr id="406" name="Прямоугольник 15"/>
            <p:cNvPicPr/>
            <p:nvPr/>
          </p:nvPicPr>
          <p:blipFill>
            <a:blip r:embed="rId4"/>
            <a:stretch/>
          </p:blipFill>
          <p:spPr>
            <a:xfrm>
              <a:off x="36360" y="3425760"/>
              <a:ext cx="9071280" cy="8650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07" name="CustomShape 5"/>
            <p:cNvSpPr/>
            <p:nvPr/>
          </p:nvSpPr>
          <p:spPr>
            <a:xfrm>
              <a:off x="108000" y="3500280"/>
              <a:ext cx="8928000" cy="720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ru-RU" sz="2200" b="0" strike="noStrike" spc="-1">
                  <a:solidFill>
                    <a:srgbClr val="000000"/>
                  </a:solidFill>
                  <a:latin typeface="Franklin Gothic Book"/>
                </a:rPr>
                <a:t>                   </a:t>
              </a:r>
              <a:r>
                <a:rPr lang="ru-RU" sz="1400" b="0" strike="noStrike" spc="-1">
                  <a:solidFill>
                    <a:srgbClr val="000000"/>
                  </a:solidFill>
                  <a:latin typeface="Franklin Gothic Book"/>
                </a:rPr>
                <a:t> - </a:t>
              </a:r>
              <a:r>
                <a:rPr lang="ru-RU" sz="1400" b="1" i="1" strike="noStrike" spc="-1">
                  <a:solidFill>
                    <a:srgbClr val="000000"/>
                  </a:solidFill>
                  <a:latin typeface="Franklin Gothic Book"/>
                </a:rPr>
                <a:t>Номинальная мощность теплового шума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1400" b="0" strike="noStrike" spc="-1">
                  <a:solidFill>
                    <a:srgbClr val="000000"/>
                  </a:solidFill>
                  <a:latin typeface="Franklin Gothic Book"/>
                </a:rPr>
                <a:t>                              </a:t>
              </a:r>
              <a:r>
                <a:rPr lang="ru-RU" sz="1400" b="1" i="1" strike="noStrike" spc="-1">
                  <a:solidFill>
                    <a:srgbClr val="000000"/>
                  </a:solidFill>
                  <a:latin typeface="Franklin Gothic Book"/>
                </a:rPr>
                <a:t>активной проводимости (формула Найквиста)</a:t>
              </a:r>
              <a:r>
                <a:rPr lang="en-US" sz="1400" b="1" i="1" strike="noStrike" spc="-1">
                  <a:solidFill>
                    <a:srgbClr val="000000"/>
                  </a:solidFill>
                  <a:latin typeface="Franklin Gothic Book"/>
                </a:rPr>
                <a:t>;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1400" b="1" i="1" strike="noStrike" spc="-1">
                  <a:solidFill>
                    <a:srgbClr val="000000"/>
                  </a:solidFill>
                  <a:latin typeface="Franklin Gothic Book"/>
                </a:rPr>
                <a:t>                                 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8" name="CustomShape 6"/>
          <p:cNvSpPr/>
          <p:nvPr/>
        </p:nvSpPr>
        <p:spPr>
          <a:xfrm>
            <a:off x="5183280" y="1052640"/>
            <a:ext cx="3803400" cy="1944720"/>
          </a:xfrm>
          <a:prstGeom prst="rect">
            <a:avLst/>
          </a:prstGeom>
          <a:solidFill>
            <a:srgbClr val="FFFFFF"/>
          </a:solidFill>
          <a:ln w="19080">
            <a:solidFill>
              <a:srgbClr val="A5B592"/>
            </a:solidFill>
            <a:miter/>
          </a:ln>
          <a:effectLst>
            <a:outerShdw dist="38183" dir="270000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09" name="Picture 7" descr="Рис 9"/>
          <p:cNvPicPr/>
          <p:nvPr/>
        </p:nvPicPr>
        <p:blipFill>
          <a:blip r:embed="rId5"/>
          <a:stretch/>
        </p:blipFill>
        <p:spPr>
          <a:xfrm>
            <a:off x="5292720" y="1125360"/>
            <a:ext cx="3549600" cy="1868760"/>
          </a:xfrm>
          <a:prstGeom prst="rect">
            <a:avLst/>
          </a:prstGeom>
          <a:ln>
            <a:noFill/>
          </a:ln>
        </p:spPr>
      </p:pic>
      <p:sp>
        <p:nvSpPr>
          <p:cNvPr id="410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11" name="Object 8"/>
          <p:cNvGraphicFramePr/>
          <p:nvPr/>
        </p:nvGraphicFramePr>
        <p:xfrm>
          <a:off x="179280" y="1268280"/>
          <a:ext cx="1554120" cy="720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412" name="Object 8"/>
                      <p:cNvPicPr/>
                      <p:nvPr/>
                    </p:nvPicPr>
                    <p:blipFill>
                      <a:blip r:embed="rId7"/>
                      <a:stretch/>
                    </p:blipFill>
                    <p:spPr>
                      <a:xfrm>
                        <a:off x="179280" y="1268280"/>
                        <a:ext cx="1554120" cy="72072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14" name="Object 10"/>
          <p:cNvGraphicFramePr/>
          <p:nvPr/>
        </p:nvGraphicFramePr>
        <p:xfrm>
          <a:off x="179280" y="2133720"/>
          <a:ext cx="390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8" imgW="0" imgH="0" progId="">
                  <p:embed/>
                </p:oleObj>
              </mc:Choice>
              <mc:Fallback>
                <p:oleObj r:id="rId8" imgW="0" imgH="0" progId="">
                  <p:embed/>
                  <p:pic>
                    <p:nvPicPr>
                      <p:cNvPr id="415" name="Object 10"/>
                      <p:cNvPicPr/>
                      <p:nvPr/>
                    </p:nvPicPr>
                    <p:blipFill>
                      <a:blip r:embed="rId9"/>
                      <a:stretch/>
                    </p:blipFill>
                    <p:spPr>
                      <a:xfrm>
                        <a:off x="179280" y="2133720"/>
                        <a:ext cx="390600" cy="2286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17" name="Object 12"/>
          <p:cNvGraphicFramePr/>
          <p:nvPr/>
        </p:nvGraphicFramePr>
        <p:xfrm>
          <a:off x="3492360" y="2276640"/>
          <a:ext cx="990720" cy="447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10" imgW="0" imgH="0" progId="">
                  <p:embed/>
                </p:oleObj>
              </mc:Choice>
              <mc:Fallback>
                <p:oleObj r:id="rId10" imgW="0" imgH="0" progId="">
                  <p:embed/>
                  <p:pic>
                    <p:nvPicPr>
                      <p:cNvPr id="418" name="Object 12"/>
                      <p:cNvPicPr/>
                      <p:nvPr/>
                    </p:nvPicPr>
                    <p:blipFill>
                      <a:blip r:embed="rId11"/>
                      <a:stretch/>
                    </p:blipFill>
                    <p:spPr>
                      <a:xfrm>
                        <a:off x="3492360" y="2276640"/>
                        <a:ext cx="990720" cy="4474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20" name="Object 14"/>
          <p:cNvGraphicFramePr/>
          <p:nvPr/>
        </p:nvGraphicFramePr>
        <p:xfrm>
          <a:off x="2987640" y="2781360"/>
          <a:ext cx="1552680" cy="53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12" imgW="0" imgH="0" progId="">
                  <p:embed/>
                </p:oleObj>
              </mc:Choice>
              <mc:Fallback>
                <p:oleObj r:id="rId12" imgW="0" imgH="0" progId="">
                  <p:embed/>
                  <p:pic>
                    <p:nvPicPr>
                      <p:cNvPr id="421" name="Object 14"/>
                      <p:cNvPicPr/>
                      <p:nvPr/>
                    </p:nvPicPr>
                    <p:blipFill>
                      <a:blip r:embed="rId13"/>
                      <a:stretch/>
                    </p:blipFill>
                    <p:spPr>
                      <a:xfrm>
                        <a:off x="2987640" y="2781360"/>
                        <a:ext cx="1552680" cy="53352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" name="Object 15"/>
          <p:cNvGraphicFramePr/>
          <p:nvPr/>
        </p:nvGraphicFramePr>
        <p:xfrm>
          <a:off x="179280" y="3645000"/>
          <a:ext cx="1224000" cy="333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r:id="rId14" imgW="0" imgH="0" progId="">
                  <p:embed/>
                </p:oleObj>
              </mc:Choice>
              <mc:Fallback>
                <p:oleObj r:id="rId14" imgW="0" imgH="0" progId="">
                  <p:embed/>
                  <p:pic>
                    <p:nvPicPr>
                      <p:cNvPr id="423" name="Object 16"/>
                      <p:cNvPicPr/>
                      <p:nvPr/>
                    </p:nvPicPr>
                    <p:blipFill>
                      <a:blip r:embed="rId15"/>
                      <a:stretch/>
                    </p:blipFill>
                    <p:spPr>
                      <a:xfrm>
                        <a:off x="179280" y="3645000"/>
                        <a:ext cx="1224000" cy="33336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" name="Object 16"/>
          <p:cNvGraphicFramePr/>
          <p:nvPr/>
        </p:nvGraphicFramePr>
        <p:xfrm>
          <a:off x="5291280" y="3573360"/>
          <a:ext cx="1409400" cy="373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r:id="rId16" imgW="0" imgH="0" progId="">
                  <p:embed/>
                </p:oleObj>
              </mc:Choice>
              <mc:Fallback>
                <p:oleObj r:id="rId16" imgW="0" imgH="0" progId="">
                  <p:embed/>
                  <p:pic>
                    <p:nvPicPr>
                      <p:cNvPr id="425" name="Object 17"/>
                      <p:cNvPicPr/>
                      <p:nvPr/>
                    </p:nvPicPr>
                    <p:blipFill>
                      <a:blip r:embed="rId17"/>
                      <a:stretch/>
                    </p:blipFill>
                    <p:spPr>
                      <a:xfrm>
                        <a:off x="5291280" y="3573360"/>
                        <a:ext cx="1409400" cy="373320"/>
                      </a:xfrm>
                      <a:prstGeom prst="rect">
                        <a:avLst/>
                      </a:prstGeom>
                      <a:ln w="9360">
                        <a:solidFill>
                          <a:srgbClr val="000000"/>
                        </a:solidFill>
                        <a:custDash>
                          <a:ds d="100000" sp="100000"/>
                        </a:custDash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" name="CustomShape 17"/>
          <p:cNvSpPr/>
          <p:nvPr/>
        </p:nvSpPr>
        <p:spPr>
          <a:xfrm>
            <a:off x="6664320" y="3645000"/>
            <a:ext cx="2351160" cy="30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 - Проходная мощность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7" name="Group 18"/>
          <p:cNvGrpSpPr/>
          <p:nvPr/>
        </p:nvGrpSpPr>
        <p:grpSpPr>
          <a:xfrm>
            <a:off x="36360" y="4290840"/>
            <a:ext cx="9004320" cy="2524320"/>
            <a:chOff x="36360" y="4290840"/>
            <a:chExt cx="9004320" cy="2524320"/>
          </a:xfrm>
        </p:grpSpPr>
        <p:pic>
          <p:nvPicPr>
            <p:cNvPr id="428" name="Прямоугольник 19"/>
            <p:cNvPicPr/>
            <p:nvPr/>
          </p:nvPicPr>
          <p:blipFill>
            <a:blip r:embed="rId18"/>
            <a:stretch/>
          </p:blipFill>
          <p:spPr>
            <a:xfrm>
              <a:off x="36360" y="4290840"/>
              <a:ext cx="9004320" cy="2524320"/>
            </a:xfrm>
            <a:prstGeom prst="rect">
              <a:avLst/>
            </a:prstGeom>
            <a:ln>
              <a:noFill/>
            </a:ln>
          </p:spPr>
        </p:pic>
        <p:sp>
          <p:nvSpPr>
            <p:cNvPr id="429" name="CustomShape 19"/>
            <p:cNvSpPr/>
            <p:nvPr/>
          </p:nvSpPr>
          <p:spPr>
            <a:xfrm>
              <a:off x="108000" y="4365720"/>
              <a:ext cx="8856720" cy="2376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30" name="CustomShape 2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31" name="Object 21"/>
          <p:cNvGraphicFramePr/>
          <p:nvPr/>
        </p:nvGraphicFramePr>
        <p:xfrm>
          <a:off x="179280" y="4437000"/>
          <a:ext cx="4835520" cy="64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19" imgW="0" imgH="0" progId="">
                  <p:embed/>
                </p:oleObj>
              </mc:Choice>
              <mc:Fallback>
                <p:oleObj r:id="rId19" imgW="0" imgH="0" progId="">
                  <p:embed/>
                  <p:pic>
                    <p:nvPicPr>
                      <p:cNvPr id="432" name="Object 18"/>
                      <p:cNvPicPr/>
                      <p:nvPr/>
                    </p:nvPicPr>
                    <p:blipFill>
                      <a:blip r:embed="rId20"/>
                      <a:stretch/>
                    </p:blipFill>
                    <p:spPr>
                      <a:xfrm>
                        <a:off x="179280" y="4437000"/>
                        <a:ext cx="4835520" cy="6476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" name="CustomShape 22"/>
          <p:cNvSpPr/>
          <p:nvPr/>
        </p:nvSpPr>
        <p:spPr>
          <a:xfrm>
            <a:off x="5077080" y="4581360"/>
            <a:ext cx="2593080" cy="30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- Коэффициент шума</a:t>
            </a: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БВЧ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CustomShape 2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35" name="Object 24"/>
          <p:cNvGraphicFramePr/>
          <p:nvPr/>
        </p:nvGraphicFramePr>
        <p:xfrm>
          <a:off x="179280" y="5229360"/>
          <a:ext cx="1440000" cy="33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21" imgW="0" imgH="0" progId="">
                  <p:embed/>
                </p:oleObj>
              </mc:Choice>
              <mc:Fallback>
                <p:oleObj r:id="rId21" imgW="0" imgH="0" progId="">
                  <p:embed/>
                  <p:pic>
                    <p:nvPicPr>
                      <p:cNvPr id="436" name="Object 20"/>
                      <p:cNvPicPr/>
                      <p:nvPr/>
                    </p:nvPicPr>
                    <p:blipFill>
                      <a:blip r:embed="rId22"/>
                      <a:stretch/>
                    </p:blipFill>
                    <p:spPr>
                      <a:xfrm>
                        <a:off x="179280" y="5229360"/>
                        <a:ext cx="1440000" cy="3362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7" name="CustomShape 25"/>
          <p:cNvSpPr/>
          <p:nvPr/>
        </p:nvSpPr>
        <p:spPr>
          <a:xfrm>
            <a:off x="1695240" y="5229360"/>
            <a:ext cx="2919600" cy="30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i="1" strike="noStrike" spc="-1">
                <a:solidFill>
                  <a:srgbClr val="000000"/>
                </a:solidFill>
                <a:latin typeface="Arial"/>
              </a:rPr>
              <a:t>- </a:t>
            </a: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Шумовая температура</a:t>
            </a: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БВЧ</a:t>
            </a: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CustomShape 2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39" name="Object 27"/>
          <p:cNvGraphicFramePr/>
          <p:nvPr/>
        </p:nvGraphicFramePr>
        <p:xfrm>
          <a:off x="179280" y="5661000"/>
          <a:ext cx="3219480" cy="333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23" imgW="0" imgH="0" progId="">
                  <p:embed/>
                </p:oleObj>
              </mc:Choice>
              <mc:Fallback>
                <p:oleObj r:id="rId23" imgW="0" imgH="0" progId="">
                  <p:embed/>
                  <p:pic>
                    <p:nvPicPr>
                      <p:cNvPr id="440" name="Object 22"/>
                      <p:cNvPicPr/>
                      <p:nvPr/>
                    </p:nvPicPr>
                    <p:blipFill>
                      <a:blip r:embed="rId24"/>
                      <a:stretch/>
                    </p:blipFill>
                    <p:spPr>
                      <a:xfrm>
                        <a:off x="179280" y="5661000"/>
                        <a:ext cx="3219480" cy="33336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" name="CustomShape 28"/>
          <p:cNvSpPr/>
          <p:nvPr/>
        </p:nvSpPr>
        <p:spPr>
          <a:xfrm>
            <a:off x="3561120" y="5516640"/>
            <a:ext cx="4810680" cy="52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Номинальная мощность собственного шума БВЧ,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приведённого к его входу</a:t>
            </a: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CustomShape 2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43" name="Object 30"/>
          <p:cNvGraphicFramePr/>
          <p:nvPr/>
        </p:nvGraphicFramePr>
        <p:xfrm>
          <a:off x="179280" y="6165720"/>
          <a:ext cx="1463760" cy="28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25" imgW="0" imgH="0" progId="">
                  <p:embed/>
                </p:oleObj>
              </mc:Choice>
              <mc:Fallback>
                <p:oleObj r:id="rId25" imgW="0" imgH="0" progId="">
                  <p:embed/>
                  <p:pic>
                    <p:nvPicPr>
                      <p:cNvPr id="444" name="Object 24"/>
                      <p:cNvPicPr/>
                      <p:nvPr/>
                    </p:nvPicPr>
                    <p:blipFill>
                      <a:blip r:embed="rId26"/>
                      <a:stretch/>
                    </p:blipFill>
                    <p:spPr>
                      <a:xfrm>
                        <a:off x="179280" y="6165720"/>
                        <a:ext cx="1463760" cy="2876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5" name="Group 31"/>
          <p:cNvGrpSpPr/>
          <p:nvPr/>
        </p:nvGrpSpPr>
        <p:grpSpPr>
          <a:xfrm>
            <a:off x="6370560" y="3932280"/>
            <a:ext cx="2303640" cy="718920"/>
            <a:chOff x="6370560" y="3932280"/>
            <a:chExt cx="2303640" cy="718920"/>
          </a:xfrm>
        </p:grpSpPr>
        <p:pic>
          <p:nvPicPr>
            <p:cNvPr id="446" name="Прямоугольник 44"/>
            <p:cNvPicPr/>
            <p:nvPr/>
          </p:nvPicPr>
          <p:blipFill>
            <a:blip r:embed="rId27"/>
            <a:stretch/>
          </p:blipFill>
          <p:spPr>
            <a:xfrm>
              <a:off x="6370560" y="3932280"/>
              <a:ext cx="2303640" cy="718920"/>
            </a:xfrm>
            <a:prstGeom prst="rect">
              <a:avLst/>
            </a:prstGeom>
            <a:ln>
              <a:noFill/>
            </a:ln>
          </p:spPr>
        </p:pic>
        <p:sp>
          <p:nvSpPr>
            <p:cNvPr id="447" name="CustomShape 32"/>
            <p:cNvSpPr/>
            <p:nvPr/>
          </p:nvSpPr>
          <p:spPr>
            <a:xfrm>
              <a:off x="6443640" y="4005360"/>
              <a:ext cx="2160720" cy="576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48" name="CustomShape 33"/>
          <p:cNvSpPr/>
          <p:nvPr/>
        </p:nvSpPr>
        <p:spPr>
          <a:xfrm>
            <a:off x="1706760" y="6093000"/>
            <a:ext cx="3963240" cy="30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i="1" strike="noStrike" spc="-1">
                <a:solidFill>
                  <a:srgbClr val="000000"/>
                </a:solidFill>
                <a:latin typeface="Arial"/>
              </a:rPr>
              <a:t>- </a:t>
            </a: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Номинальная мощность шума антенны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49" name="Object 34"/>
          <p:cNvGraphicFramePr/>
          <p:nvPr/>
        </p:nvGraphicFramePr>
        <p:xfrm>
          <a:off x="6588000" y="4149720"/>
          <a:ext cx="1744920" cy="287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r:id="rId28" imgW="0" imgH="0" progId="">
                  <p:embed/>
                </p:oleObj>
              </mc:Choice>
              <mc:Fallback>
                <p:oleObj r:id="rId28" imgW="0" imgH="0" progId="">
                  <p:embed/>
                  <p:pic>
                    <p:nvPicPr>
                      <p:cNvPr id="450" name="Object 37"/>
                      <p:cNvPicPr/>
                      <p:nvPr/>
                    </p:nvPicPr>
                    <p:blipFill>
                      <a:blip r:embed="rId29"/>
                      <a:stretch/>
                    </p:blipFill>
                    <p:spPr>
                      <a:xfrm>
                        <a:off x="6588000" y="4149720"/>
                        <a:ext cx="1744920" cy="2872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" name="CustomShape 35"/>
          <p:cNvSpPr/>
          <p:nvPr/>
        </p:nvSpPr>
        <p:spPr>
          <a:xfrm>
            <a:off x="1730880" y="6381720"/>
            <a:ext cx="4726800" cy="30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 Эквивалентная шумовая температура антенны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2" name="Соединительная линия уступом 43"/>
          <p:cNvPicPr/>
          <p:nvPr/>
        </p:nvPicPr>
        <p:blipFill>
          <a:blip r:embed="rId30"/>
          <a:stretch/>
        </p:blipFill>
        <p:spPr>
          <a:xfrm>
            <a:off x="1054080" y="6381720"/>
            <a:ext cx="708120" cy="231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roup 1"/>
          <p:cNvGrpSpPr/>
          <p:nvPr/>
        </p:nvGrpSpPr>
        <p:grpSpPr>
          <a:xfrm>
            <a:off x="103320" y="1054080"/>
            <a:ext cx="8864640" cy="1585800"/>
            <a:chOff x="103320" y="1054080"/>
            <a:chExt cx="8864640" cy="1585800"/>
          </a:xfrm>
        </p:grpSpPr>
        <p:pic>
          <p:nvPicPr>
            <p:cNvPr id="454" name="Прямоугольник 4"/>
            <p:cNvPicPr/>
            <p:nvPr/>
          </p:nvPicPr>
          <p:blipFill>
            <a:blip r:embed="rId3"/>
            <a:stretch/>
          </p:blipFill>
          <p:spPr>
            <a:xfrm>
              <a:off x="103320" y="1054080"/>
              <a:ext cx="8864640" cy="1585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455" name="CustomShape 2"/>
            <p:cNvSpPr/>
            <p:nvPr/>
          </p:nvSpPr>
          <p:spPr>
            <a:xfrm>
              <a:off x="179280" y="1125360"/>
              <a:ext cx="8713800" cy="1440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56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57" name="Object 4"/>
          <p:cNvGraphicFramePr/>
          <p:nvPr/>
        </p:nvGraphicFramePr>
        <p:xfrm>
          <a:off x="250920" y="1268280"/>
          <a:ext cx="4537080" cy="2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458" name="Object 7"/>
                      <p:cNvPicPr/>
                      <p:nvPr/>
                    </p:nvPicPr>
                    <p:blipFill>
                      <a:blip r:embed="rId5"/>
                      <a:stretch/>
                    </p:blipFill>
                    <p:spPr>
                      <a:xfrm>
                        <a:off x="250920" y="1268280"/>
                        <a:ext cx="4537080" cy="2970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" name="CustomShape 5"/>
          <p:cNvSpPr/>
          <p:nvPr/>
        </p:nvSpPr>
        <p:spPr>
          <a:xfrm>
            <a:off x="4871880" y="1197000"/>
            <a:ext cx="4210200" cy="52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Номинальная мощность суммарного шума, 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приведённого ко входу БВЧ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461" name="Object 7"/>
          <p:cNvGraphicFramePr/>
          <p:nvPr/>
        </p:nvGraphicFramePr>
        <p:xfrm>
          <a:off x="250920" y="1773360"/>
          <a:ext cx="2089080" cy="53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462" name="Object 9"/>
                      <p:cNvPicPr/>
                      <p:nvPr/>
                    </p:nvPicPr>
                    <p:blipFill>
                      <a:blip r:embed="rId7"/>
                      <a:stretch/>
                    </p:blipFill>
                    <p:spPr>
                      <a:xfrm>
                        <a:off x="250920" y="1773360"/>
                        <a:ext cx="2089080" cy="53496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" name="CustomShape 8"/>
          <p:cNvSpPr/>
          <p:nvPr/>
        </p:nvSpPr>
        <p:spPr>
          <a:xfrm>
            <a:off x="2484360" y="1773360"/>
            <a:ext cx="5040360" cy="52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Спектральная плотность номинальной мощности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 суммарного приведённого шума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Group 11"/>
          <p:cNvGrpSpPr/>
          <p:nvPr/>
        </p:nvGrpSpPr>
        <p:grpSpPr>
          <a:xfrm>
            <a:off x="1620720" y="2567160"/>
            <a:ext cx="5542200" cy="1223640"/>
            <a:chOff x="1620720" y="2567160"/>
            <a:chExt cx="5542200" cy="1223640"/>
          </a:xfrm>
        </p:grpSpPr>
        <p:pic>
          <p:nvPicPr>
            <p:cNvPr id="467" name="Прямоугольник 12"/>
            <p:cNvPicPr/>
            <p:nvPr/>
          </p:nvPicPr>
          <p:blipFill>
            <a:blip r:embed="rId8"/>
            <a:stretch/>
          </p:blipFill>
          <p:spPr>
            <a:xfrm>
              <a:off x="1620720" y="2567160"/>
              <a:ext cx="5542200" cy="1223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468" name="CustomShape 12"/>
            <p:cNvSpPr/>
            <p:nvPr/>
          </p:nvSpPr>
          <p:spPr>
            <a:xfrm>
              <a:off x="1692360" y="2637000"/>
              <a:ext cx="5400720" cy="1079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aphicFrame>
        <p:nvGraphicFramePr>
          <p:cNvPr id="469" name="Object 13"/>
          <p:cNvGraphicFramePr/>
          <p:nvPr/>
        </p:nvGraphicFramePr>
        <p:xfrm>
          <a:off x="1909800" y="2708280"/>
          <a:ext cx="1797120" cy="576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9" imgW="0" imgH="0" progId="">
                  <p:embed/>
                </p:oleObj>
              </mc:Choice>
              <mc:Fallback>
                <p:oleObj r:id="rId9" imgW="0" imgH="0" progId="">
                  <p:embed/>
                  <p:pic>
                    <p:nvPicPr>
                      <p:cNvPr id="470" name="Object 11"/>
                      <p:cNvPicPr/>
                      <p:nvPr/>
                    </p:nvPicPr>
                    <p:blipFill>
                      <a:blip r:embed="rId10"/>
                      <a:stretch/>
                    </p:blipFill>
                    <p:spPr>
                      <a:xfrm>
                        <a:off x="1909800" y="2708280"/>
                        <a:ext cx="1797120" cy="57636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" name="CustomShape 14"/>
          <p:cNvSpPr/>
          <p:nvPr/>
        </p:nvSpPr>
        <p:spPr>
          <a:xfrm>
            <a:off x="3823200" y="2708280"/>
            <a:ext cx="3143520" cy="520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Коэффициент шума пассивного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 четырёхнолюсника (фидера</a:t>
            </a:r>
            <a:r>
              <a:rPr lang="en-US" sz="1400" b="1" i="1" strike="noStrike" spc="-1">
                <a:solidFill>
                  <a:srgbClr val="000000"/>
                </a:solidFill>
                <a:latin typeface="Arial"/>
              </a:rPr>
              <a:t>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72" name="Object 15"/>
          <p:cNvGraphicFramePr/>
          <p:nvPr/>
        </p:nvGraphicFramePr>
        <p:xfrm>
          <a:off x="1909800" y="3357720"/>
          <a:ext cx="1434960" cy="287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11" imgW="0" imgH="0" progId="">
                  <p:embed/>
                </p:oleObj>
              </mc:Choice>
              <mc:Fallback>
                <p:oleObj r:id="rId11" imgW="0" imgH="0" progId="">
                  <p:embed/>
                  <p:pic>
                    <p:nvPicPr>
                      <p:cNvPr id="473" name="Object 13"/>
                      <p:cNvPicPr/>
                      <p:nvPr/>
                    </p:nvPicPr>
                    <p:blipFill>
                      <a:blip r:embed="rId12"/>
                      <a:stretch/>
                    </p:blipFill>
                    <p:spPr>
                      <a:xfrm>
                        <a:off x="1909800" y="3357720"/>
                        <a:ext cx="1434960" cy="2872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" name="CustomShape 1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75" name="Group 17"/>
          <p:cNvGrpSpPr/>
          <p:nvPr/>
        </p:nvGrpSpPr>
        <p:grpSpPr>
          <a:xfrm>
            <a:off x="103320" y="3718080"/>
            <a:ext cx="8791560" cy="1225440"/>
            <a:chOff x="103320" y="3718080"/>
            <a:chExt cx="8791560" cy="1225440"/>
          </a:xfrm>
        </p:grpSpPr>
        <p:pic>
          <p:nvPicPr>
            <p:cNvPr id="476" name="Прямоугольник 21"/>
            <p:cNvPicPr/>
            <p:nvPr/>
          </p:nvPicPr>
          <p:blipFill>
            <a:blip r:embed="rId13"/>
            <a:stretch/>
          </p:blipFill>
          <p:spPr>
            <a:xfrm>
              <a:off x="103320" y="3718080"/>
              <a:ext cx="8791560" cy="1225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477" name="CustomShape 18"/>
            <p:cNvSpPr/>
            <p:nvPr/>
          </p:nvSpPr>
          <p:spPr>
            <a:xfrm>
              <a:off x="179280" y="3789360"/>
              <a:ext cx="8640720" cy="1079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aphicFrame>
        <p:nvGraphicFramePr>
          <p:cNvPr id="478" name="Object 19"/>
          <p:cNvGraphicFramePr/>
          <p:nvPr/>
        </p:nvGraphicFramePr>
        <p:xfrm>
          <a:off x="1908000" y="3860640"/>
          <a:ext cx="4967640" cy="667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r:id="rId14" imgW="0" imgH="0" progId="">
                  <p:embed/>
                </p:oleObj>
              </mc:Choice>
              <mc:Fallback>
                <p:oleObj r:id="rId14" imgW="0" imgH="0" progId="">
                  <p:embed/>
                  <p:pic>
                    <p:nvPicPr>
                      <p:cNvPr id="479" name="Object 15"/>
                      <p:cNvPicPr/>
                      <p:nvPr/>
                    </p:nvPicPr>
                    <p:blipFill>
                      <a:blip r:embed="rId15"/>
                      <a:stretch/>
                    </p:blipFill>
                    <p:spPr>
                      <a:xfrm>
                        <a:off x="1908000" y="3860640"/>
                        <a:ext cx="4967640" cy="6670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" name="CustomShape 2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1" name="CustomShape 21"/>
          <p:cNvSpPr/>
          <p:nvPr/>
        </p:nvSpPr>
        <p:spPr>
          <a:xfrm>
            <a:off x="199080" y="4508640"/>
            <a:ext cx="8259480" cy="30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Коэффициент шума системы каскадно-соединённых четырёхполюсников (блоков РПУ)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CustomShape 2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83" name="Group 23"/>
          <p:cNvGrpSpPr/>
          <p:nvPr/>
        </p:nvGrpSpPr>
        <p:grpSpPr>
          <a:xfrm>
            <a:off x="1689120" y="4937040"/>
            <a:ext cx="5765760" cy="866880"/>
            <a:chOff x="1689120" y="4937040"/>
            <a:chExt cx="5765760" cy="866880"/>
          </a:xfrm>
        </p:grpSpPr>
        <p:pic>
          <p:nvPicPr>
            <p:cNvPr id="484" name="Прямоугольник 30"/>
            <p:cNvPicPr/>
            <p:nvPr/>
          </p:nvPicPr>
          <p:blipFill>
            <a:blip r:embed="rId16"/>
            <a:stretch/>
          </p:blipFill>
          <p:spPr>
            <a:xfrm>
              <a:off x="1689120" y="4937040"/>
              <a:ext cx="5765760" cy="8668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85" name="CustomShape 24"/>
            <p:cNvSpPr/>
            <p:nvPr/>
          </p:nvSpPr>
          <p:spPr>
            <a:xfrm>
              <a:off x="1763640" y="5013360"/>
              <a:ext cx="5616720" cy="719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86" name="CustomShape 2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87" name="Group 26"/>
          <p:cNvGrpSpPr/>
          <p:nvPr/>
        </p:nvGrpSpPr>
        <p:grpSpPr>
          <a:xfrm>
            <a:off x="1979640" y="5084640"/>
            <a:ext cx="2030400" cy="525600"/>
            <a:chOff x="1979640" y="5084640"/>
            <a:chExt cx="2030400" cy="525600"/>
          </a:xfrm>
        </p:grpSpPr>
        <p:graphicFrame>
          <p:nvGraphicFramePr>
            <p:cNvPr id="488" name="Object 27"/>
            <p:cNvGraphicFramePr/>
            <p:nvPr/>
          </p:nvGraphicFramePr>
          <p:xfrm>
            <a:off x="1979640" y="5084640"/>
            <a:ext cx="973080" cy="52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r:id="rId17" imgW="0" imgH="0" progId="">
                    <p:embed/>
                  </p:oleObj>
                </mc:Choice>
                <mc:Fallback>
                  <p:oleObj r:id="rId17" imgW="0" imgH="0" progId="">
                    <p:embed/>
                    <p:pic>
                      <p:nvPicPr>
                        <p:cNvPr id="489" name="Object 19"/>
                        <p:cNvPicPr/>
                        <p:nvPr/>
                      </p:nvPicPr>
                      <p:blipFill>
                        <a:blip r:embed="rId18"/>
                        <a:stretch/>
                      </p:blipFill>
                      <p:spPr>
                        <a:xfrm>
                          <a:off x="1979640" y="5084640"/>
                          <a:ext cx="973080" cy="5256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0" name="Object 28"/>
            <p:cNvGraphicFramePr/>
            <p:nvPr/>
          </p:nvGraphicFramePr>
          <p:xfrm>
            <a:off x="2952720" y="5156640"/>
            <a:ext cx="1057320" cy="36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r:id="rId19" imgW="0" imgH="0" progId="">
                    <p:embed/>
                  </p:oleObj>
                </mc:Choice>
                <mc:Fallback>
                  <p:oleObj r:id="rId19" imgW="0" imgH="0" progId="">
                    <p:embed/>
                    <p:pic>
                      <p:nvPicPr>
                        <p:cNvPr id="491" name="Object 21"/>
                        <p:cNvPicPr/>
                        <p:nvPr/>
                      </p:nvPicPr>
                      <p:blipFill>
                        <a:blip r:embed="rId20"/>
                        <a:stretch/>
                      </p:blipFill>
                      <p:spPr>
                        <a:xfrm>
                          <a:off x="2952720" y="5156640"/>
                          <a:ext cx="1057320" cy="3600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2" name="CustomShape 29"/>
          <p:cNvSpPr/>
          <p:nvPr/>
        </p:nvSpPr>
        <p:spPr>
          <a:xfrm>
            <a:off x="4067280" y="5229360"/>
            <a:ext cx="3313080" cy="30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i="1" strike="noStrike" spc="-1">
                <a:solidFill>
                  <a:srgbClr val="000000"/>
                </a:solidFill>
                <a:latin typeface="Arial"/>
              </a:rPr>
              <a:t>- </a:t>
            </a: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Эффективное напряжение</a:t>
            </a:r>
            <a:r>
              <a:rPr lang="en-US" sz="1400" b="1" i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шума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CustomShape 30"/>
          <p:cNvSpPr/>
          <p:nvPr/>
        </p:nvSpPr>
        <p:spPr>
          <a:xfrm>
            <a:off x="468360" y="260280"/>
            <a:ext cx="8424720" cy="825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1" strike="noStrike" spc="-1">
                <a:solidFill>
                  <a:srgbClr val="000000"/>
                </a:solidFill>
                <a:latin typeface="Franklin Gothic Book"/>
              </a:rPr>
              <a:t>Основные понятия шумовых характеристик РПУ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CustomShape 31"/>
          <p:cNvSpPr/>
          <p:nvPr/>
        </p:nvSpPr>
        <p:spPr>
          <a:xfrm>
            <a:off x="3423600" y="3284640"/>
            <a:ext cx="2008080" cy="30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i="1" strike="noStrike" spc="-1">
                <a:solidFill>
                  <a:srgbClr val="000000"/>
                </a:solidFill>
                <a:latin typeface="Arial"/>
              </a:rPr>
              <a:t>- Затухание фидера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Заголовок 1"/>
          <p:cNvPicPr/>
          <p:nvPr/>
        </p:nvPicPr>
        <p:blipFill>
          <a:blip r:embed="rId3"/>
          <a:stretch/>
        </p:blipFill>
        <p:spPr>
          <a:xfrm>
            <a:off x="109440" y="457200"/>
            <a:ext cx="8882280" cy="1122480"/>
          </a:xfrm>
          <a:prstGeom prst="rect">
            <a:avLst/>
          </a:prstGeom>
          <a:ln>
            <a:noFill/>
          </a:ln>
        </p:spPr>
      </p:pic>
      <p:sp>
        <p:nvSpPr>
          <p:cNvPr id="496" name="CustomShape 1"/>
          <p:cNvSpPr/>
          <p:nvPr/>
        </p:nvSpPr>
        <p:spPr>
          <a:xfrm>
            <a:off x="3358080" y="1504800"/>
            <a:ext cx="3529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- автокорреляционная функция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7" name="Object 2"/>
          <p:cNvGraphicFramePr/>
          <p:nvPr/>
        </p:nvGraphicFramePr>
        <p:xfrm>
          <a:off x="539640" y="1239840"/>
          <a:ext cx="2727360" cy="8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498" name="Объект 3"/>
                      <p:cNvPicPr/>
                      <p:nvPr/>
                    </p:nvPicPr>
                    <p:blipFill>
                      <a:blip r:embed="rId5"/>
                      <a:stretch/>
                    </p:blipFill>
                    <p:spPr>
                      <a:xfrm>
                        <a:off x="539640" y="1239840"/>
                        <a:ext cx="2727360" cy="8762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" name="Object 3"/>
          <p:cNvGraphicFramePr/>
          <p:nvPr/>
        </p:nvGraphicFramePr>
        <p:xfrm>
          <a:off x="539640" y="2133720"/>
          <a:ext cx="2495520" cy="86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500" name="Объект 4"/>
                      <p:cNvPicPr/>
                      <p:nvPr/>
                    </p:nvPicPr>
                    <p:blipFill>
                      <a:blip r:embed="rId7"/>
                      <a:stretch/>
                    </p:blipFill>
                    <p:spPr>
                      <a:xfrm>
                        <a:off x="539640" y="2133720"/>
                        <a:ext cx="2495520" cy="8636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" name="CustomShape 4"/>
          <p:cNvSpPr/>
          <p:nvPr/>
        </p:nvSpPr>
        <p:spPr>
          <a:xfrm>
            <a:off x="3358440" y="2379600"/>
            <a:ext cx="20566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- энергия сигнала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2" name="Object 5"/>
          <p:cNvGraphicFramePr/>
          <p:nvPr/>
        </p:nvGraphicFramePr>
        <p:xfrm>
          <a:off x="468360" y="3068640"/>
          <a:ext cx="3619440" cy="936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r:id="rId8" imgW="0" imgH="0" progId="">
                  <p:embed/>
                </p:oleObj>
              </mc:Choice>
              <mc:Fallback>
                <p:oleObj r:id="rId8" imgW="0" imgH="0" progId="">
                  <p:embed/>
                  <p:pic>
                    <p:nvPicPr>
                      <p:cNvPr id="503" name="Объект 6"/>
                      <p:cNvPicPr/>
                      <p:nvPr/>
                    </p:nvPicPr>
                    <p:blipFill>
                      <a:blip r:embed="rId9"/>
                      <a:stretch/>
                    </p:blipFill>
                    <p:spPr>
                      <a:xfrm>
                        <a:off x="468360" y="3068640"/>
                        <a:ext cx="3619440" cy="93672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" name="CustomShape 6"/>
          <p:cNvSpPr/>
          <p:nvPr/>
        </p:nvSpPr>
        <p:spPr>
          <a:xfrm>
            <a:off x="4296600" y="3348000"/>
            <a:ext cx="3641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- энергетический спектр сигнала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Задача №1</a:t>
            </a:r>
            <a:endParaRPr lang="ru-RU" dirty="0"/>
          </a:p>
        </p:txBody>
      </p:sp>
      <p:sp>
        <p:nvSpPr>
          <p:cNvPr id="13315" name="TextBox 5"/>
          <p:cNvSpPr txBox="1">
            <a:spLocks noChangeArrowheads="1"/>
          </p:cNvSpPr>
          <p:nvPr/>
        </p:nvSpPr>
        <p:spPr bwMode="auto">
          <a:xfrm>
            <a:off x="323850" y="1268413"/>
            <a:ext cx="842486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200" baseline="-25000">
              <a:latin typeface="Franklin Gothic Book" panose="020B0503020102020204" pitchFamily="34" charset="0"/>
            </a:endParaRPr>
          </a:p>
        </p:txBody>
      </p:sp>
      <p:sp>
        <p:nvSpPr>
          <p:cNvPr id="13316" name="TextBox 13"/>
          <p:cNvSpPr txBox="1">
            <a:spLocks noChangeArrowheads="1"/>
          </p:cNvSpPr>
          <p:nvPr/>
        </p:nvSpPr>
        <p:spPr bwMode="auto">
          <a:xfrm>
            <a:off x="179388" y="1196975"/>
            <a:ext cx="871378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/>
              <a:t>На вход приёмника подключён эквивалент согласованной антенны, находящийся при температуре </a:t>
            </a:r>
            <a:r>
              <a:rPr lang="en-US" altLang="en-US"/>
              <a:t>T</a:t>
            </a:r>
            <a:r>
              <a:rPr lang="en-US" altLang="en-US" baseline="-25000"/>
              <a:t>0</a:t>
            </a:r>
            <a:r>
              <a:rPr lang="ru-RU" altLang="en-US"/>
              <a:t>. При этом мощность шума на выходе БВЧ равна </a:t>
            </a:r>
            <a:r>
              <a:rPr lang="en-US" altLang="en-US"/>
              <a:t>20∙10</a:t>
            </a:r>
            <a:r>
              <a:rPr lang="en-US" altLang="en-US" baseline="30000"/>
              <a:t>-9</a:t>
            </a:r>
            <a:r>
              <a:rPr lang="en-US" altLang="en-US"/>
              <a:t> </a:t>
            </a:r>
            <a:r>
              <a:rPr lang="ru-RU" altLang="en-US"/>
              <a:t>Вт. Определить мощность приведённого ко входу собственного шума приёмника, если шумовая полоса равна 2 МГц, а коэффициент усиления проходной мощности БВЧ 60 дБ.</a:t>
            </a:r>
          </a:p>
        </p:txBody>
      </p:sp>
    </p:spTree>
    <p:extLst>
      <p:ext uri="{BB962C8B-B14F-4D97-AF65-F5344CB8AC3E}">
        <p14:creationId xmlns:p14="http://schemas.microsoft.com/office/powerpoint/2010/main" val="330226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Заголовок 1"/>
          <p:cNvPicPr/>
          <p:nvPr/>
        </p:nvPicPr>
        <p:blipFill>
          <a:blip r:embed="rId2"/>
          <a:stretch/>
        </p:blipFill>
        <p:spPr>
          <a:xfrm>
            <a:off x="109440" y="457200"/>
            <a:ext cx="8882280" cy="1122480"/>
          </a:xfrm>
          <a:prstGeom prst="rect">
            <a:avLst/>
          </a:prstGeom>
          <a:ln>
            <a:noFill/>
          </a:ln>
        </p:spPr>
      </p:pic>
      <p:pic>
        <p:nvPicPr>
          <p:cNvPr id="506" name="Picture 5"/>
          <p:cNvPicPr/>
          <p:nvPr/>
        </p:nvPicPr>
        <p:blipFill>
          <a:blip r:embed="rId3"/>
          <a:stretch/>
        </p:blipFill>
        <p:spPr>
          <a:xfrm>
            <a:off x="1403280" y="1197000"/>
            <a:ext cx="6264360" cy="2016000"/>
          </a:xfrm>
          <a:prstGeom prst="rect">
            <a:avLst/>
          </a:prstGeom>
          <a:ln>
            <a:noFill/>
          </a:ln>
          <a:effectLst>
            <a:outerShdw dist="139498" dir="2700000">
              <a:srgbClr val="333333">
                <a:alpha val="65000"/>
              </a:srgbClr>
            </a:outerShdw>
          </a:effectLst>
        </p:spPr>
      </p:pic>
      <p:sp>
        <p:nvSpPr>
          <p:cNvPr id="507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8" name="CustomShape 2"/>
          <p:cNvSpPr/>
          <p:nvPr/>
        </p:nvSpPr>
        <p:spPr>
          <a:xfrm>
            <a:off x="179280" y="3357720"/>
            <a:ext cx="8569440" cy="3441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200" b="0" u="sng" strike="noStrike" spc="-1">
                <a:solidFill>
                  <a:srgbClr val="000000"/>
                </a:solidFill>
                <a:uFillTx/>
                <a:latin typeface="Franklin Gothic Book"/>
              </a:rPr>
              <a:t>Провести расчет: 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перевести параметры, заданные в децибелах, в относительные единицы;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рассчитать коэффициент шума фидера;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рассчитать коэффициент шума БВЧ как системы каскадно-соединённых четырёхполюсников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Franklin Gothic Book"/>
              </a:rPr>
              <a:t> 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рассчитать шумовую температуру БВЧ и суммарную шумовую температуру РПУ;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рассчитать спектральную плотность мощности приведённого</a:t>
            </a: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ко входу суммарного шума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sng" strike="noStrike" spc="-1">
                <a:solidFill>
                  <a:srgbClr val="000000"/>
                </a:solidFill>
                <a:uFillTx/>
                <a:latin typeface="Franklin Gothic Book"/>
              </a:rPr>
              <a:t>Выполнить моделирование:</a:t>
            </a:r>
            <a:r>
              <a:rPr lang="ru-RU" sz="2200" b="0" strike="noStrike" spc="-1">
                <a:solidFill>
                  <a:srgbClr val="000000"/>
                </a:solidFill>
                <a:latin typeface="Franklin Gothic Book"/>
              </a:rPr>
              <a:t>  (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не менее 1 000 000 отсчётов) сопоставить рассчитанное и измеренное значения спектральной мощности приведённого шума </a:t>
            </a:r>
            <a:r>
              <a:rPr lang="ru-RU" sz="1600" b="0" u="sng" strike="noStrike" spc="-1">
                <a:solidFill>
                  <a:srgbClr val="000000"/>
                </a:solidFill>
                <a:uFillTx/>
                <a:latin typeface="Franklin Gothic Book"/>
              </a:rPr>
              <a:t>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70000"/>
              <a:buFont typeface="Wingdings" charset="2"/>
              <a:buChar char=""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Заголовок 1"/>
          <p:cNvPicPr/>
          <p:nvPr/>
        </p:nvPicPr>
        <p:blipFill>
          <a:blip r:embed="rId3"/>
          <a:stretch/>
        </p:blipFill>
        <p:spPr>
          <a:xfrm>
            <a:off x="139680" y="457200"/>
            <a:ext cx="8852040" cy="1030320"/>
          </a:xfrm>
          <a:prstGeom prst="rect">
            <a:avLst/>
          </a:prstGeom>
          <a:ln>
            <a:noFill/>
          </a:ln>
        </p:spPr>
      </p:pic>
      <p:pic>
        <p:nvPicPr>
          <p:cNvPr id="510" name="Picture 5"/>
          <p:cNvPicPr/>
          <p:nvPr/>
        </p:nvPicPr>
        <p:blipFill>
          <a:blip r:embed="rId4"/>
          <a:stretch/>
        </p:blipFill>
        <p:spPr>
          <a:xfrm>
            <a:off x="1403280" y="1197000"/>
            <a:ext cx="6264360" cy="2016000"/>
          </a:xfrm>
          <a:prstGeom prst="rect">
            <a:avLst/>
          </a:prstGeom>
          <a:ln>
            <a:noFill/>
          </a:ln>
          <a:effectLst>
            <a:outerShdw dist="139498" dir="2700000">
              <a:srgbClr val="333333">
                <a:alpha val="65000"/>
              </a:srgbClr>
            </a:outerShdw>
          </a:effectLst>
        </p:spPr>
      </p:pic>
      <p:sp>
        <p:nvSpPr>
          <p:cNvPr id="511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2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6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7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18" name="Group 8"/>
          <p:cNvGrpSpPr/>
          <p:nvPr/>
        </p:nvGrpSpPr>
        <p:grpSpPr>
          <a:xfrm>
            <a:off x="36360" y="3429000"/>
            <a:ext cx="9144000" cy="2700000"/>
            <a:chOff x="36360" y="3429000"/>
            <a:chExt cx="9144000" cy="2700000"/>
          </a:xfrm>
        </p:grpSpPr>
        <p:sp>
          <p:nvSpPr>
            <p:cNvPr id="519" name="CustomShape 9"/>
            <p:cNvSpPr/>
            <p:nvPr/>
          </p:nvSpPr>
          <p:spPr>
            <a:xfrm>
              <a:off x="36360" y="3429000"/>
              <a:ext cx="9144000" cy="2700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  <a:ea typeface="Times New Roman"/>
                </a:rPr>
                <a:t>Для определения на модели шумовой температуры нужно провести два измерения спектральной плотности мощности приведённого ко входу шума: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just">
                <a:lnSpc>
                  <a:spcPct val="150000"/>
                </a:lnSpc>
                <a:buClr>
                  <a:srgbClr val="000000"/>
                </a:buClr>
                <a:buSzPct val="70000"/>
                <a:buFont typeface="Arial"/>
                <a:buAutoNum type="arabicParenR"/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При               (                                          )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50000"/>
                </a:lnSpc>
                <a:buClr>
                  <a:srgbClr val="000000"/>
                </a:buClr>
                <a:buSzPct val="70000"/>
                <a:buFont typeface="Arial"/>
                <a:buAutoNum type="arabicParenR"/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подобрать такое значение              , при котором спектральная плотность мощности приведённого шума увеличивается в 2 раза  (                                       )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5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Из уравнения                                             найти                            .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5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Сравнить измеренное значение с рассчитанным</a:t>
              </a: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.</a:t>
              </a: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 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520" name="Object 10"/>
            <p:cNvGraphicFramePr/>
            <p:nvPr/>
          </p:nvGraphicFramePr>
          <p:xfrm>
            <a:off x="863640" y="4077000"/>
            <a:ext cx="791640" cy="351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r:id="rId5" imgW="0" imgH="0" progId="">
                    <p:embed/>
                  </p:oleObj>
                </mc:Choice>
                <mc:Fallback>
                  <p:oleObj r:id="rId5" imgW="0" imgH="0" progId="">
                    <p:embed/>
                    <p:pic>
                      <p:nvPicPr>
                        <p:cNvPr id="521" name="Object 7"/>
                        <p:cNvPicPr/>
                        <p:nvPr/>
                      </p:nvPicPr>
                      <p:blipFill>
                        <a:blip r:embed="rId6"/>
                        <a:stretch/>
                      </p:blipFill>
                      <p:spPr>
                        <a:xfrm>
                          <a:off x="863640" y="4077000"/>
                          <a:ext cx="791640" cy="35136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" name="Object 11"/>
            <p:cNvGraphicFramePr/>
            <p:nvPr/>
          </p:nvGraphicFramePr>
          <p:xfrm>
            <a:off x="1872000" y="4005000"/>
            <a:ext cx="2592360" cy="390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r:id="rId7" imgW="0" imgH="0" progId="">
                    <p:embed/>
                  </p:oleObj>
                </mc:Choice>
                <mc:Fallback>
                  <p:oleObj r:id="rId7" imgW="0" imgH="0" progId="">
                    <p:embed/>
                    <p:pic>
                      <p:nvPicPr>
                        <p:cNvPr id="523" name="Object 9"/>
                        <p:cNvPicPr/>
                        <p:nvPr/>
                      </p:nvPicPr>
                      <p:blipFill>
                        <a:blip r:embed="rId8"/>
                        <a:stretch/>
                      </p:blipFill>
                      <p:spPr>
                        <a:xfrm>
                          <a:off x="1872000" y="4005000"/>
                          <a:ext cx="2592360" cy="3906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4" name="Object 12"/>
            <p:cNvGraphicFramePr/>
            <p:nvPr/>
          </p:nvGraphicFramePr>
          <p:xfrm>
            <a:off x="3168000" y="4437000"/>
            <a:ext cx="861840" cy="359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r:id="rId9" imgW="0" imgH="0" progId="">
                    <p:embed/>
                  </p:oleObj>
                </mc:Choice>
                <mc:Fallback>
                  <p:oleObj r:id="rId9" imgW="0" imgH="0" progId="">
                    <p:embed/>
                    <p:pic>
                      <p:nvPicPr>
                        <p:cNvPr id="525" name="Object 11"/>
                        <p:cNvPicPr/>
                        <p:nvPr/>
                      </p:nvPicPr>
                      <p:blipFill>
                        <a:blip r:embed="rId10"/>
                        <a:stretch/>
                      </p:blipFill>
                      <p:spPr>
                        <a:xfrm>
                          <a:off x="3168000" y="4437000"/>
                          <a:ext cx="861840" cy="35928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6" name="Object 13"/>
            <p:cNvGraphicFramePr/>
            <p:nvPr/>
          </p:nvGraphicFramePr>
          <p:xfrm>
            <a:off x="6192720" y="4869360"/>
            <a:ext cx="2454120" cy="404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r:id="rId11" imgW="0" imgH="0" progId="">
                    <p:embed/>
                  </p:oleObj>
                </mc:Choice>
                <mc:Fallback>
                  <p:oleObj r:id="rId11" imgW="0" imgH="0" progId="">
                    <p:embed/>
                    <p:pic>
                      <p:nvPicPr>
                        <p:cNvPr id="527" name="Object 14"/>
                        <p:cNvPicPr/>
                        <p:nvPr/>
                      </p:nvPicPr>
                      <p:blipFill>
                        <a:blip r:embed="rId12"/>
                        <a:stretch/>
                      </p:blipFill>
                      <p:spPr>
                        <a:xfrm>
                          <a:off x="6192720" y="4869360"/>
                          <a:ext cx="2454120" cy="40464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8" name="Object 14"/>
            <p:cNvGraphicFramePr/>
            <p:nvPr/>
          </p:nvGraphicFramePr>
          <p:xfrm>
            <a:off x="1728000" y="5301360"/>
            <a:ext cx="2620800" cy="404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r:id="rId13" imgW="0" imgH="0" progId="">
                    <p:embed/>
                  </p:oleObj>
                </mc:Choice>
                <mc:Fallback>
                  <p:oleObj r:id="rId13" imgW="0" imgH="0" progId="">
                    <p:embed/>
                    <p:pic>
                      <p:nvPicPr>
                        <p:cNvPr id="529" name="Object 16"/>
                        <p:cNvPicPr/>
                        <p:nvPr/>
                      </p:nvPicPr>
                      <p:blipFill>
                        <a:blip r:embed="rId14"/>
                        <a:stretch/>
                      </p:blipFill>
                      <p:spPr>
                        <a:xfrm>
                          <a:off x="1728000" y="5301360"/>
                          <a:ext cx="2620800" cy="40464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0" name="Object 15"/>
            <p:cNvGraphicFramePr/>
            <p:nvPr/>
          </p:nvGraphicFramePr>
          <p:xfrm>
            <a:off x="5184360" y="5301360"/>
            <a:ext cx="1616040" cy="333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r:id="rId15" imgW="0" imgH="0" progId="">
                    <p:embed/>
                  </p:oleObj>
                </mc:Choice>
                <mc:Fallback>
                  <p:oleObj r:id="rId15" imgW="0" imgH="0" progId="">
                    <p:embed/>
                    <p:pic>
                      <p:nvPicPr>
                        <p:cNvPr id="531" name="Object 18"/>
                        <p:cNvPicPr/>
                        <p:nvPr/>
                      </p:nvPicPr>
                      <p:blipFill>
                        <a:blip r:embed="rId16"/>
                        <a:stretch/>
                      </p:blipFill>
                      <p:spPr>
                        <a:xfrm>
                          <a:off x="5184360" y="5301360"/>
                          <a:ext cx="1616040" cy="33336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Заголовок 1"/>
          <p:cNvPicPr/>
          <p:nvPr/>
        </p:nvPicPr>
        <p:blipFill>
          <a:blip r:embed="rId2"/>
          <a:stretch/>
        </p:blipFill>
        <p:spPr>
          <a:xfrm>
            <a:off x="291960" y="542880"/>
            <a:ext cx="8772840" cy="1023840"/>
          </a:xfrm>
          <a:prstGeom prst="rect">
            <a:avLst/>
          </a:prstGeom>
          <a:ln>
            <a:noFill/>
          </a:ln>
        </p:spPr>
      </p:pic>
      <p:sp>
        <p:nvSpPr>
          <p:cNvPr id="533" name="CustomShape 1"/>
          <p:cNvSpPr/>
          <p:nvPr/>
        </p:nvSpPr>
        <p:spPr>
          <a:xfrm>
            <a:off x="179280" y="1628640"/>
            <a:ext cx="8785440" cy="3627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А)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Подобрать такое значение коэффициента передачи преселектора, при котором спектральная плотность мощности приведённого шума уменьшается в 2 раза по сравнению со значением, полученным при заданных по умолчанию параметрах.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ru-RU" sz="1600" b="1" u="sng" strike="noStrike" spc="-1">
                <a:solidFill>
                  <a:srgbClr val="000000"/>
                </a:solidFill>
                <a:uFillTx/>
                <a:latin typeface="Arial"/>
              </a:rPr>
              <a:t>Сделать вывод 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о влиянии изменения коэффициента передачи преселектора на чувствительность РПУ.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Б) 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Восстановить первоначальное значение коэффициента передачи преселектора и подобрать такое значение коэффициента шума ПЧ, при котором спектральная плотность мощности приведённого шума уменьшается в 2 раза по сравнению со значением, полученным при заданных по умолчанию параметрах.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ru-RU" sz="1600" b="1" u="sng" strike="noStrike" spc="-1">
                <a:solidFill>
                  <a:srgbClr val="000000"/>
                </a:solidFill>
                <a:uFillTx/>
                <a:latin typeface="Arial"/>
              </a:rPr>
              <a:t>Сделать вывод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 о влиянии коэффициента шума ПЧ на чувствительность РПУ.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В) </a:t>
            </a:r>
            <a:r>
              <a:rPr lang="ru-RU" sz="1600" b="1" u="sng" strike="noStrike" spc="-1">
                <a:solidFill>
                  <a:srgbClr val="000000"/>
                </a:solidFill>
                <a:uFillTx/>
                <a:latin typeface="Arial"/>
              </a:rPr>
              <a:t>оценить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 возможное повышение чувствительности за счёт снижения потерь в фидере. Для этого сравнить значения  спектральной плотности мощности приведённого шума при заданной величине  </a:t>
            </a: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L</a:t>
            </a:r>
            <a:r>
              <a:rPr lang="ru-RU" sz="1600" b="0" strike="noStrike" spc="-1" baseline="-25000">
                <a:solidFill>
                  <a:srgbClr val="000000"/>
                </a:solidFill>
                <a:latin typeface="Arial"/>
              </a:rPr>
              <a:t>ф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=1 дБ  и в случае идеального фидера без потерь </a:t>
            </a: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L</a:t>
            </a:r>
            <a:r>
              <a:rPr lang="ru-RU" sz="1600" b="0" strike="noStrike" spc="-1" baseline="-25000">
                <a:solidFill>
                  <a:srgbClr val="000000"/>
                </a:solidFill>
                <a:latin typeface="Arial"/>
              </a:rPr>
              <a:t>ф</a:t>
            </a: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=1 дБ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Заголовок 1"/>
          <p:cNvPicPr/>
          <p:nvPr/>
        </p:nvPicPr>
        <p:blipFill>
          <a:blip r:embed="rId3"/>
          <a:stretch/>
        </p:blipFill>
        <p:spPr>
          <a:xfrm>
            <a:off x="92160" y="414360"/>
            <a:ext cx="8545320" cy="1206360"/>
          </a:xfrm>
          <a:prstGeom prst="rect">
            <a:avLst/>
          </a:prstGeom>
          <a:ln>
            <a:noFill/>
          </a:ln>
        </p:spPr>
      </p:pic>
      <p:sp>
        <p:nvSpPr>
          <p:cNvPr id="535" name="CustomShape 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6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7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39" name="Group 5"/>
          <p:cNvGrpSpPr/>
          <p:nvPr/>
        </p:nvGrpSpPr>
        <p:grpSpPr>
          <a:xfrm>
            <a:off x="250920" y="1628640"/>
            <a:ext cx="8713800" cy="3248640"/>
            <a:chOff x="250920" y="1628640"/>
            <a:chExt cx="8713800" cy="3248640"/>
          </a:xfrm>
        </p:grpSpPr>
        <p:sp>
          <p:nvSpPr>
            <p:cNvPr id="540" name="CustomShape 6"/>
            <p:cNvSpPr/>
            <p:nvPr/>
          </p:nvSpPr>
          <p:spPr>
            <a:xfrm>
              <a:off x="250920" y="1628640"/>
              <a:ext cx="8713800" cy="3248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1800" b="0" u="sng" strike="noStrike" spc="-1">
                  <a:solidFill>
                    <a:srgbClr val="000000"/>
                  </a:solidFill>
                  <a:uFillTx/>
                  <a:latin typeface="Arial"/>
                </a:rPr>
                <a:t>Рассчитать</a:t>
              </a: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 характеристики шума в различных точках приёмного тракта: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buClr>
                  <a:srgbClr val="000000"/>
                </a:buClr>
                <a:buSzPct val="70000"/>
                <a:buFont typeface="Wingdings" charset="2"/>
                <a:buChar char=""/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максимальное значение спектральной плотности шума на выходе преселектора: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buClr>
                  <a:srgbClr val="000000"/>
                </a:buClr>
                <a:buSzPct val="70000"/>
                <a:buFont typeface="Wingdings" charset="2"/>
                <a:buChar char=""/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 мощность шума на выходе преселектора: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buClr>
                  <a:srgbClr val="000000"/>
                </a:buClr>
                <a:buSzPct val="70000"/>
                <a:buFont typeface="Wingdings" charset="2"/>
                <a:buChar char=""/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максимальное значение спектральной плотности дисперсии шума на выходе УПЧ:  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buClr>
                  <a:srgbClr val="000000"/>
                </a:buClr>
                <a:buSzPct val="70000"/>
                <a:buFont typeface="Wingdings" charset="2"/>
                <a:buChar char=""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buClr>
                  <a:srgbClr val="000000"/>
                </a:buClr>
                <a:buSzPct val="70000"/>
                <a:buFont typeface="Wingdings" charset="2"/>
                <a:buChar char=""/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эффективное напряжение шума на выходе УПЧ: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1800" b="0" u="sng" strike="noStrike" spc="-1">
                  <a:solidFill>
                    <a:srgbClr val="000000"/>
                  </a:solidFill>
                  <a:uFillTx/>
                  <a:latin typeface="Arial"/>
                </a:rPr>
                <a:t>Измерить</a:t>
              </a: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 на модели рассчитанные характеристики шума. 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Arial"/>
                </a:rPr>
                <a:t>Сохранить графики спектра и эпюры шума. 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541" name="Object 7"/>
            <p:cNvGraphicFramePr/>
            <p:nvPr/>
          </p:nvGraphicFramePr>
          <p:xfrm>
            <a:off x="2051280" y="2348640"/>
            <a:ext cx="828000" cy="304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" r:id="rId4" imgW="0" imgH="0" progId="">
                    <p:embed/>
                  </p:oleObj>
                </mc:Choice>
                <mc:Fallback>
                  <p:oleObj r:id="rId4" imgW="0" imgH="0" progId="">
                    <p:embed/>
                    <p:pic>
                      <p:nvPicPr>
                        <p:cNvPr id="542" name="Object 5"/>
                        <p:cNvPicPr/>
                        <p:nvPr/>
                      </p:nvPicPr>
                      <p:blipFill>
                        <a:blip r:embed="rId5"/>
                        <a:stretch/>
                      </p:blipFill>
                      <p:spPr>
                        <a:xfrm>
                          <a:off x="2051280" y="2348640"/>
                          <a:ext cx="828000" cy="30492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" name="Object 8"/>
            <p:cNvGraphicFramePr/>
            <p:nvPr/>
          </p:nvGraphicFramePr>
          <p:xfrm>
            <a:off x="5076000" y="2564640"/>
            <a:ext cx="617400" cy="36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r:id="rId6" imgW="0" imgH="0" progId="">
                    <p:embed/>
                  </p:oleObj>
                </mc:Choice>
                <mc:Fallback>
                  <p:oleObj r:id="rId6" imgW="0" imgH="0" progId="">
                    <p:embed/>
                    <p:pic>
                      <p:nvPicPr>
                        <p:cNvPr id="544" name="Object 7"/>
                        <p:cNvPicPr/>
                        <p:nvPr/>
                      </p:nvPicPr>
                      <p:blipFill>
                        <a:blip r:embed="rId7"/>
                        <a:stretch/>
                      </p:blipFill>
                      <p:spPr>
                        <a:xfrm>
                          <a:off x="5076000" y="2564640"/>
                          <a:ext cx="617400" cy="3600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5" name="Object 9"/>
            <p:cNvGraphicFramePr/>
            <p:nvPr/>
          </p:nvGraphicFramePr>
          <p:xfrm>
            <a:off x="970920" y="3141000"/>
            <a:ext cx="956520" cy="41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r:id="rId8" imgW="0" imgH="0" progId="">
                    <p:embed/>
                  </p:oleObj>
                </mc:Choice>
                <mc:Fallback>
                  <p:oleObj r:id="rId8" imgW="0" imgH="0" progId="">
                    <p:embed/>
                    <p:pic>
                      <p:nvPicPr>
                        <p:cNvPr id="546" name="Object 9"/>
                        <p:cNvPicPr/>
                        <p:nvPr/>
                      </p:nvPicPr>
                      <p:blipFill>
                        <a:blip r:embed="rId9"/>
                        <a:stretch/>
                      </p:blipFill>
                      <p:spPr>
                        <a:xfrm>
                          <a:off x="970920" y="3141000"/>
                          <a:ext cx="956520" cy="4194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7" name="Object 10"/>
            <p:cNvGraphicFramePr/>
            <p:nvPr/>
          </p:nvGraphicFramePr>
          <p:xfrm>
            <a:off x="5724000" y="3717000"/>
            <a:ext cx="643680" cy="313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r:id="rId10" imgW="0" imgH="0" progId="">
                    <p:embed/>
                  </p:oleObj>
                </mc:Choice>
                <mc:Fallback>
                  <p:oleObj r:id="rId10" imgW="0" imgH="0" progId="">
                    <p:embed/>
                    <p:pic>
                      <p:nvPicPr>
                        <p:cNvPr id="548" name="Object 11"/>
                        <p:cNvPicPr/>
                        <p:nvPr/>
                      </p:nvPicPr>
                      <p:blipFill>
                        <a:blip r:embed="rId11"/>
                        <a:stretch/>
                      </p:blipFill>
                      <p:spPr>
                        <a:xfrm>
                          <a:off x="5724000" y="3717000"/>
                          <a:ext cx="643680" cy="31356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9" name="Group 11"/>
          <p:cNvGrpSpPr/>
          <p:nvPr/>
        </p:nvGrpSpPr>
        <p:grpSpPr>
          <a:xfrm>
            <a:off x="262080" y="4956120"/>
            <a:ext cx="8716680" cy="1225440"/>
            <a:chOff x="262080" y="4956120"/>
            <a:chExt cx="8716680" cy="1225440"/>
          </a:xfrm>
        </p:grpSpPr>
        <p:pic>
          <p:nvPicPr>
            <p:cNvPr id="550" name="Прямоугольник 2"/>
            <p:cNvPicPr/>
            <p:nvPr/>
          </p:nvPicPr>
          <p:blipFill>
            <a:blip r:embed="rId12"/>
            <a:stretch/>
          </p:blipFill>
          <p:spPr>
            <a:xfrm>
              <a:off x="262080" y="4956120"/>
              <a:ext cx="8716680" cy="1225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51" name="CustomShape 12"/>
            <p:cNvSpPr/>
            <p:nvPr/>
          </p:nvSpPr>
          <p:spPr>
            <a:xfrm>
              <a:off x="336600" y="5027760"/>
              <a:ext cx="8569440" cy="10810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noAutofit/>
            </a:bodyPr>
            <a:lstStyle/>
            <a:p>
              <a:pPr algn="just"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Franklin Gothic Book"/>
                </a:rPr>
                <a:t>По графику спектра шума на выходе преселектора измерить ширину спектра по уровню 0,5 и сопоставить её с заданной полосой пропускания преселектора.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468360" y="260280"/>
            <a:ext cx="8424720" cy="1068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3200" b="1" strike="noStrike" spc="-1">
                <a:solidFill>
                  <a:srgbClr val="444D26"/>
                </a:solidFill>
                <a:latin typeface="Franklin Gothic Book"/>
              </a:rPr>
              <a:t>п.2 «Характеристики шума на выходе ФСС»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4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5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6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7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8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9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0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64" name="Group 13"/>
          <p:cNvGrpSpPr/>
          <p:nvPr/>
        </p:nvGrpSpPr>
        <p:grpSpPr>
          <a:xfrm>
            <a:off x="103320" y="2779560"/>
            <a:ext cx="8937360" cy="2090880"/>
            <a:chOff x="103320" y="2779560"/>
            <a:chExt cx="8937360" cy="2090880"/>
          </a:xfrm>
        </p:grpSpPr>
        <p:pic>
          <p:nvPicPr>
            <p:cNvPr id="565" name="Прямоугольник 37"/>
            <p:cNvPicPr/>
            <p:nvPr/>
          </p:nvPicPr>
          <p:blipFill>
            <a:blip r:embed="rId3"/>
            <a:stretch/>
          </p:blipFill>
          <p:spPr>
            <a:xfrm>
              <a:off x="103320" y="2779560"/>
              <a:ext cx="8937360" cy="2090880"/>
            </a:xfrm>
            <a:prstGeom prst="rect">
              <a:avLst/>
            </a:prstGeom>
            <a:ln>
              <a:noFill/>
            </a:ln>
          </p:spPr>
        </p:pic>
        <p:sp>
          <p:nvSpPr>
            <p:cNvPr id="566" name="CustomShape 14"/>
            <p:cNvSpPr/>
            <p:nvPr/>
          </p:nvSpPr>
          <p:spPr>
            <a:xfrm>
              <a:off x="179280" y="2852640"/>
              <a:ext cx="8785440" cy="1944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567" name="Picture 19"/>
          <p:cNvPicPr/>
          <p:nvPr/>
        </p:nvPicPr>
        <p:blipFill>
          <a:blip r:embed="rId4"/>
          <a:stretch/>
        </p:blipFill>
        <p:spPr>
          <a:xfrm>
            <a:off x="179280" y="1125360"/>
            <a:ext cx="7062840" cy="1656000"/>
          </a:xfrm>
          <a:prstGeom prst="rect">
            <a:avLst/>
          </a:prstGeom>
          <a:ln>
            <a:noFill/>
          </a:ln>
          <a:effectLst>
            <a:outerShdw dist="139498" dir="2700000">
              <a:srgbClr val="333333">
                <a:alpha val="65000"/>
              </a:srgbClr>
            </a:outerShdw>
          </a:effectLst>
        </p:spPr>
      </p:pic>
      <p:sp>
        <p:nvSpPr>
          <p:cNvPr id="568" name="CustomShape 1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69" name="Group 16"/>
          <p:cNvGrpSpPr/>
          <p:nvPr/>
        </p:nvGrpSpPr>
        <p:grpSpPr>
          <a:xfrm>
            <a:off x="7308720" y="1054080"/>
            <a:ext cx="1731960" cy="1798560"/>
            <a:chOff x="7308720" y="1054080"/>
            <a:chExt cx="1731960" cy="1798560"/>
          </a:xfrm>
        </p:grpSpPr>
        <p:pic>
          <p:nvPicPr>
            <p:cNvPr id="570" name="Прямоугольник 26"/>
            <p:cNvPicPr/>
            <p:nvPr/>
          </p:nvPicPr>
          <p:blipFill>
            <a:blip r:embed="rId5"/>
            <a:stretch/>
          </p:blipFill>
          <p:spPr>
            <a:xfrm>
              <a:off x="7308720" y="1054080"/>
              <a:ext cx="1731960" cy="1798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571" name="CustomShape 17"/>
            <p:cNvSpPr/>
            <p:nvPr/>
          </p:nvSpPr>
          <p:spPr>
            <a:xfrm>
              <a:off x="7380360" y="1125360"/>
              <a:ext cx="1584360" cy="1656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aphicFrame>
        <p:nvGraphicFramePr>
          <p:cNvPr id="572" name="Object 18"/>
          <p:cNvGraphicFramePr/>
          <p:nvPr/>
        </p:nvGraphicFramePr>
        <p:xfrm>
          <a:off x="7451640" y="1268280"/>
          <a:ext cx="1152720" cy="28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573" name="Object 20"/>
                      <p:cNvPicPr/>
                      <p:nvPr/>
                    </p:nvPicPr>
                    <p:blipFill>
                      <a:blip r:embed="rId7"/>
                      <a:stretch/>
                    </p:blipFill>
                    <p:spPr>
                      <a:xfrm>
                        <a:off x="7451640" y="1268280"/>
                        <a:ext cx="1152720" cy="2890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" name="CustomShap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575" name="Object 20"/>
          <p:cNvGraphicFramePr/>
          <p:nvPr/>
        </p:nvGraphicFramePr>
        <p:xfrm>
          <a:off x="7451640" y="1628640"/>
          <a:ext cx="1014480" cy="28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8" imgW="0" imgH="0" progId="">
                  <p:embed/>
                </p:oleObj>
              </mc:Choice>
              <mc:Fallback>
                <p:oleObj r:id="rId8" imgW="0" imgH="0" progId="">
                  <p:embed/>
                  <p:pic>
                    <p:nvPicPr>
                      <p:cNvPr id="576" name="Object 22"/>
                      <p:cNvPicPr/>
                      <p:nvPr/>
                    </p:nvPicPr>
                    <p:blipFill>
                      <a:blip r:embed="rId9"/>
                      <a:stretch/>
                    </p:blipFill>
                    <p:spPr>
                      <a:xfrm>
                        <a:off x="7451640" y="1628640"/>
                        <a:ext cx="1014480" cy="2876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" name="CustomShape 2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578" name="Object 22"/>
          <p:cNvGraphicFramePr/>
          <p:nvPr/>
        </p:nvGraphicFramePr>
        <p:xfrm>
          <a:off x="7451640" y="1916280"/>
          <a:ext cx="1487520" cy="28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r:id="rId10" imgW="0" imgH="0" progId="">
                  <p:embed/>
                </p:oleObj>
              </mc:Choice>
              <mc:Fallback>
                <p:oleObj r:id="rId10" imgW="0" imgH="0" progId="">
                  <p:embed/>
                  <p:pic>
                    <p:nvPicPr>
                      <p:cNvPr id="579" name="Object 24"/>
                      <p:cNvPicPr/>
                      <p:nvPr/>
                    </p:nvPicPr>
                    <p:blipFill>
                      <a:blip r:embed="rId11"/>
                      <a:stretch/>
                    </p:blipFill>
                    <p:spPr>
                      <a:xfrm>
                        <a:off x="7451640" y="1916280"/>
                        <a:ext cx="1487520" cy="28872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0" name="Object 23"/>
          <p:cNvGraphicFramePr/>
          <p:nvPr/>
        </p:nvGraphicFramePr>
        <p:xfrm>
          <a:off x="7451640" y="2276640"/>
          <a:ext cx="1181160" cy="32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r:id="rId12" imgW="0" imgH="0" progId="">
                  <p:embed/>
                </p:oleObj>
              </mc:Choice>
              <mc:Fallback>
                <p:oleObj r:id="rId12" imgW="0" imgH="0" progId="">
                  <p:embed/>
                  <p:pic>
                    <p:nvPicPr>
                      <p:cNvPr id="581" name="Object 26"/>
                      <p:cNvPicPr/>
                      <p:nvPr/>
                    </p:nvPicPr>
                    <p:blipFill>
                      <a:blip r:embed="rId13"/>
                      <a:stretch/>
                    </p:blipFill>
                    <p:spPr>
                      <a:xfrm>
                        <a:off x="7451640" y="2276640"/>
                        <a:ext cx="1181160" cy="3204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" name="CustomShape 24"/>
          <p:cNvSpPr/>
          <p:nvPr/>
        </p:nvSpPr>
        <p:spPr>
          <a:xfrm>
            <a:off x="-795600" y="2924280"/>
            <a:ext cx="10864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i="1" strike="noStrike" spc="-1">
                <a:solidFill>
                  <a:srgbClr val="000000"/>
                </a:solidFill>
                <a:latin typeface="Franklin Gothic Book"/>
              </a:rPr>
              <a:t>Рассчитать: 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номиналы элементов для 3-звенного ФСС для заданного варианта (L и С).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3" name="Object 25"/>
          <p:cNvGraphicFramePr/>
          <p:nvPr/>
        </p:nvGraphicFramePr>
        <p:xfrm>
          <a:off x="324000" y="3313080"/>
          <a:ext cx="1223640" cy="69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r:id="rId14" imgW="0" imgH="0" progId="">
                  <p:embed/>
                </p:oleObj>
              </mc:Choice>
              <mc:Fallback>
                <p:oleObj r:id="rId14" imgW="0" imgH="0" progId="">
                  <p:embed/>
                  <p:pic>
                    <p:nvPicPr>
                      <p:cNvPr id="584" name="Object 32"/>
                      <p:cNvPicPr/>
                      <p:nvPr/>
                    </p:nvPicPr>
                    <p:blipFill>
                      <a:blip r:embed="rId15"/>
                      <a:stretch/>
                    </p:blipFill>
                    <p:spPr>
                      <a:xfrm>
                        <a:off x="324000" y="3313080"/>
                        <a:ext cx="1223640" cy="6984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" name="Object 26"/>
          <p:cNvGraphicFramePr/>
          <p:nvPr/>
        </p:nvGraphicFramePr>
        <p:xfrm>
          <a:off x="2021040" y="3338640"/>
          <a:ext cx="1893600" cy="64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r:id="rId16" imgW="0" imgH="0" progId="">
                  <p:embed/>
                </p:oleObj>
              </mc:Choice>
              <mc:Fallback>
                <p:oleObj r:id="rId16" imgW="0" imgH="0" progId="">
                  <p:embed/>
                  <p:pic>
                    <p:nvPicPr>
                      <p:cNvPr id="586" name="Object 31"/>
                      <p:cNvPicPr/>
                      <p:nvPr/>
                    </p:nvPicPr>
                    <p:blipFill>
                      <a:blip r:embed="rId17"/>
                      <a:stretch/>
                    </p:blipFill>
                    <p:spPr>
                      <a:xfrm>
                        <a:off x="2021040" y="3338640"/>
                        <a:ext cx="1893600" cy="6476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" name="Object 27"/>
          <p:cNvGraphicFramePr/>
          <p:nvPr/>
        </p:nvGraphicFramePr>
        <p:xfrm>
          <a:off x="4389480" y="3357720"/>
          <a:ext cx="1079280" cy="60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r:id="rId18" imgW="0" imgH="0" progId="">
                  <p:embed/>
                </p:oleObj>
              </mc:Choice>
              <mc:Fallback>
                <p:oleObj r:id="rId18" imgW="0" imgH="0" progId="">
                  <p:embed/>
                  <p:pic>
                    <p:nvPicPr>
                      <p:cNvPr id="588" name="Object 30"/>
                      <p:cNvPicPr/>
                      <p:nvPr/>
                    </p:nvPicPr>
                    <p:blipFill>
                      <a:blip r:embed="rId19"/>
                      <a:stretch/>
                    </p:blipFill>
                    <p:spPr>
                      <a:xfrm>
                        <a:off x="4389480" y="3357720"/>
                        <a:ext cx="1079280" cy="60948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" name="Object 28"/>
          <p:cNvGraphicFramePr/>
          <p:nvPr/>
        </p:nvGraphicFramePr>
        <p:xfrm>
          <a:off x="5942160" y="3483000"/>
          <a:ext cx="1109520" cy="358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r:id="rId20" imgW="0" imgH="0" progId="">
                  <p:embed/>
                </p:oleObj>
              </mc:Choice>
              <mc:Fallback>
                <p:oleObj r:id="rId20" imgW="0" imgH="0" progId="">
                  <p:embed/>
                  <p:pic>
                    <p:nvPicPr>
                      <p:cNvPr id="590" name="Object 29"/>
                      <p:cNvPicPr/>
                      <p:nvPr/>
                    </p:nvPicPr>
                    <p:blipFill>
                      <a:blip r:embed="rId21"/>
                      <a:stretch/>
                    </p:blipFill>
                    <p:spPr>
                      <a:xfrm>
                        <a:off x="5942160" y="3483000"/>
                        <a:ext cx="1109520" cy="35892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" name="Object 29"/>
          <p:cNvGraphicFramePr/>
          <p:nvPr/>
        </p:nvGraphicFramePr>
        <p:xfrm>
          <a:off x="7524720" y="3483000"/>
          <a:ext cx="920880" cy="358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r:id="rId22" imgW="0" imgH="0" progId="">
                  <p:embed/>
                </p:oleObj>
              </mc:Choice>
              <mc:Fallback>
                <p:oleObj r:id="rId22" imgW="0" imgH="0" progId="">
                  <p:embed/>
                  <p:pic>
                    <p:nvPicPr>
                      <p:cNvPr id="592" name="Object 28"/>
                      <p:cNvPicPr/>
                      <p:nvPr/>
                    </p:nvPicPr>
                    <p:blipFill>
                      <a:blip r:embed="rId23"/>
                      <a:stretch/>
                    </p:blipFill>
                    <p:spPr>
                      <a:xfrm>
                        <a:off x="7524720" y="3483000"/>
                        <a:ext cx="920880" cy="35892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" name="CustomShape 3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4" name="CustomShape 31"/>
          <p:cNvSpPr/>
          <p:nvPr/>
        </p:nvSpPr>
        <p:spPr>
          <a:xfrm>
            <a:off x="4024440" y="799200"/>
            <a:ext cx="109512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,	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CustomShape 32"/>
          <p:cNvSpPr/>
          <p:nvPr/>
        </p:nvSpPr>
        <p:spPr>
          <a:xfrm>
            <a:off x="4024440" y="1294560"/>
            <a:ext cx="109512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,	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CustomShape 33"/>
          <p:cNvSpPr/>
          <p:nvPr/>
        </p:nvSpPr>
        <p:spPr>
          <a:xfrm>
            <a:off x="3567240" y="2027880"/>
            <a:ext cx="200952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,		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CustomShape 34"/>
          <p:cNvSpPr/>
          <p:nvPr/>
        </p:nvSpPr>
        <p:spPr>
          <a:xfrm>
            <a:off x="3567240" y="2265840"/>
            <a:ext cx="200952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,		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CustomShape 35"/>
          <p:cNvSpPr/>
          <p:nvPr/>
        </p:nvSpPr>
        <p:spPr>
          <a:xfrm>
            <a:off x="4456440" y="2504160"/>
            <a:ext cx="23112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CustomShape 36"/>
          <p:cNvSpPr/>
          <p:nvPr/>
        </p:nvSpPr>
        <p:spPr>
          <a:xfrm>
            <a:off x="179280" y="4149720"/>
            <a:ext cx="8785440" cy="916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i="1" strike="noStrike" spc="-1">
                <a:solidFill>
                  <a:srgbClr val="000000"/>
                </a:solidFill>
                <a:latin typeface="Franklin Gothic Book"/>
              </a:rPr>
              <a:t>Внимание: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 рассчитанные номиналы элементов должны быть заданы в модели с точностью не менее 3-х знаков после запятой; иначе может быть искажение АЧХ.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00" name="Group 37"/>
          <p:cNvGrpSpPr/>
          <p:nvPr/>
        </p:nvGrpSpPr>
        <p:grpSpPr>
          <a:xfrm>
            <a:off x="-73080" y="4797360"/>
            <a:ext cx="9290160" cy="1944720"/>
            <a:chOff x="-73080" y="4797360"/>
            <a:chExt cx="9290160" cy="1944720"/>
          </a:xfrm>
        </p:grpSpPr>
        <p:pic>
          <p:nvPicPr>
            <p:cNvPr id="601" name="Прямоугольник 68"/>
            <p:cNvPicPr/>
            <p:nvPr/>
          </p:nvPicPr>
          <p:blipFill>
            <a:blip r:embed="rId24"/>
            <a:stretch/>
          </p:blipFill>
          <p:spPr>
            <a:xfrm>
              <a:off x="-73080" y="4797360"/>
              <a:ext cx="9290160" cy="1944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602" name="CustomShape 38"/>
            <p:cNvSpPr/>
            <p:nvPr/>
          </p:nvSpPr>
          <p:spPr>
            <a:xfrm>
              <a:off x="0" y="4869000"/>
              <a:ext cx="9144000" cy="1800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aphicFrame>
        <p:nvGraphicFramePr>
          <p:cNvPr id="603" name="Table 39"/>
          <p:cNvGraphicFramePr/>
          <p:nvPr/>
        </p:nvGraphicFramePr>
        <p:xfrm>
          <a:off x="179280" y="5013360"/>
          <a:ext cx="8785440" cy="1440000"/>
        </p:xfrm>
        <a:graphic>
          <a:graphicData uri="http://schemas.openxmlformats.org/drawingml/2006/table">
            <a:tbl>
              <a:tblPr/>
              <a:tblGrid>
                <a:gridCol w="139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4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3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3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4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192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№ варианта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6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l-GR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ρ</a:t>
                      </a: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, кОм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2,0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1,5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1,5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1,0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2,5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1,8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2,0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2,8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2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</a:t>
                      </a:r>
                      <a:r>
                        <a:rPr lang="ru-RU" sz="1600" b="0" strike="noStrike" spc="-1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УПЧ</a:t>
                      </a: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,МГц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0,75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1,0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0,8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1,0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0,7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0,9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0,6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0,55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        ,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2·10</a:t>
                      </a:r>
                      <a:r>
                        <a:rPr lang="ru-RU" sz="1600" b="0" strike="noStrike" spc="-1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-11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2,5·10</a:t>
                      </a:r>
                      <a:r>
                        <a:rPr lang="ru-RU" sz="1600" b="0" strike="noStrike" spc="-1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-11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1·10</a:t>
                      </a:r>
                      <a:r>
                        <a:rPr lang="ru-RU" sz="1600" b="0" strike="noStrike" spc="-1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-11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1,5·10</a:t>
                      </a:r>
                      <a:r>
                        <a:rPr lang="ru-RU" sz="1600" b="0" strike="noStrike" spc="-1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-11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1·10</a:t>
                      </a:r>
                      <a:r>
                        <a:rPr lang="ru-RU" sz="1600" b="0" strike="noStrike" spc="-1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-11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2,5·10</a:t>
                      </a:r>
                      <a:r>
                        <a:rPr lang="ru-RU" sz="1600" b="0" strike="noStrike" spc="-1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-11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3,5·10</a:t>
                      </a:r>
                      <a:r>
                        <a:rPr lang="ru-RU" sz="1600" b="0" strike="noStrike" spc="-1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-11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3·10</a:t>
                      </a:r>
                      <a:r>
                        <a:rPr lang="ru-RU" sz="1600" b="0" strike="noStrike" spc="-1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-11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440" marR="6444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4" name="CustomShape 4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605" name="Object 41"/>
          <p:cNvGraphicFramePr/>
          <p:nvPr/>
        </p:nvGraphicFramePr>
        <p:xfrm>
          <a:off x="311040" y="6021360"/>
          <a:ext cx="373320" cy="36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r:id="rId25" imgW="0" imgH="0" progId="">
                  <p:embed/>
                </p:oleObj>
              </mc:Choice>
              <mc:Fallback>
                <p:oleObj r:id="rId25" imgW="0" imgH="0" progId="">
                  <p:embed/>
                  <p:pic>
                    <p:nvPicPr>
                      <p:cNvPr id="606" name="Object 64"/>
                      <p:cNvPicPr/>
                      <p:nvPr/>
                    </p:nvPicPr>
                    <p:blipFill>
                      <a:blip r:embed="rId26"/>
                      <a:stretch/>
                    </p:blipFill>
                    <p:spPr>
                      <a:xfrm>
                        <a:off x="311040" y="6021360"/>
                        <a:ext cx="373320" cy="36036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" name="CustomShape 4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608" name="Object 43"/>
          <p:cNvGraphicFramePr/>
          <p:nvPr/>
        </p:nvGraphicFramePr>
        <p:xfrm>
          <a:off x="755640" y="6021360"/>
          <a:ext cx="576360" cy="29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r:id="rId27" imgW="0" imgH="0" progId="">
                  <p:embed/>
                </p:oleObj>
              </mc:Choice>
              <mc:Fallback>
                <p:oleObj r:id="rId27" imgW="0" imgH="0" progId="">
                  <p:embed/>
                  <p:pic>
                    <p:nvPicPr>
                      <p:cNvPr id="609" name="Object 68"/>
                      <p:cNvPicPr/>
                      <p:nvPr/>
                    </p:nvPicPr>
                    <p:blipFill>
                      <a:blip r:embed="rId28"/>
                      <a:stretch/>
                    </p:blipFill>
                    <p:spPr>
                      <a:xfrm>
                        <a:off x="755640" y="6021360"/>
                        <a:ext cx="576360" cy="29376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CustomShape 1"/>
          <p:cNvSpPr/>
          <p:nvPr/>
        </p:nvSpPr>
        <p:spPr>
          <a:xfrm>
            <a:off x="468360" y="260280"/>
            <a:ext cx="8424720" cy="1068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3200" b="1" strike="noStrike" spc="-1">
                <a:solidFill>
                  <a:srgbClr val="444D26"/>
                </a:solidFill>
                <a:latin typeface="Franklin Gothic Book"/>
              </a:rPr>
              <a:t>п.2 «Характеристики шума на выходе ФСС»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CustomShap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2" name="CustomShape 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3" name="CustomShap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4" name="CustomShape 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5" name="CustomShape 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6" name="CustomShap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7" name="CustomShape 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8" name="CustomShap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9" name="CustomShape 1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1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2" name="CustomShape 1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3" name="CustomShap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4" name="CustomShape 1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5" name="CustomShape 1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6" name="CustomShape 1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7" name="CustomShape 1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28" name="Group 19"/>
          <p:cNvGrpSpPr/>
          <p:nvPr/>
        </p:nvGrpSpPr>
        <p:grpSpPr>
          <a:xfrm>
            <a:off x="36360" y="981000"/>
            <a:ext cx="9004320" cy="2232000"/>
            <a:chOff x="36360" y="981000"/>
            <a:chExt cx="9004320" cy="2232000"/>
          </a:xfrm>
        </p:grpSpPr>
        <p:pic>
          <p:nvPicPr>
            <p:cNvPr id="629" name="Прямоугольник 43"/>
            <p:cNvPicPr/>
            <p:nvPr/>
          </p:nvPicPr>
          <p:blipFill>
            <a:blip r:embed="rId3"/>
            <a:stretch/>
          </p:blipFill>
          <p:spPr>
            <a:xfrm>
              <a:off x="36360" y="981000"/>
              <a:ext cx="9004320" cy="2232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630" name="CustomShape 20"/>
            <p:cNvSpPr/>
            <p:nvPr/>
          </p:nvSpPr>
          <p:spPr>
            <a:xfrm>
              <a:off x="108000" y="1052640"/>
              <a:ext cx="8856720" cy="20890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31" name="CustomShape 21"/>
          <p:cNvSpPr/>
          <p:nvPr/>
        </p:nvSpPr>
        <p:spPr>
          <a:xfrm>
            <a:off x="179280" y="1052640"/>
            <a:ext cx="8964720" cy="2040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1" i="1" u="sng" strike="noStrike" spc="-1">
                <a:solidFill>
                  <a:srgbClr val="000000"/>
                </a:solidFill>
                <a:uFillTx/>
                <a:latin typeface="Franklin Gothic Book"/>
              </a:rPr>
              <a:t>Проверить:</a:t>
            </a:r>
            <a:r>
              <a:rPr lang="ru-RU" sz="1600" b="0" strike="noStrike" spc="-1">
                <a:solidFill>
                  <a:srgbClr val="000000"/>
                </a:solidFill>
                <a:latin typeface="Franklin Gothic Book"/>
              </a:rPr>
              <a:t> правильность проведенных расчетов: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Franklin Gothic Book"/>
              </a:rPr>
              <a:t> симметричность АЧХ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Franklin Gothic Book"/>
              </a:rPr>
              <a:t> плоская вершина АЧХ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Franklin Gothic Book"/>
              </a:rPr>
              <a:t> центральная частота 10 МГц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ru-RU" sz="1600" b="0" strike="noStrike" spc="-1">
                <a:solidFill>
                  <a:srgbClr val="000000"/>
                </a:solidFill>
                <a:latin typeface="Franklin Gothic Book"/>
              </a:rPr>
              <a:t> заданная полоса пропускания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1" i="1" u="sng" strike="noStrike" spc="-1">
                <a:solidFill>
                  <a:srgbClr val="000000"/>
                </a:solidFill>
                <a:uFillTx/>
                <a:latin typeface="Franklin Gothic Book"/>
                <a:ea typeface="Times New Roman"/>
              </a:rPr>
              <a:t>Выполнить моделирование</a:t>
            </a:r>
            <a:r>
              <a:rPr lang="ru-RU" sz="1600" b="1" u="sng" strike="noStrike" spc="-1">
                <a:solidFill>
                  <a:srgbClr val="000000"/>
                </a:solidFill>
                <a:uFillTx/>
                <a:latin typeface="Franklin Gothic Book"/>
                <a:ea typeface="Times New Roman"/>
              </a:rPr>
              <a:t> </a:t>
            </a:r>
            <a:r>
              <a:rPr lang="ru-RU" sz="1600" b="0" strike="noStrike" spc="-1">
                <a:solidFill>
                  <a:srgbClr val="000000"/>
                </a:solidFill>
                <a:latin typeface="Franklin Gothic Book"/>
                <a:ea typeface="Times New Roman"/>
              </a:rPr>
              <a:t>шума на выходе синтезированного ФСС. Заданное по умолчанию значение спектральной плотности дисперсии шума на входе ФСС </a:t>
            </a:r>
            <a:r>
              <a:rPr lang="ru-RU" sz="1600" b="0" strike="noStrike" spc="-1">
                <a:solidFill>
                  <a:srgbClr val="000000"/>
                </a:solidFill>
                <a:latin typeface="Franklin Gothic Book"/>
              </a:rPr>
              <a:t>равно определённому в п. 1 максимальному значению спектральной плотности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CustomShape 2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633" name="Object 23"/>
          <p:cNvGraphicFramePr/>
          <p:nvPr/>
        </p:nvGraphicFramePr>
        <p:xfrm>
          <a:off x="4859280" y="2781360"/>
          <a:ext cx="1974960" cy="36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634" name="Object 13"/>
                      <p:cNvPicPr/>
                      <p:nvPr/>
                    </p:nvPicPr>
                    <p:blipFill>
                      <a:blip r:embed="rId5"/>
                      <a:stretch/>
                    </p:blipFill>
                    <p:spPr>
                      <a:xfrm>
                        <a:off x="4859280" y="2781360"/>
                        <a:ext cx="1974960" cy="36036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5" name="Group 24"/>
          <p:cNvGrpSpPr/>
          <p:nvPr/>
        </p:nvGrpSpPr>
        <p:grpSpPr>
          <a:xfrm>
            <a:off x="-73080" y="3139920"/>
            <a:ext cx="9113760" cy="3791160"/>
            <a:chOff x="-73080" y="3139920"/>
            <a:chExt cx="9113760" cy="3791160"/>
          </a:xfrm>
        </p:grpSpPr>
        <p:pic>
          <p:nvPicPr>
            <p:cNvPr id="636" name="Прямоугольник 50"/>
            <p:cNvPicPr/>
            <p:nvPr/>
          </p:nvPicPr>
          <p:blipFill>
            <a:blip r:embed="rId6"/>
            <a:stretch/>
          </p:blipFill>
          <p:spPr>
            <a:xfrm>
              <a:off x="-73080" y="3139920"/>
              <a:ext cx="9113760" cy="3791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637" name="CustomShape 25"/>
            <p:cNvSpPr/>
            <p:nvPr/>
          </p:nvSpPr>
          <p:spPr>
            <a:xfrm>
              <a:off x="0" y="3213000"/>
              <a:ext cx="8964720" cy="3645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38" name="CustomShape 26"/>
          <p:cNvSpPr/>
          <p:nvPr/>
        </p:nvSpPr>
        <p:spPr>
          <a:xfrm>
            <a:off x="0" y="3141720"/>
            <a:ext cx="9036000" cy="428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i="1" u="sng" strike="noStrike" spc="-1">
                <a:solidFill>
                  <a:srgbClr val="000000"/>
                </a:solidFill>
                <a:uFillTx/>
                <a:latin typeface="Franklin Gothic Book"/>
              </a:rPr>
              <a:t>Определить:</a:t>
            </a:r>
            <a:r>
              <a:rPr lang="ru-RU" sz="1800" b="1" u="sng" strike="noStrike" spc="-1">
                <a:solidFill>
                  <a:srgbClr val="000000"/>
                </a:solidFill>
                <a:uFillTx/>
                <a:latin typeface="Franklin Gothic Book"/>
              </a:rPr>
              <a:t> 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эффективное напряжение шума на выходе ФСС U</a:t>
            </a:r>
            <a:r>
              <a:rPr lang="ru-RU" sz="1800" b="0" strike="noStrike" spc="-1" baseline="-25000">
                <a:solidFill>
                  <a:srgbClr val="000000"/>
                </a:solidFill>
                <a:latin typeface="Franklin Gothic Book"/>
              </a:rPr>
              <a:t>шФСС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.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i="1" u="sng" strike="noStrike" spc="-1">
                <a:solidFill>
                  <a:srgbClr val="000000"/>
                </a:solidFill>
                <a:uFillTx/>
                <a:latin typeface="Franklin Gothic Book"/>
              </a:rPr>
              <a:t>Оценить: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 по гистограмме вид распределения вероятностей мгновенных значений напряжения шума, На сохранённом графике гистограммы отметить границы ±3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U</a:t>
            </a:r>
            <a:r>
              <a:rPr lang="ru-RU" sz="1800" b="0" strike="noStrike" spc="-1" baseline="-25000">
                <a:solidFill>
                  <a:srgbClr val="000000"/>
                </a:solidFill>
                <a:latin typeface="Arial"/>
              </a:rPr>
              <a:t>шФСС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 вид спектра шума, сопоставить его с формой АЧХ ФСС;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 вид АКФ шума;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i="1" u="sng" strike="noStrike" spc="-1">
                <a:solidFill>
                  <a:srgbClr val="000000"/>
                </a:solidFill>
                <a:uFillTx/>
                <a:latin typeface="Franklin Gothic Book"/>
              </a:rPr>
              <a:t>Сопоставить: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 максимальное значение АКФ (при         ) и дисперсию шума.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i="1" u="sng" strike="noStrike" spc="-1">
                <a:solidFill>
                  <a:srgbClr val="000000"/>
                </a:solidFill>
                <a:uFillTx/>
                <a:latin typeface="Franklin Gothic Book"/>
              </a:rPr>
              <a:t>Определить: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 по графику центральной части АКФ частоту заполнения АКФ и сопоставить её с центральной частотой спектра шума, которая определяется центральной частотой АЧХ ФСС.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i="1" u="sng" strike="noStrike" spc="-1">
                <a:solidFill>
                  <a:srgbClr val="000000"/>
                </a:solidFill>
                <a:uFillTx/>
                <a:latin typeface="Franklin Gothic Book"/>
              </a:rPr>
              <a:t>Рассчитать: 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приближённое значение эффективного напряжения шума на выходе ФСС, считая АЧХ ФСС прямоугольной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i="1" u="sng" strike="noStrike" spc="-1">
                <a:solidFill>
                  <a:srgbClr val="000000"/>
                </a:solidFill>
                <a:uFillTx/>
                <a:latin typeface="Franklin Gothic Book"/>
              </a:rPr>
              <a:t>Сравнить:</a:t>
            </a:r>
            <a:r>
              <a:rPr lang="ru-RU" sz="1800" b="0" strike="noStrike" spc="-1">
                <a:solidFill>
                  <a:srgbClr val="000000"/>
                </a:solidFill>
                <a:latin typeface="Franklin Gothic Book"/>
              </a:rPr>
              <a:t>  рассчитанное и измеренное значения.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39" name="Object 27"/>
          <p:cNvGraphicFramePr/>
          <p:nvPr/>
        </p:nvGraphicFramePr>
        <p:xfrm>
          <a:off x="4859280" y="4869000"/>
          <a:ext cx="432000" cy="21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r:id="rId7" imgW="0" imgH="0" progId="">
                  <p:embed/>
                </p:oleObj>
              </mc:Choice>
              <mc:Fallback>
                <p:oleObj r:id="rId7" imgW="0" imgH="0" progId="">
                  <p:embed/>
                  <p:pic>
                    <p:nvPicPr>
                      <p:cNvPr id="640" name="Object 16"/>
                      <p:cNvPicPr/>
                      <p:nvPr/>
                    </p:nvPicPr>
                    <p:blipFill>
                      <a:blip r:embed="rId8"/>
                      <a:stretch/>
                    </p:blipFill>
                    <p:spPr>
                      <a:xfrm>
                        <a:off x="4859280" y="4869000"/>
                        <a:ext cx="432000" cy="2156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" name="CustomShape 2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42" name="Group 29"/>
          <p:cNvGrpSpPr/>
          <p:nvPr/>
        </p:nvGrpSpPr>
        <p:grpSpPr>
          <a:xfrm>
            <a:off x="5797440" y="6162840"/>
            <a:ext cx="2517840" cy="652320"/>
            <a:chOff x="5797440" y="6162840"/>
            <a:chExt cx="2517840" cy="652320"/>
          </a:xfrm>
        </p:grpSpPr>
        <p:pic>
          <p:nvPicPr>
            <p:cNvPr id="643" name="Прямоугольник 51"/>
            <p:cNvPicPr/>
            <p:nvPr/>
          </p:nvPicPr>
          <p:blipFill>
            <a:blip r:embed="rId9"/>
            <a:stretch/>
          </p:blipFill>
          <p:spPr>
            <a:xfrm>
              <a:off x="5797440" y="6162840"/>
              <a:ext cx="2517840" cy="652320"/>
            </a:xfrm>
            <a:prstGeom prst="rect">
              <a:avLst/>
            </a:prstGeom>
            <a:ln>
              <a:noFill/>
            </a:ln>
          </p:spPr>
        </p:pic>
        <p:sp>
          <p:nvSpPr>
            <p:cNvPr id="644" name="CustomShape 30"/>
            <p:cNvSpPr/>
            <p:nvPr/>
          </p:nvSpPr>
          <p:spPr>
            <a:xfrm>
              <a:off x="5867280" y="6237360"/>
              <a:ext cx="2376720" cy="504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aphicFrame>
        <p:nvGraphicFramePr>
          <p:cNvPr id="645" name="Object 31"/>
          <p:cNvGraphicFramePr/>
          <p:nvPr/>
        </p:nvGraphicFramePr>
        <p:xfrm>
          <a:off x="6012000" y="6308640"/>
          <a:ext cx="1873080" cy="433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r:id="rId10" imgW="0" imgH="0" progId="">
                  <p:embed/>
                </p:oleObj>
              </mc:Choice>
              <mc:Fallback>
                <p:oleObj r:id="rId10" imgW="0" imgH="0" progId="">
                  <p:embed/>
                  <p:pic>
                    <p:nvPicPr>
                      <p:cNvPr id="646" name="Object 4"/>
                      <p:cNvPicPr/>
                      <p:nvPr/>
                    </p:nvPicPr>
                    <p:blipFill>
                      <a:blip r:embed="rId11"/>
                      <a:stretch/>
                    </p:blipFill>
                    <p:spPr>
                      <a:xfrm>
                        <a:off x="6012000" y="6308640"/>
                        <a:ext cx="1873080" cy="4334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1008</TotalTime>
  <Words>724</Words>
  <Application>Microsoft Office PowerPoint</Application>
  <PresentationFormat>On-screen Show (4:3)</PresentationFormat>
  <Paragraphs>126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11</vt:i4>
      </vt:variant>
    </vt:vector>
  </HeadingPairs>
  <TitlesOfParts>
    <vt:vector size="27" baseType="lpstr">
      <vt:lpstr>Arial</vt:lpstr>
      <vt:lpstr>DejaVu Sans</vt:lpstr>
      <vt:lpstr>Franklin Gothic Book</vt:lpstr>
      <vt:lpstr>Franklin Gothic Medium</vt:lpstr>
      <vt:lpstr>Times New Roman</vt:lpstr>
      <vt:lpstr>Wingdings</vt:lpstr>
      <vt:lpstr>Wingdings 2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Задача №1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№3</dc:title>
  <dc:subject/>
  <dc:creator>buuu</dc:creator>
  <dc:description/>
  <cp:lastModifiedBy>buuu</cp:lastModifiedBy>
  <cp:revision>157</cp:revision>
  <dcterms:modified xsi:type="dcterms:W3CDTF">2021-09-14T06:55:47Z</dcterms:modified>
  <dc:language>en-US</dc:language>
</cp:coreProperties>
</file>