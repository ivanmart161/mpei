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embeddings/oleObject5.bin" ContentType="application/vnd.openxmlformats-officedocument.oleObject"/>
  <Override PartName="/ppt/embeddings/oleObject4.bin" ContentType="application/vnd.openxmlformats-officedocument.oleObject"/>
  <Override PartName="/ppt/embeddings/oleObject3.bin" ContentType="application/vnd.openxmlformats-officedocument.oleObject"/>
  <Override PartName="/ppt/embeddings/oleObject2.bin" ContentType="application/vnd.openxmlformats-officedocument.oleObject"/>
  <Override PartName="/ppt/embeddings/oleObject1.bin" ContentType="application/vnd.openxmlformats-officedocument.oleObject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_rels/slideLayout10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6.xml.rels" ContentType="application/vnd.openxmlformats-package.relationships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_rels/presentation.xml.rels" ContentType="application/vnd.openxmlformats-package.relationships+xml"/>
  <Override PartName="/ppt/media/image49.png" ContentType="image/png"/>
  <Override PartName="/ppt/media/image47.png" ContentType="image/png"/>
  <Override PartName="/ppt/media/image20.png" ContentType="image/png"/>
  <Override PartName="/ppt/media/image21.png" ContentType="image/png"/>
  <Override PartName="/ppt/media/image6.png" ContentType="image/png"/>
  <Override PartName="/ppt/media/image40.wmf" ContentType="image/x-wmf"/>
  <Override PartName="/ppt/media/image3.png" ContentType="image/png"/>
  <Override PartName="/ppt/media/image38.png" ContentType="image/png"/>
  <Override PartName="/ppt/media/image17.png" ContentType="image/png"/>
  <Override PartName="/ppt/media/image1.jpeg" ContentType="image/jpeg"/>
  <Override PartName="/ppt/media/image31.png" ContentType="image/png"/>
  <Override PartName="/ppt/media/image14.png" ContentType="image/png"/>
  <Override PartName="/ppt/media/image12.png" ContentType="image/png"/>
  <Override PartName="/ppt/media/image18.jpeg" ContentType="image/jpeg"/>
  <Override PartName="/ppt/media/image11.jpeg" ContentType="image/jpeg"/>
  <Override PartName="/ppt/media/image44.png" ContentType="image/png"/>
  <Override PartName="/ppt/media/image4.png" ContentType="image/png"/>
  <Override PartName="/ppt/media/image48.png" ContentType="image/png"/>
  <Override PartName="/ppt/media/image5.jpeg" ContentType="image/jpeg"/>
  <Override PartName="/ppt/media/image22.png" ContentType="image/png"/>
  <Override PartName="/ppt/media/image2.png" ContentType="image/png"/>
  <Override PartName="/ppt/media/image37.png" ContentType="image/png"/>
  <Override PartName="/ppt/media/image7.jpeg" ContentType="image/jpeg"/>
  <Override PartName="/ppt/media/image8.png" ContentType="image/png"/>
  <Override PartName="/ppt/media/image13.jpeg" ContentType="image/jpeg"/>
  <Override PartName="/ppt/media/image41.png" ContentType="image/png"/>
  <Override PartName="/ppt/media/image30.wmf" ContentType="image/x-wmf"/>
  <Override PartName="/ppt/media/image9.png" ContentType="image/png"/>
  <Override PartName="/ppt/media/image10.png" ContentType="image/png"/>
  <Override PartName="/ppt/media/image19.jpeg" ContentType="image/jpeg"/>
  <Override PartName="/ppt/media/image32.jpeg" ContentType="image/jpeg"/>
  <Override PartName="/ppt/media/image25.png" ContentType="image/png"/>
  <Override PartName="/ppt/media/image26.png" ContentType="image/png"/>
  <Override PartName="/ppt/media/image27.png" ContentType="image/png"/>
  <Override PartName="/ppt/media/image39.png" ContentType="image/png"/>
  <Override PartName="/ppt/media/image28.wmf" ContentType="image/x-wmf"/>
  <Override PartName="/ppt/media/image42.png" ContentType="image/png"/>
  <Override PartName="/ppt/media/image29.wmf" ContentType="image/x-wmf"/>
  <Override PartName="/ppt/media/image16.jpeg" ContentType="image/jpeg"/>
  <Override PartName="/ppt/media/image43.png" ContentType="image/png"/>
  <Override PartName="/ppt/media/image15.jpeg" ContentType="image/jpeg"/>
  <Override PartName="/ppt/media/image33.png" ContentType="image/png"/>
  <Override PartName="/ppt/media/image23.wmf" ContentType="image/x-wmf"/>
  <Override PartName="/ppt/media/image34.png" ContentType="image/png"/>
  <Override PartName="/ppt/media/image24.wmf" ContentType="image/x-wmf"/>
  <Override PartName="/ppt/media/image35.png" ContentType="image/png"/>
  <Override PartName="/ppt/media/image36.png" ContentType="image/png"/>
  <Override PartName="/ppt/media/image45.png" ContentType="image/png"/>
  <Override PartName="/ppt/media/image46.png" ContentType="image/png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86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dt"/>
          </p:nvPr>
        </p:nvSpPr>
        <p:spPr>
          <a:xfrm>
            <a:off x="3884400" y="0"/>
            <a:ext cx="2971800" cy="4586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sldImg"/>
          </p:nvPr>
        </p:nvSpPr>
        <p:spPr>
          <a:xfrm>
            <a:off x="1371600" y="1142640"/>
            <a:ext cx="4114800" cy="30862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move the slide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4" name="PlaceHolder 6"/>
          <p:cNvSpPr>
            <a:spLocks noGrp="1"/>
          </p:cNvSpPr>
          <p:nvPr>
            <p:ph type="ftr"/>
          </p:nvPr>
        </p:nvSpPr>
        <p:spPr>
          <a:xfrm>
            <a:off x="-360" y="8685360"/>
            <a:ext cx="2971800" cy="4586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05" name="PlaceHolder 7"/>
          <p:cNvSpPr>
            <a:spLocks noGrp="1"/>
          </p:cNvSpPr>
          <p:nvPr>
            <p:ph type="sldNum"/>
          </p:nvPr>
        </p:nvSpPr>
        <p:spPr>
          <a:xfrm>
            <a:off x="3884400" y="8685360"/>
            <a:ext cx="2971800" cy="4586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</a:pPr>
            <a:fld id="{CE4F1D84-E4A3-42F1-937E-B97761402C0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800" cy="3086280"/>
          </a:xfrm>
          <a:prstGeom prst="rect">
            <a:avLst/>
          </a:prstGeom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</p:spPr>
        <p:txBody>
          <a:bodyPr lIns="0" rIns="0" tIns="0" bIns="0">
            <a:sp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0" name="CustomShape 3"/>
          <p:cNvSpPr/>
          <p:nvPr/>
        </p:nvSpPr>
        <p:spPr>
          <a:xfrm>
            <a:off x="3884760" y="8685360"/>
            <a:ext cx="2971800" cy="45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/>
            <a:fld id="{6269F140-8FB4-4F11-B3CD-D295E90A7B3C}" type="slidenum">
              <a:rPr b="0" lang="ru-R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2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3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6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6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7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7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8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1" name="Прямая соединительная линия 6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2" name="CustomShape 2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1E98FC6E-3D06-49ED-89BA-AEF26A8875F1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7" name="PlaceHolder 7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" name="Прямая соединительная линия 8" descr=""/>
            <p:cNvPicPr/>
            <p:nvPr/>
          </p:nvPicPr>
          <p:blipFill>
            <a:blip r:embed="rId4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" name="CustomShape 9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" name="Group 10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2" name="Прямая соединительная линия 11" descr=""/>
            <p:cNvPicPr/>
            <p:nvPr/>
          </p:nvPicPr>
          <p:blipFill>
            <a:blip r:embed="rId5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CustomShape 11"/>
            <p:cNvSpPr/>
            <p:nvPr/>
          </p:nvSpPr>
          <p:spPr>
            <a:xfrm>
              <a:off x="514440" y="105732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1"/>
          <p:cNvGrpSpPr/>
          <p:nvPr/>
        </p:nvGrpSpPr>
        <p:grpSpPr>
          <a:xfrm>
            <a:off x="512640" y="5346720"/>
            <a:ext cx="8637840" cy="11160"/>
            <a:chOff x="512640" y="5346720"/>
            <a:chExt cx="8637840" cy="11160"/>
          </a:xfrm>
        </p:grpSpPr>
        <p:pic>
          <p:nvPicPr>
            <p:cNvPr id="51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534672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CustomShape 2"/>
            <p:cNvSpPr/>
            <p:nvPr/>
          </p:nvSpPr>
          <p:spPr>
            <a:xfrm>
              <a:off x="514440" y="534996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sldNum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3AE4F1C6-39DB-452D-BACB-FDCAD0DFF831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1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5" name="Прямая соединительная линия 6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6" name="CustomShape 2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" name="Group 3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8" name="Прямая соединительная линия 8" descr=""/>
            <p:cNvPicPr/>
            <p:nvPr/>
          </p:nvPicPr>
          <p:blipFill>
            <a:blip r:embed="rId4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9" name="CustomShape 4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" name="Group 5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01" name="Прямая соединительная линия 11" descr=""/>
            <p:cNvPicPr/>
            <p:nvPr/>
          </p:nvPicPr>
          <p:blipFill>
            <a:blip r:embed="rId5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2" name="CustomShape 6"/>
            <p:cNvSpPr/>
            <p:nvPr/>
          </p:nvSpPr>
          <p:spPr>
            <a:xfrm>
              <a:off x="514440" y="105732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3" name="PlaceHolder 7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04" name="PlaceHolder 8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05" name="PlaceHolder 9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06" name="PlaceHolder 10"/>
          <p:cNvSpPr>
            <a:spLocks noGrp="1"/>
          </p:cNvSpPr>
          <p:nvPr>
            <p:ph type="ftr"/>
          </p:nvPr>
        </p:nvSpPr>
        <p:spPr>
          <a:xfrm>
            <a:off x="3581280" y="76320"/>
            <a:ext cx="28958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1"/>
          <p:cNvSpPr>
            <a:spLocks noGrp="1"/>
          </p:cNvSpPr>
          <p:nvPr>
            <p:ph type="sldNum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52DED7CA-7685-4517-A3D5-C3EA73C86D40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"/>
          <p:cNvGrpSpPr/>
          <p:nvPr/>
        </p:nvGrpSpPr>
        <p:grpSpPr>
          <a:xfrm>
            <a:off x="512640" y="3438360"/>
            <a:ext cx="8637840" cy="11160"/>
            <a:chOff x="512640" y="3438360"/>
            <a:chExt cx="8637840" cy="11160"/>
          </a:xfrm>
        </p:grpSpPr>
        <p:pic>
          <p:nvPicPr>
            <p:cNvPr id="145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343836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6" name="CustomShape 2"/>
            <p:cNvSpPr/>
            <p:nvPr/>
          </p:nvSpPr>
          <p:spPr>
            <a:xfrm>
              <a:off x="514440" y="3444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fefac9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fefac9"/>
              </a:solidFill>
              <a:latin typeface="Franklin Gothic Medium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CCBFF118-5EB2-42CE-AB71-43D07BA1795A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1"/>
          <p:cNvGrpSpPr/>
          <p:nvPr/>
        </p:nvGrpSpPr>
        <p:grpSpPr>
          <a:xfrm>
            <a:off x="512640" y="6016680"/>
            <a:ext cx="8637840" cy="12600"/>
            <a:chOff x="512640" y="6016680"/>
            <a:chExt cx="8637840" cy="12600"/>
          </a:xfrm>
        </p:grpSpPr>
        <p:pic>
          <p:nvPicPr>
            <p:cNvPr id="189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60166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90" name="CustomShape 2"/>
            <p:cNvSpPr/>
            <p:nvPr/>
          </p:nvSpPr>
          <p:spPr>
            <a:xfrm>
              <a:off x="514440" y="601992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sldNum"/>
          </p:nvPr>
        </p:nvSpPr>
        <p:spPr>
          <a:xfrm>
            <a:off x="8229240" y="6477120"/>
            <a:ext cx="762120" cy="2476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BCF3EF28-AAD5-4795-9189-DBF35C6C056A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EC9C1ED5-2DDC-4C6A-B7B3-81B80C6FBCB1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oup 1"/>
          <p:cNvGrpSpPr/>
          <p:nvPr/>
        </p:nvGrpSpPr>
        <p:grpSpPr>
          <a:xfrm>
            <a:off x="512640" y="5846760"/>
            <a:ext cx="8637840" cy="11160"/>
            <a:chOff x="512640" y="5846760"/>
            <a:chExt cx="8637840" cy="11160"/>
          </a:xfrm>
        </p:grpSpPr>
        <p:pic>
          <p:nvPicPr>
            <p:cNvPr id="274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584676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5" name="CustomShape 2"/>
            <p:cNvSpPr/>
            <p:nvPr/>
          </p:nvSpPr>
          <p:spPr>
            <a:xfrm>
              <a:off x="514440" y="584820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79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7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2B1408AD-58B2-4413-BA60-EC3691A6AB7C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553F3BE5-45AE-4931-9EDE-3ACB4323B8A5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852ED173-AE49-4C1D-98F5-2E7D9F233CC6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23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24.wmf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oleObject" Target="../embeddings/oleObject3.bin"/><Relationship Id="rId11" Type="http://schemas.openxmlformats.org/officeDocument/2006/relationships/image" Target="../media/image28.wmf"/><Relationship Id="rId12" Type="http://schemas.openxmlformats.org/officeDocument/2006/relationships/oleObject" Target="../embeddings/oleObject4.bin"/><Relationship Id="rId13" Type="http://schemas.openxmlformats.org/officeDocument/2006/relationships/image" Target="../media/image29.wmf"/><Relationship Id="rId14" Type="http://schemas.openxmlformats.org/officeDocument/2006/relationships/oleObject" Target="../embeddings/oleObject5.bin"/><Relationship Id="rId15" Type="http://schemas.openxmlformats.org/officeDocument/2006/relationships/image" Target="../media/image30.wmf"/><Relationship Id="rId1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40.wmf"/><Relationship Id="rId5" Type="http://schemas.openxmlformats.org/officeDocument/2006/relationships/image" Target="../media/image41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Заголовок 1" descr=""/>
          <p:cNvPicPr/>
          <p:nvPr/>
        </p:nvPicPr>
        <p:blipFill>
          <a:blip r:embed="rId1"/>
          <a:stretch/>
        </p:blipFill>
        <p:spPr>
          <a:xfrm>
            <a:off x="189000" y="4761000"/>
            <a:ext cx="8650080" cy="1315800"/>
          </a:xfrm>
          <a:prstGeom prst="rect">
            <a:avLst/>
          </a:prstGeom>
          <a:ln>
            <a:noFill/>
          </a:ln>
        </p:spPr>
      </p:pic>
      <p:sp>
        <p:nvSpPr>
          <p:cNvPr id="407" name="TextShape 1"/>
          <p:cNvSpPr txBox="1"/>
          <p:nvPr/>
        </p:nvSpPr>
        <p:spPr>
          <a:xfrm>
            <a:off x="323640" y="508464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spcBef>
                <a:spcPts val="598"/>
              </a:spcBef>
            </a:pPr>
            <a:r>
              <a:rPr b="0" lang="ru-RU" sz="2400" spc="-1" strike="noStrike">
                <a:solidFill>
                  <a:srgbClr val="3b4320"/>
                </a:solidFill>
                <a:latin typeface="Franklin Gothic Book"/>
              </a:rPr>
              <a:t>Воздействие сигнала и шума на ЧД</a:t>
            </a:r>
            <a:endParaRPr b="0" lang="en-US" sz="24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CustomShape 5"/>
          <p:cNvSpPr/>
          <p:nvPr/>
        </p:nvSpPr>
        <p:spPr>
          <a:xfrm>
            <a:off x="250920" y="476280"/>
            <a:ext cx="8893080" cy="72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30000"/>
              </a:lnSpc>
            </a:pPr>
            <a:r>
              <a:rPr b="0" lang="ru-RU" sz="3000" spc="-1" strike="noStrike">
                <a:solidFill>
                  <a:srgbClr val="706702"/>
                </a:solidFill>
                <a:latin typeface="Franklin Gothic Medium"/>
              </a:rPr>
              <a:t>ПРОХОЖДЕНИЕ СМЕСИ СИГНАЛ-ШУМ ЧЕРЕЗ ЧД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14" name="Picture 3" descr=""/>
          <p:cNvPicPr/>
          <p:nvPr/>
        </p:nvPicPr>
        <p:blipFill>
          <a:blip r:embed="rId1"/>
          <a:stretch/>
        </p:blipFill>
        <p:spPr>
          <a:xfrm>
            <a:off x="171360" y="1116000"/>
            <a:ext cx="2853000" cy="736560"/>
          </a:xfrm>
          <a:prstGeom prst="rect">
            <a:avLst/>
          </a:prstGeom>
          <a:ln>
            <a:noFill/>
          </a:ln>
        </p:spPr>
      </p:pic>
      <p:sp>
        <p:nvSpPr>
          <p:cNvPr id="415" name="CustomShape 7"/>
          <p:cNvSpPr/>
          <p:nvPr/>
        </p:nvSpPr>
        <p:spPr>
          <a:xfrm>
            <a:off x="3059280" y="1197000"/>
            <a:ext cx="6084720" cy="58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- среднее абсолютное отклонение, характеризующее  интенсивность флуктуаций мгновенной частоты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17" name="Group 9"/>
          <p:cNvGrpSpPr/>
          <p:nvPr/>
        </p:nvGrpSpPr>
        <p:grpSpPr>
          <a:xfrm>
            <a:off x="103320" y="1914480"/>
            <a:ext cx="8937360" cy="4321080"/>
            <a:chOff x="103320" y="1914480"/>
            <a:chExt cx="8937360" cy="4321080"/>
          </a:xfrm>
        </p:grpSpPr>
        <p:pic>
          <p:nvPicPr>
            <p:cNvPr id="418" name="Прямоугольник 15" descr=""/>
            <p:cNvPicPr/>
            <p:nvPr/>
          </p:nvPicPr>
          <p:blipFill>
            <a:blip r:embed="rId2"/>
            <a:stretch/>
          </p:blipFill>
          <p:spPr>
            <a:xfrm>
              <a:off x="103320" y="1914480"/>
              <a:ext cx="8937360" cy="4321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19" name="CustomShape 10"/>
            <p:cNvSpPr/>
            <p:nvPr/>
          </p:nvSpPr>
          <p:spPr>
            <a:xfrm>
              <a:off x="179280" y="1989000"/>
              <a:ext cx="8785440" cy="4176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0" name="CustomShape 11"/>
          <p:cNvSpPr/>
          <p:nvPr/>
        </p:nvSpPr>
        <p:spPr>
          <a:xfrm>
            <a:off x="1476360" y="2133720"/>
            <a:ext cx="792000" cy="57456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a5b592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21" name="Object 12"/>
          <p:cNvGraphicFramePr/>
          <p:nvPr/>
        </p:nvGraphicFramePr>
        <p:xfrm>
          <a:off x="250920" y="2060640"/>
          <a:ext cx="2017440" cy="6811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422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50920" y="2060640"/>
                    <a:ext cx="2017440" cy="68112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23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24" name="Object 14"/>
          <p:cNvGraphicFramePr/>
          <p:nvPr/>
        </p:nvGraphicFramePr>
        <p:xfrm>
          <a:off x="250920" y="2997360"/>
          <a:ext cx="2160360" cy="40608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425" name="Object 6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250920" y="2997360"/>
                    <a:ext cx="2160360" cy="40608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26" name="CustomShape 15"/>
          <p:cNvSpPr/>
          <p:nvPr/>
        </p:nvSpPr>
        <p:spPr>
          <a:xfrm>
            <a:off x="2268360" y="2205000"/>
            <a:ext cx="6696360" cy="58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энергетический спектр отклонения мгновенной частоты от среднего значения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16"/>
          <p:cNvSpPr/>
          <p:nvPr/>
        </p:nvSpPr>
        <p:spPr>
          <a:xfrm>
            <a:off x="2411280" y="2997360"/>
            <a:ext cx="6481800" cy="82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энергетический спектр синусной составляющей шума, который  получается из спектра шума  сдвигом на нулевую частоту и умножением на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8" name="Равно 22" descr=""/>
          <p:cNvPicPr/>
          <p:nvPr/>
        </p:nvPicPr>
        <p:blipFill>
          <a:blip r:embed="rId7"/>
          <a:stretch/>
        </p:blipFill>
        <p:spPr>
          <a:xfrm>
            <a:off x="1712880" y="2724120"/>
            <a:ext cx="176400" cy="257040"/>
          </a:xfrm>
          <a:prstGeom prst="rect">
            <a:avLst/>
          </a:prstGeom>
          <a:ln>
            <a:noFill/>
          </a:ln>
        </p:spPr>
      </p:pic>
      <p:pic>
        <p:nvPicPr>
          <p:cNvPr id="429" name="Picture 8" descr=""/>
          <p:cNvPicPr/>
          <p:nvPr/>
        </p:nvPicPr>
        <p:blipFill>
          <a:blip r:embed="rId8"/>
          <a:stretch/>
        </p:blipFill>
        <p:spPr>
          <a:xfrm>
            <a:off x="250920" y="3500280"/>
            <a:ext cx="2092320" cy="311976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  <p:grpSp>
        <p:nvGrpSpPr>
          <p:cNvPr id="430" name="Group 17"/>
          <p:cNvGrpSpPr/>
          <p:nvPr/>
        </p:nvGrpSpPr>
        <p:grpSpPr>
          <a:xfrm>
            <a:off x="3992400" y="1700280"/>
            <a:ext cx="1444680" cy="579240"/>
            <a:chOff x="3992400" y="1700280"/>
            <a:chExt cx="1444680" cy="579240"/>
          </a:xfrm>
        </p:grpSpPr>
        <p:pic>
          <p:nvPicPr>
            <p:cNvPr id="431" name="Прямоугольник 25" descr=""/>
            <p:cNvPicPr/>
            <p:nvPr/>
          </p:nvPicPr>
          <p:blipFill>
            <a:blip r:embed="rId9"/>
            <a:stretch/>
          </p:blipFill>
          <p:spPr>
            <a:xfrm>
              <a:off x="3992400" y="1700280"/>
              <a:ext cx="1444680" cy="579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432" name="CustomShape 18"/>
            <p:cNvSpPr/>
            <p:nvPr/>
          </p:nvSpPr>
          <p:spPr>
            <a:xfrm>
              <a:off x="4067280" y="1773360"/>
              <a:ext cx="1296720" cy="431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33" name="CustomShape 19"/>
          <p:cNvSpPr/>
          <p:nvPr/>
        </p:nvSpPr>
        <p:spPr>
          <a:xfrm>
            <a:off x="4075200" y="1773360"/>
            <a:ext cx="12747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При а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&gt;&gt;1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CustomShape 20"/>
          <p:cNvSpPr/>
          <p:nvPr/>
        </p:nvSpPr>
        <p:spPr>
          <a:xfrm>
            <a:off x="2516760" y="3860640"/>
            <a:ext cx="4804200" cy="874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5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П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Arial"/>
              </a:rPr>
              <a:t>ш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 определяется шириной спектра ЧМ сигнала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при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CustomShape 2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36" name="Object 22"/>
          <p:cNvGraphicFramePr/>
          <p:nvPr/>
        </p:nvGraphicFramePr>
        <p:xfrm>
          <a:off x="3132000" y="4292640"/>
          <a:ext cx="1835280" cy="320760"/>
        </p:xfrm>
        <a:graphic>
          <a:graphicData uri="http://schemas.openxmlformats.org/presentationml/2006/ole">
            <p:oleObj r:id="rId10" spid="">
              <p:embed/>
              <p:pic>
                <p:nvPicPr>
                  <p:cNvPr id="437" name="Object 9" descr=""/>
                  <p:cNvPicPr/>
                  <p:nvPr/>
                </p:nvPicPr>
                <p:blipFill>
                  <a:blip r:embed="rId11"/>
                  <a:stretch/>
                </p:blipFill>
                <p:spPr>
                  <a:xfrm>
                    <a:off x="3132000" y="4292640"/>
                    <a:ext cx="1835280" cy="32076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38" name="CustomShape 2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39" name="Object 24"/>
          <p:cNvGraphicFramePr/>
          <p:nvPr/>
        </p:nvGraphicFramePr>
        <p:xfrm>
          <a:off x="5364000" y="4292640"/>
          <a:ext cx="1117800" cy="333360"/>
        </p:xfrm>
        <a:graphic>
          <a:graphicData uri="http://schemas.openxmlformats.org/presentationml/2006/ole">
            <p:oleObj r:id="rId12" spid="">
              <p:embed/>
              <p:pic>
                <p:nvPicPr>
                  <p:cNvPr id="440" name="Object 11" descr=""/>
                  <p:cNvPicPr/>
                  <p:nvPr/>
                </p:nvPicPr>
                <p:blipFill>
                  <a:blip r:embed="rId13"/>
                  <a:stretch/>
                </p:blipFill>
                <p:spPr>
                  <a:xfrm>
                    <a:off x="5364000" y="4292640"/>
                    <a:ext cx="1117800" cy="33336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41" name="CustomShape 2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42" name="Object 26"/>
          <p:cNvGraphicFramePr/>
          <p:nvPr/>
        </p:nvGraphicFramePr>
        <p:xfrm>
          <a:off x="2556000" y="4724280"/>
          <a:ext cx="792000" cy="336600"/>
        </p:xfrm>
        <a:graphic>
          <a:graphicData uri="http://schemas.openxmlformats.org/presentationml/2006/ole">
            <p:oleObj r:id="rId14" spid="">
              <p:embed/>
              <p:pic>
                <p:nvPicPr>
                  <p:cNvPr id="443" name="Object 13" descr=""/>
                  <p:cNvPicPr/>
                  <p:nvPr/>
                </p:nvPicPr>
                <p:blipFill>
                  <a:blip r:embed="rId15"/>
                  <a:stretch/>
                </p:blipFill>
                <p:spPr>
                  <a:xfrm>
                    <a:off x="2556000" y="4724280"/>
                    <a:ext cx="792000" cy="33660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44" name="CustomShape 27"/>
          <p:cNvSpPr/>
          <p:nvPr/>
        </p:nvSpPr>
        <p:spPr>
          <a:xfrm>
            <a:off x="3419640" y="4724280"/>
            <a:ext cx="5473440" cy="58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верхняя граничная частота АЧХ БНЧ (АЧХ считается прямоугольной)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CustomShape 5"/>
          <p:cNvSpPr/>
          <p:nvPr/>
        </p:nvSpPr>
        <p:spPr>
          <a:xfrm>
            <a:off x="250920" y="476280"/>
            <a:ext cx="8893080" cy="72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30000"/>
              </a:lnSpc>
            </a:pPr>
            <a:r>
              <a:rPr b="0" lang="ru-RU" sz="3000" spc="-1" strike="noStrike">
                <a:solidFill>
                  <a:srgbClr val="706702"/>
                </a:solidFill>
                <a:latin typeface="Franklin Gothic Medium"/>
              </a:rPr>
              <a:t>ЗАДАЧА 3-1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6" name="Group 12"/>
          <p:cNvGrpSpPr/>
          <p:nvPr/>
        </p:nvGrpSpPr>
        <p:grpSpPr>
          <a:xfrm>
            <a:off x="176040" y="1060560"/>
            <a:ext cx="8864640" cy="1914480"/>
            <a:chOff x="176040" y="1060560"/>
            <a:chExt cx="8864640" cy="1914480"/>
          </a:xfrm>
        </p:grpSpPr>
        <p:pic>
          <p:nvPicPr>
            <p:cNvPr id="457" name="Прямоугольник 30" descr=""/>
            <p:cNvPicPr/>
            <p:nvPr/>
          </p:nvPicPr>
          <p:blipFill>
            <a:blip r:embed="rId1"/>
            <a:stretch/>
          </p:blipFill>
          <p:spPr>
            <a:xfrm>
              <a:off x="176040" y="1060560"/>
              <a:ext cx="8864640" cy="19144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58" name="CustomShape 13"/>
            <p:cNvSpPr/>
            <p:nvPr/>
          </p:nvSpPr>
          <p:spPr>
            <a:xfrm>
              <a:off x="250920" y="1135080"/>
              <a:ext cx="8713800" cy="1768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59" name="CustomShape 14"/>
          <p:cNvSpPr/>
          <p:nvPr/>
        </p:nvSpPr>
        <p:spPr>
          <a:xfrm>
            <a:off x="250920" y="1197000"/>
            <a:ext cx="8534160" cy="173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На входе приёмника ЧМ сигналов действует немодулированное колебание и белый шум, причём а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&gt;&gt;3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. Как изменится среднеквадратическое (эффективное) напряжение шума на выходе БНЧ приёмника, если: а) полосу пропускания БВЧ увеличить вдвое, сохранив коэффициент усиления? б) вдвое расширить полосу пропускания БНЧ? АЧХ БВЧ и БНЧ имеют прямоугольную форму.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0" name="Рисунок 31" descr="pic6_1.jpg"/>
          <p:cNvPicPr/>
          <p:nvPr/>
        </p:nvPicPr>
        <p:blipFill>
          <a:blip r:embed="rId2"/>
          <a:stretch/>
        </p:blipFill>
        <p:spPr>
          <a:xfrm>
            <a:off x="179280" y="3141720"/>
            <a:ext cx="8758440" cy="277632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CustomShape 5"/>
          <p:cNvSpPr/>
          <p:nvPr/>
        </p:nvSpPr>
        <p:spPr>
          <a:xfrm>
            <a:off x="250920" y="476280"/>
            <a:ext cx="8893080" cy="72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30000"/>
              </a:lnSpc>
            </a:pPr>
            <a:r>
              <a:rPr b="0" lang="ru-RU" sz="3000" spc="-1" strike="noStrike">
                <a:solidFill>
                  <a:srgbClr val="444d26"/>
                </a:solidFill>
                <a:latin typeface="Franklin Gothic Medium"/>
              </a:rPr>
              <a:t>ЗАДАЧА 3-2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72" name="Group 12"/>
          <p:cNvGrpSpPr/>
          <p:nvPr/>
        </p:nvGrpSpPr>
        <p:grpSpPr>
          <a:xfrm>
            <a:off x="176040" y="1054080"/>
            <a:ext cx="8864640" cy="2951280"/>
            <a:chOff x="176040" y="1054080"/>
            <a:chExt cx="8864640" cy="2951280"/>
          </a:xfrm>
        </p:grpSpPr>
        <p:pic>
          <p:nvPicPr>
            <p:cNvPr id="473" name="Прямоугольник 30" descr=""/>
            <p:cNvPicPr/>
            <p:nvPr/>
          </p:nvPicPr>
          <p:blipFill>
            <a:blip r:embed="rId1"/>
            <a:stretch/>
          </p:blipFill>
          <p:spPr>
            <a:xfrm>
              <a:off x="176040" y="1054080"/>
              <a:ext cx="8864640" cy="29512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4" name="CustomShape 13"/>
            <p:cNvSpPr/>
            <p:nvPr/>
          </p:nvSpPr>
          <p:spPr>
            <a:xfrm>
              <a:off x="250920" y="1125360"/>
              <a:ext cx="8713800" cy="280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5" name="CustomShape 14"/>
          <p:cNvSpPr/>
          <p:nvPr/>
        </p:nvSpPr>
        <p:spPr>
          <a:xfrm>
            <a:off x="324000" y="1197000"/>
            <a:ext cx="8461080" cy="267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/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На входе приёмника действует смесь ЧМ сигнала с индексом модуляции  </a:t>
            </a:r>
            <a:r>
              <a:rPr b="0" lang="el-GR" sz="1800" spc="-1" strike="noStrike">
                <a:solidFill>
                  <a:srgbClr val="000000"/>
                </a:solidFill>
                <a:latin typeface="Arial"/>
              </a:rPr>
              <a:t>β</a:t>
            </a:r>
            <a:r>
              <a:rPr b="0" lang="ru-RU" sz="1800" spc="-1" strike="noStrike" baseline="-25000">
                <a:solidFill>
                  <a:srgbClr val="000000"/>
                </a:solidFill>
                <a:latin typeface="Arial"/>
              </a:rPr>
              <a:t>чм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=5 и белого шума. Отношение сигнал-шум на входе частотного детектора а=10. Крутизна характеристики ЧД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ru-RU" sz="1800" spc="-1" strike="noStrike" baseline="-25000">
                <a:solidFill>
                  <a:srgbClr val="000000"/>
                </a:solidFill>
                <a:latin typeface="Arial"/>
              </a:rPr>
              <a:t>ЧД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=0.5 В/МГЦ. Блоки высокой частоты и низкой частоты имеют прямоугольные АЧХ. Полоса пропускания БВЧ равна удвоенной девиации частоты ЧМ сигнала; верхняя граничная частота БНЧ равна частоте модуляции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ru-RU" sz="1800" spc="-1" strike="noStrike" baseline="-25000">
                <a:solidFill>
                  <a:srgbClr val="000000"/>
                </a:solidFill>
                <a:latin typeface="Arial"/>
              </a:rPr>
              <a:t>м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=12кГц. Коэффициент усиления БНЧ 100.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Aria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Записать в численном виде выражение для спектральной плотности шума на выходе ЧД и построить график 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Aria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Определить эффективное  напряжение шума на выходе БНЧ.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CustomShape 5"/>
          <p:cNvSpPr/>
          <p:nvPr/>
        </p:nvSpPr>
        <p:spPr>
          <a:xfrm>
            <a:off x="250920" y="476280"/>
            <a:ext cx="8893080" cy="72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30000"/>
              </a:lnSpc>
            </a:pPr>
            <a:r>
              <a:rPr b="0" lang="ru-RU" sz="3000" spc="-1" strike="noStrike">
                <a:solidFill>
                  <a:srgbClr val="444d26"/>
                </a:solidFill>
                <a:latin typeface="Franklin Gothic Medium"/>
              </a:rPr>
              <a:t>ЗАДАЧА 3-3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87" name="Group 12"/>
          <p:cNvGrpSpPr/>
          <p:nvPr/>
        </p:nvGrpSpPr>
        <p:grpSpPr>
          <a:xfrm>
            <a:off x="176040" y="1054080"/>
            <a:ext cx="8864640" cy="2017800"/>
            <a:chOff x="176040" y="1054080"/>
            <a:chExt cx="8864640" cy="2017800"/>
          </a:xfrm>
        </p:grpSpPr>
        <p:pic>
          <p:nvPicPr>
            <p:cNvPr id="488" name="Прямоугольник 30" descr=""/>
            <p:cNvPicPr/>
            <p:nvPr/>
          </p:nvPicPr>
          <p:blipFill>
            <a:blip r:embed="rId1"/>
            <a:stretch/>
          </p:blipFill>
          <p:spPr>
            <a:xfrm>
              <a:off x="176040" y="1054080"/>
              <a:ext cx="8864640" cy="2017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89" name="CustomShape 13"/>
            <p:cNvSpPr/>
            <p:nvPr/>
          </p:nvSpPr>
          <p:spPr>
            <a:xfrm>
              <a:off x="250920" y="1125360"/>
              <a:ext cx="8713800" cy="18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0" name="CustomShape 14"/>
          <p:cNvSpPr/>
          <p:nvPr/>
        </p:nvSpPr>
        <p:spPr>
          <a:xfrm>
            <a:off x="324000" y="1197000"/>
            <a:ext cx="8461080" cy="177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На входе приёмника действует смесь ЧМ сигнала мощностью 2,5 мкВт и белого шума со спектральной плотностью 10</a:t>
            </a:r>
            <a:r>
              <a:rPr b="0" lang="ru-RU" sz="1800" spc="-1" strike="noStrike" baseline="30000">
                <a:solidFill>
                  <a:srgbClr val="000000"/>
                </a:solidFill>
                <a:latin typeface="Arial"/>
              </a:rPr>
              <a:t>-12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Вт/Гц. Индекс модуляции сигнала равен 5. Блок высокой частоты имеет прямоугольную АЧХ с полосой пропускания, равной удвоенной девиации частоты. Можно ли повысить помехоустойчивость приёмника, если при прежнем значении частоты модуляции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ru-RU" sz="1800" spc="-1" strike="noStrike" baseline="-25000">
                <a:solidFill>
                  <a:srgbClr val="000000"/>
                </a:solidFill>
                <a:latin typeface="Arial"/>
              </a:rPr>
              <a:t>м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=20кГц  увеличить индекс модуляции в 4 раза?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01" name="Заголовок 1" descr=""/>
          <p:cNvPicPr/>
          <p:nvPr/>
        </p:nvPicPr>
        <p:blipFill>
          <a:blip r:embed="rId1"/>
          <a:stretch/>
        </p:blipFill>
        <p:spPr>
          <a:xfrm>
            <a:off x="0" y="334800"/>
            <a:ext cx="9174240" cy="1219320"/>
          </a:xfrm>
          <a:prstGeom prst="rect">
            <a:avLst/>
          </a:prstGeom>
          <a:ln>
            <a:noFill/>
          </a:ln>
        </p:spPr>
      </p:pic>
      <p:grpSp>
        <p:nvGrpSpPr>
          <p:cNvPr id="502" name="Group 11"/>
          <p:cNvGrpSpPr/>
          <p:nvPr/>
        </p:nvGrpSpPr>
        <p:grpSpPr>
          <a:xfrm>
            <a:off x="176040" y="1341360"/>
            <a:ext cx="8643960" cy="4248360"/>
            <a:chOff x="176040" y="1341360"/>
            <a:chExt cx="8643960" cy="4248360"/>
          </a:xfrm>
        </p:grpSpPr>
        <p:pic>
          <p:nvPicPr>
            <p:cNvPr id="503" name="Прямоугольник 17" descr=""/>
            <p:cNvPicPr/>
            <p:nvPr/>
          </p:nvPicPr>
          <p:blipFill>
            <a:blip r:embed="rId2"/>
            <a:stretch/>
          </p:blipFill>
          <p:spPr>
            <a:xfrm>
              <a:off x="176040" y="1341360"/>
              <a:ext cx="8643960" cy="4248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04" name="CustomShape 12"/>
            <p:cNvSpPr/>
            <p:nvPr/>
          </p:nvSpPr>
          <p:spPr>
            <a:xfrm>
              <a:off x="250920" y="1413000"/>
              <a:ext cx="8497800" cy="4103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5" name="CustomShape 13"/>
          <p:cNvSpPr/>
          <p:nvPr/>
        </p:nvSpPr>
        <p:spPr>
          <a:xfrm>
            <a:off x="250920" y="1413000"/>
            <a:ext cx="8713800" cy="2288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а) Изменяя  амплитуду сигнала от 0 до 0,5 В, получить типичные реализации следующих процессов: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синусной составляющей шума 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нормированной полной фазы 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мгновенной частоты 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годографа комплексной огибающей смеси сигнала и шума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Сохранить графики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CustomShape 14"/>
          <p:cNvSpPr/>
          <p:nvPr/>
        </p:nvSpPr>
        <p:spPr>
          <a:xfrm>
            <a:off x="250920" y="3357720"/>
            <a:ext cx="8713800" cy="916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Отметить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наличие при малом отношении сигнал-шум скачков фазы и соответствующих им выбросов мгновенной частоты квазигармонического колебания.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CustomShape 15"/>
          <p:cNvSpPr/>
          <p:nvPr/>
        </p:nvSpPr>
        <p:spPr>
          <a:xfrm>
            <a:off x="250920" y="4221000"/>
            <a:ext cx="889308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Сопоставить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характер изменения синусной низкочастотной составляющей шума  и полной фазы при малых и больших значениях амплитуды сигнала.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CustomShape 16"/>
          <p:cNvSpPr/>
          <p:nvPr/>
        </p:nvSpPr>
        <p:spPr>
          <a:xfrm>
            <a:off x="250920" y="4797360"/>
            <a:ext cx="8893080" cy="916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Сделать выводы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 связи вида годографа комплексной огибающей с характером изменения полной фазы и мгновенной частоты.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9" name="Group 17"/>
          <p:cNvGrpSpPr/>
          <p:nvPr/>
        </p:nvGrpSpPr>
        <p:grpSpPr>
          <a:xfrm>
            <a:off x="176040" y="5589720"/>
            <a:ext cx="8718840" cy="1152360"/>
            <a:chOff x="176040" y="5589720"/>
            <a:chExt cx="8718840" cy="1152360"/>
          </a:xfrm>
        </p:grpSpPr>
        <p:pic>
          <p:nvPicPr>
            <p:cNvPr id="510" name="Прямоугольник 18" descr=""/>
            <p:cNvPicPr/>
            <p:nvPr/>
          </p:nvPicPr>
          <p:blipFill>
            <a:blip r:embed="rId3"/>
            <a:stretch/>
          </p:blipFill>
          <p:spPr>
            <a:xfrm>
              <a:off x="176040" y="5589720"/>
              <a:ext cx="8718840" cy="1152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11" name="CustomShape 18"/>
            <p:cNvSpPr/>
            <p:nvPr/>
          </p:nvSpPr>
          <p:spPr>
            <a:xfrm>
              <a:off x="250920" y="5661000"/>
              <a:ext cx="8569080" cy="1008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2" name="CustomShape 19"/>
          <p:cNvSpPr/>
          <p:nvPr/>
        </p:nvSpPr>
        <p:spPr>
          <a:xfrm>
            <a:off x="324000" y="5732640"/>
            <a:ext cx="8820000" cy="916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б) Задавая границы интервала наблюдения,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Получить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фрагмент годографа комплексной огибающей, соответствующий одному из выбросов мгновенной частоты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23" name="Заголовок 1" descr=""/>
          <p:cNvPicPr/>
          <p:nvPr/>
        </p:nvPicPr>
        <p:blipFill>
          <a:blip r:embed="rId1"/>
          <a:stretch/>
        </p:blipFill>
        <p:spPr>
          <a:xfrm>
            <a:off x="0" y="334800"/>
            <a:ext cx="9174240" cy="1219320"/>
          </a:xfrm>
          <a:prstGeom prst="rect">
            <a:avLst/>
          </a:prstGeom>
          <a:ln>
            <a:noFill/>
          </a:ln>
        </p:spPr>
      </p:pic>
      <p:grpSp>
        <p:nvGrpSpPr>
          <p:cNvPr id="524" name="Group 11"/>
          <p:cNvGrpSpPr/>
          <p:nvPr/>
        </p:nvGrpSpPr>
        <p:grpSpPr>
          <a:xfrm>
            <a:off x="176040" y="1341360"/>
            <a:ext cx="8791920" cy="1225800"/>
            <a:chOff x="176040" y="1341360"/>
            <a:chExt cx="8791920" cy="1225800"/>
          </a:xfrm>
        </p:grpSpPr>
        <p:pic>
          <p:nvPicPr>
            <p:cNvPr id="525" name="Прямоугольник 17" descr=""/>
            <p:cNvPicPr/>
            <p:nvPr/>
          </p:nvPicPr>
          <p:blipFill>
            <a:blip r:embed="rId2"/>
            <a:stretch/>
          </p:blipFill>
          <p:spPr>
            <a:xfrm>
              <a:off x="176040" y="1341360"/>
              <a:ext cx="8791920" cy="1225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526" name="CustomShape 12"/>
            <p:cNvSpPr/>
            <p:nvPr/>
          </p:nvSpPr>
          <p:spPr>
            <a:xfrm>
              <a:off x="250920" y="1413000"/>
              <a:ext cx="8642160" cy="1079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7" name="CustomShape 13"/>
          <p:cNvSpPr/>
          <p:nvPr/>
        </p:nvSpPr>
        <p:spPr>
          <a:xfrm>
            <a:off x="250920" y="1413000"/>
            <a:ext cx="87138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а) Изменяя  амплитуду сигнала от 0 до 1 В,  снять зависимость среднего абсолютного отклонения (САО) мгновенной частоты от отношения сигнал-шум,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CustomShap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529" name="Object 15"/>
          <p:cNvGraphicFramePr/>
          <p:nvPr/>
        </p:nvGraphicFramePr>
        <p:xfrm>
          <a:off x="468360" y="2060640"/>
          <a:ext cx="1130400" cy="3333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530" name="Object 1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68360" y="2060640"/>
                    <a:ext cx="1130400" cy="33336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grpSp>
        <p:nvGrpSpPr>
          <p:cNvPr id="531" name="Group 16"/>
          <p:cNvGrpSpPr/>
          <p:nvPr/>
        </p:nvGrpSpPr>
        <p:grpSpPr>
          <a:xfrm>
            <a:off x="249120" y="2567160"/>
            <a:ext cx="8718840" cy="4101840"/>
            <a:chOff x="249120" y="2567160"/>
            <a:chExt cx="8718840" cy="4101840"/>
          </a:xfrm>
        </p:grpSpPr>
        <p:pic>
          <p:nvPicPr>
            <p:cNvPr id="532" name="Прямоугольник 18" descr=""/>
            <p:cNvPicPr/>
            <p:nvPr/>
          </p:nvPicPr>
          <p:blipFill>
            <a:blip r:embed="rId5"/>
            <a:stretch/>
          </p:blipFill>
          <p:spPr>
            <a:xfrm>
              <a:off x="249120" y="2567160"/>
              <a:ext cx="8718840" cy="41018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33" name="CustomShape 17"/>
            <p:cNvSpPr/>
            <p:nvPr/>
          </p:nvSpPr>
          <p:spPr>
            <a:xfrm>
              <a:off x="324000" y="2637000"/>
              <a:ext cx="8569080" cy="3960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4" name="CustomShape 18"/>
          <p:cNvSpPr/>
          <p:nvPr/>
        </p:nvSpPr>
        <p:spPr>
          <a:xfrm>
            <a:off x="324000" y="2637000"/>
            <a:ext cx="882000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б) Проанализировать влияние отношения сигнал-шум на следующие статистические характеристики мгновенной частоты смеси сигнала и шума: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гистограмму;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энергетический спектр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CustomShape 19"/>
          <p:cNvSpPr/>
          <p:nvPr/>
        </p:nvSpPr>
        <p:spPr>
          <a:xfrm>
            <a:off x="324000" y="3860640"/>
            <a:ext cx="8820000" cy="2600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Построить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на одном рисунке  графики энергетического спектра мгновенной частоты при значениях амплитуды сигнала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ru-RU" sz="1800" spc="-1" strike="noStrike" baseline="-25000">
                <a:solidFill>
                  <a:srgbClr val="000000"/>
                </a:solidFill>
                <a:latin typeface="Arial"/>
              </a:rPr>
              <a:t>с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</a:rPr>
              <a:t> 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= 0; 0,1 В; 0,2 В; 0,3 В; 0,5 В.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Оценить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характер изменения гистограммы и формы энергетического спектра мгновенной частоты при увеличении отношения сигнал-шум.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Определить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, при какой наименьшей величине отношения сигнал-шум происходит образование квадратичного участка («провала») в низкочастотной области спектра мгновенной частоты.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Сохранить графики.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Arial"/>
              </a:rPr>
              <a:t>Сделать выводы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из полученных результатов.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40" name="Заголовок 1" descr=""/>
          <p:cNvPicPr/>
          <p:nvPr/>
        </p:nvPicPr>
        <p:blipFill>
          <a:blip r:embed="rId1"/>
          <a:stretch/>
        </p:blipFill>
        <p:spPr>
          <a:xfrm>
            <a:off x="122400" y="476280"/>
            <a:ext cx="9021600" cy="907920"/>
          </a:xfrm>
          <a:prstGeom prst="rect">
            <a:avLst/>
          </a:prstGeom>
          <a:ln>
            <a:noFill/>
          </a:ln>
        </p:spPr>
      </p:pic>
      <p:grpSp>
        <p:nvGrpSpPr>
          <p:cNvPr id="541" name="Group 5"/>
          <p:cNvGrpSpPr/>
          <p:nvPr/>
        </p:nvGrpSpPr>
        <p:grpSpPr>
          <a:xfrm>
            <a:off x="176040" y="1195560"/>
            <a:ext cx="8864640" cy="1803240"/>
            <a:chOff x="176040" y="1195560"/>
            <a:chExt cx="8864640" cy="1803240"/>
          </a:xfrm>
        </p:grpSpPr>
        <p:pic>
          <p:nvPicPr>
            <p:cNvPr id="542" name="Прямоугольник 8" descr=""/>
            <p:cNvPicPr/>
            <p:nvPr/>
          </p:nvPicPr>
          <p:blipFill>
            <a:blip r:embed="rId2"/>
            <a:stretch/>
          </p:blipFill>
          <p:spPr>
            <a:xfrm>
              <a:off x="176040" y="1195560"/>
              <a:ext cx="8864640" cy="1803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43" name="CustomShape 6"/>
            <p:cNvSpPr/>
            <p:nvPr/>
          </p:nvSpPr>
          <p:spPr>
            <a:xfrm>
              <a:off x="250920" y="1268280"/>
              <a:ext cx="8713800" cy="165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44" name="CustomShape 7"/>
          <p:cNvSpPr/>
          <p:nvPr/>
        </p:nvSpPr>
        <p:spPr>
          <a:xfrm>
            <a:off x="395280" y="1341360"/>
            <a:ext cx="849780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Приёмник предназначен для приёма ЧМ сигнала с девиацией частоты 125 кГц и частотой модуляции 25 кГц. Входное сопротивление БВЧ 50 Ом, АЧХ БВЧ и БНЧ прямоугольные и согласованные по полосе с соответствующими сигналами. Рассчитайте отношение сигнал-шум (в децибелах) на выходе приёмника при действии на его входе смеси немодулированного сигнала с амплитудой 10  мкВ и шума со спектральной плотностью мощности 4∙10</a:t>
            </a:r>
            <a:r>
              <a:rPr b="0" lang="ru-RU" sz="1600" spc="-1" strike="noStrike" baseline="30000">
                <a:solidFill>
                  <a:srgbClr val="000000"/>
                </a:solidFill>
                <a:latin typeface="Arial"/>
              </a:rPr>
              <a:t>-19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 Вт\Гц.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46" name="Picture 17" descr=""/>
          <p:cNvPicPr/>
          <p:nvPr/>
        </p:nvPicPr>
        <p:blipFill>
          <a:blip r:embed="rId3"/>
          <a:stretch/>
        </p:blipFill>
        <p:spPr>
          <a:xfrm>
            <a:off x="5940360" y="2637000"/>
            <a:ext cx="3054240" cy="403200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57" name="Заголовок 1" descr=""/>
          <p:cNvPicPr/>
          <p:nvPr/>
        </p:nvPicPr>
        <p:blipFill>
          <a:blip r:embed="rId1"/>
          <a:stretch/>
        </p:blipFill>
        <p:spPr>
          <a:xfrm>
            <a:off x="0" y="334800"/>
            <a:ext cx="9174240" cy="1219320"/>
          </a:xfrm>
          <a:prstGeom prst="rect">
            <a:avLst/>
          </a:prstGeom>
          <a:ln>
            <a:noFill/>
          </a:ln>
        </p:spPr>
      </p:pic>
      <p:grpSp>
        <p:nvGrpSpPr>
          <p:cNvPr id="558" name="Group 11"/>
          <p:cNvGrpSpPr/>
          <p:nvPr/>
        </p:nvGrpSpPr>
        <p:grpSpPr>
          <a:xfrm>
            <a:off x="969840" y="1341360"/>
            <a:ext cx="6985080" cy="3022560"/>
            <a:chOff x="969840" y="1341360"/>
            <a:chExt cx="6985080" cy="3022560"/>
          </a:xfrm>
        </p:grpSpPr>
        <p:pic>
          <p:nvPicPr>
            <p:cNvPr id="559" name="Прямоугольник 19" descr=""/>
            <p:cNvPicPr/>
            <p:nvPr/>
          </p:nvPicPr>
          <p:blipFill>
            <a:blip r:embed="rId2"/>
            <a:stretch/>
          </p:blipFill>
          <p:spPr>
            <a:xfrm>
              <a:off x="969840" y="1341360"/>
              <a:ext cx="6985080" cy="3022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60" name="CustomShape 12"/>
            <p:cNvSpPr/>
            <p:nvPr/>
          </p:nvSpPr>
          <p:spPr>
            <a:xfrm>
              <a:off x="1042920" y="1413000"/>
              <a:ext cx="6842160" cy="2879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1" name="CustomShape 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562" name="Table 14"/>
          <p:cNvGraphicFramePr/>
          <p:nvPr/>
        </p:nvGraphicFramePr>
        <p:xfrm>
          <a:off x="1258920" y="1484280"/>
          <a:ext cx="6483240" cy="2674800"/>
        </p:xfrm>
        <a:graphic>
          <a:graphicData uri="http://schemas.openxmlformats.org/drawingml/2006/table">
            <a:tbl>
              <a:tblPr/>
              <a:tblGrid>
                <a:gridCol w="1011240"/>
                <a:gridCol w="2355840"/>
                <a:gridCol w="1254240"/>
                <a:gridCol w="626760"/>
                <a:gridCol w="1235160"/>
              </a:tblGrid>
              <a:tr h="457200">
                <a:tc>
                  <a:txBody>
                    <a:bodyPr lIns="71640" rIns="71640" tIns="0" bIns="0">
                      <a:noAutofit/>
                    </a:bodyPr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№ </a:t>
                      </a: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варианта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spcAft>
                          <a:spcPts val="598"/>
                        </a:spcAft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Форма спектра шума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spcAft>
                          <a:spcPts val="598"/>
                        </a:spcAft>
                      </a:pPr>
                      <a:r>
                        <a:rPr b="0" i="1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b="0" lang="ru-RU" sz="15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ЧД</a:t>
                      </a: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, В/кГц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spcAft>
                          <a:spcPts val="598"/>
                        </a:spcAft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β</a:t>
                      </a:r>
                      <a:r>
                        <a:rPr b="0" lang="ru-RU" sz="15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ЧМ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spcAft>
                          <a:spcPts val="598"/>
                        </a:spcAft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АЧХ БНЧ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217600">
                <a:tc>
                  <a:txBody>
                    <a:bodyPr lIns="71640" rIns="71640" tIns="0" bIns="0">
                      <a:noAutofit/>
                    </a:bodyPr>
                    <a:p>
                      <a:pPr marL="18720" algn="ctr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Прямоугольная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Соотв. ф-ру Баттерворта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Гауссова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Прямоугольная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Соотв. ф-ру Баттерворта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Гауссова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Прямоугольная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Соотв. ф-ру Баттерворта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0,03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18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17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1640" rIns="71640" tIns="0" bIns="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RC</a:t>
                      </a: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-цепь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Батерворта 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Батерворта 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RC</a:t>
                      </a: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-цепь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Батерворта 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Батерворта 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RC</a:t>
                      </a: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-цепь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Батерворта 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640" marR="716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3" name="CustomShape 15"/>
          <p:cNvSpPr/>
          <p:nvPr/>
        </p:nvSpPr>
        <p:spPr>
          <a:xfrm>
            <a:off x="179280" y="4365720"/>
            <a:ext cx="8785440" cy="2594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А) Для заданных значений индекса ЧМ и крутизны ЧД получить на модели зависимость отношения сигнал-шум на выходе БНЧ с прямоугольной АЧХ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Arial"/>
              </a:rPr>
              <a:t>выхДБ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 от отношения сигнал-шум на входе ЧД 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q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вхДБ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, изменяя 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q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вхДБ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 от 0 дБ до 30 дБ. При моделировании число реализаций шума, по которым проводится усреднение, должно быть таким, чтобы погрешность измерения отношения сигнал-шум на выходе БНЧ не превышала 0,1-0,2 дБ (не менее 100 реализаций).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Крутизна ЧД не влияет на величину отношения сигнал-шум на выходе приёмника, однако её необходимо задать для правильного отображения эпюр колебаний на выходе ЧД и БНЧ.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4" name="Заголовок 1" descr=""/>
          <p:cNvPicPr/>
          <p:nvPr/>
        </p:nvPicPr>
        <p:blipFill>
          <a:blip r:embed="rId1"/>
          <a:stretch/>
        </p:blipFill>
        <p:spPr>
          <a:xfrm>
            <a:off x="0" y="334800"/>
            <a:ext cx="9174240" cy="1219320"/>
          </a:xfrm>
          <a:prstGeom prst="rect">
            <a:avLst/>
          </a:prstGeom>
          <a:ln>
            <a:noFill/>
          </a:ln>
        </p:spPr>
      </p:pic>
      <p:sp>
        <p:nvSpPr>
          <p:cNvPr id="575" name="CustomShape 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CustomShape 12"/>
          <p:cNvSpPr/>
          <p:nvPr/>
        </p:nvSpPr>
        <p:spPr>
          <a:xfrm>
            <a:off x="179280" y="1413000"/>
            <a:ext cx="8785440" cy="1830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Б) </a:t>
            </a: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Сравнить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полученную зависимость с рассчитанной по асимптотической (при (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a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&gt;&gt;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1)) формуле.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Определить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величину порогового отношения сигнал-шум, при котором происходит резкое изменение характера зависимости 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q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выхДБ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(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q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вхДБ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Сделать выводы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 полученных результатов.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CustomShape 13"/>
          <p:cNvSpPr/>
          <p:nvPr/>
        </p:nvSpPr>
        <p:spPr>
          <a:xfrm>
            <a:off x="179280" y="3213000"/>
            <a:ext cx="871380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В) Повторить измерения по п. 2.1 для заданной формы АЧХ БНЧ.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Оценить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величину проигрыша в отношении сигнал-шум на выходе БНЧ в надпороговой области по сравнению со случаем прямоугольной АЧХ.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Сделайте выводы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 полученных результатов.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82" name="Заголовок 1" descr=""/>
          <p:cNvPicPr/>
          <p:nvPr/>
        </p:nvPicPr>
        <p:blipFill>
          <a:blip r:embed="rId1"/>
          <a:stretch/>
        </p:blipFill>
        <p:spPr>
          <a:xfrm>
            <a:off x="122400" y="476280"/>
            <a:ext cx="9021600" cy="907920"/>
          </a:xfrm>
          <a:prstGeom prst="rect">
            <a:avLst/>
          </a:prstGeom>
          <a:ln>
            <a:noFill/>
          </a:ln>
        </p:spPr>
      </p:pic>
      <p:grpSp>
        <p:nvGrpSpPr>
          <p:cNvPr id="583" name="Group 5"/>
          <p:cNvGrpSpPr/>
          <p:nvPr/>
        </p:nvGrpSpPr>
        <p:grpSpPr>
          <a:xfrm>
            <a:off x="176040" y="1195560"/>
            <a:ext cx="5980320" cy="652320"/>
            <a:chOff x="176040" y="1195560"/>
            <a:chExt cx="5980320" cy="652320"/>
          </a:xfrm>
        </p:grpSpPr>
        <p:pic>
          <p:nvPicPr>
            <p:cNvPr id="584" name="Прямоугольник 8" descr=""/>
            <p:cNvPicPr/>
            <p:nvPr/>
          </p:nvPicPr>
          <p:blipFill>
            <a:blip r:embed="rId2"/>
            <a:stretch/>
          </p:blipFill>
          <p:spPr>
            <a:xfrm>
              <a:off x="176040" y="1195560"/>
              <a:ext cx="5980320" cy="652320"/>
            </a:xfrm>
            <a:prstGeom prst="rect">
              <a:avLst/>
            </a:prstGeom>
            <a:ln>
              <a:noFill/>
            </a:ln>
          </p:spPr>
        </p:pic>
        <p:sp>
          <p:nvSpPr>
            <p:cNvPr id="585" name="CustomShape 6"/>
            <p:cNvSpPr/>
            <p:nvPr/>
          </p:nvSpPr>
          <p:spPr>
            <a:xfrm>
              <a:off x="250920" y="1268280"/>
              <a:ext cx="5833800" cy="50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6" name="CustomShape 7"/>
          <p:cNvSpPr/>
          <p:nvPr/>
        </p:nvSpPr>
        <p:spPr>
          <a:xfrm>
            <a:off x="395280" y="1341360"/>
            <a:ext cx="640872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Оформить результаты моделирования, сделать выводы.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9969</TotalTime>
  <Application>LibreOffice/6.1.5.2$Linux_X86_64 LibreOffice_project/10$Build-2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buuu</dc:creator>
  <dc:description/>
  <dc:language>en-US</dc:language>
  <cp:lastModifiedBy>Юлия</cp:lastModifiedBy>
  <dcterms:modified xsi:type="dcterms:W3CDTF">2021-10-06T07:34:10Z</dcterms:modified>
  <cp:revision>365</cp:revision>
  <dc:subject/>
  <dc:title>Занятие №3</dc:title>
</cp:coreProperties>
</file>