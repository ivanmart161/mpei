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embeddings/oleObject4.bin" ContentType="application/vnd.openxmlformats-officedocument.oleObject"/>
  <Override PartName="/ppt/embeddings/oleObject3.bin" ContentType="application/vnd.openxmlformats-officedocument.oleObject"/>
  <Override PartName="/ppt/embeddings/oleObject2.bin" ContentType="application/vnd.openxmlformats-officedocument.oleObject"/>
  <Override PartName="/ppt/embeddings/oleObject1.bin" ContentType="application/vnd.openxmlformats-officedocument.oleObject"/>
  <Override PartName="/ppt/slideLayouts/slideLayout108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_rels/slideLayout107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96.xml.rels" ContentType="application/vnd.openxmlformats-package.relationships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_rels/presentation.xml.rels" ContentType="application/vnd.openxmlformats-package.relationships+xml"/>
  <Override PartName="/ppt/media/image55.wmf" ContentType="image/x-wmf"/>
  <Override PartName="/ppt/media/image51.png" ContentType="image/png"/>
  <Override PartName="/ppt/media/image50.wmf" ContentType="image/x-wmf"/>
  <Override PartName="/ppt/media/image49.png" ContentType="image/png"/>
  <Override PartName="/ppt/media/image20.png" ContentType="image/png"/>
  <Override PartName="/ppt/media/image19.jpeg" ContentType="image/jpeg"/>
  <Override PartName="/ppt/media/image53.png" ContentType="image/png"/>
  <Override PartName="/ppt/media/image3.png" ContentType="image/png"/>
  <Override PartName="/ppt/media/image17.png" ContentType="image/png"/>
  <Override PartName="/ppt/media/image1.jpeg" ContentType="image/jpeg"/>
  <Override PartName="/ppt/media/image38.png" ContentType="image/png"/>
  <Override PartName="/ppt/media/image27.wmf" ContentType="image/x-wmf"/>
  <Override PartName="/ppt/media/image41.png" ContentType="image/png"/>
  <Override PartName="/ppt/media/image31.png" ContentType="image/png"/>
  <Override PartName="/ppt/media/image14.png" ContentType="image/png"/>
  <Override PartName="/ppt/media/image12.png" ContentType="image/png"/>
  <Override PartName="/ppt/media/image18.jpeg" ContentType="image/jpeg"/>
  <Override PartName="/ppt/media/image28.png" ContentType="image/png"/>
  <Override PartName="/ppt/media/image11.jpeg" ContentType="image/jpeg"/>
  <Override PartName="/ppt/media/image44.png" ContentType="image/png"/>
  <Override PartName="/ppt/media/image54.png" ContentType="image/png"/>
  <Override PartName="/ppt/media/image4.png" ContentType="image/png"/>
  <Override PartName="/ppt/media/image39.png" ContentType="image/png"/>
  <Override PartName="/ppt/media/image5.jpeg" ContentType="image/jpeg"/>
  <Override PartName="/ppt/media/image52.png" ContentType="image/png"/>
  <Override PartName="/ppt/media/image2.png" ContentType="image/png"/>
  <Override PartName="/ppt/media/image37.png" ContentType="image/png"/>
  <Override PartName="/ppt/media/image7.jpeg" ContentType="image/jpeg"/>
  <Override PartName="/ppt/media/image47.wmf" ContentType="image/x-wmf"/>
  <Override PartName="/ppt/media/image8.png" ContentType="image/png"/>
  <Override PartName="/ppt/media/image23.png" ContentType="image/png"/>
  <Override PartName="/ppt/media/image13.jpeg" ContentType="image/jpeg"/>
  <Override PartName="/ppt/media/image48.wmf" ContentType="image/x-wmf"/>
  <Override PartName="/ppt/media/image9.png" ContentType="image/png"/>
  <Override PartName="/ppt/media/image24.png" ContentType="image/png"/>
  <Override PartName="/ppt/media/image10.png" ContentType="image/png"/>
  <Override PartName="/ppt/media/image25.png" ContentType="image/png"/>
  <Override PartName="/ppt/media/image26.png" ContentType="image/png"/>
  <Override PartName="/ppt/media/image6.png" ContentType="image/png"/>
  <Override PartName="/ppt/media/image45.wmf" ContentType="image/x-wmf"/>
  <Override PartName="/ppt/media/image29.wmf" ContentType="image/x-wmf"/>
  <Override PartName="/ppt/media/image16.jpeg" ContentType="image/jpeg"/>
  <Override PartName="/ppt/media/image43.png" ContentType="image/png"/>
  <Override PartName="/ppt/media/image30.png" ContentType="image/png"/>
  <Override PartName="/ppt/media/image21.wmf" ContentType="image/x-wmf"/>
  <Override PartName="/ppt/media/image32.png" ContentType="image/png"/>
  <Override PartName="/ppt/media/image15.jpeg" ContentType="image/jpeg"/>
  <Override PartName="/ppt/media/image22.wmf" ContentType="image/x-wmf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40.png" ContentType="image/png"/>
  <Override PartName="/ppt/media/image42.png" ContentType="image/png"/>
  <Override PartName="/ppt/media/image46.png" ContentType="image/png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</p:sldIdLst>
  <p:sldSz cx="9144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9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41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42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43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80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85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86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87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29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30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31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65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70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71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72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93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09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14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15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16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34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38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42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49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50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55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56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57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>
              <a:spcBef>
                <a:spcPts val="799"/>
              </a:spcBef>
            </a:pP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75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79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90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91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spAutoFit/>
          </a:bodyPr>
          <a:p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95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96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97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98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Relationship Id="rId9" Type="http://schemas.openxmlformats.org/officeDocument/2006/relationships/slideLayout" Target="../slideLayouts/slideLayout4.xml"/><Relationship Id="rId10" Type="http://schemas.openxmlformats.org/officeDocument/2006/relationships/slideLayout" Target="../slideLayouts/slideLayout5.xml"/><Relationship Id="rId11" Type="http://schemas.openxmlformats.org/officeDocument/2006/relationships/slideLayout" Target="../slideLayouts/slideLayout6.xml"/><Relationship Id="rId12" Type="http://schemas.openxmlformats.org/officeDocument/2006/relationships/slideLayout" Target="../slideLayouts/slideLayout7.xml"/><Relationship Id="rId13" Type="http://schemas.openxmlformats.org/officeDocument/2006/relationships/slideLayout" Target="../slideLayouts/slideLayout8.xml"/><Relationship Id="rId14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7.jpe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3.jpe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6.jpe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9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8.jpeg"/><Relationship Id="rId3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7.xml"/><Relationship Id="rId6" Type="http://schemas.openxmlformats.org/officeDocument/2006/relationships/slideLayout" Target="../slideLayouts/slideLayout88.xml"/><Relationship Id="rId7" Type="http://schemas.openxmlformats.org/officeDocument/2006/relationships/slideLayout" Target="../slideLayouts/slideLayout89.xml"/><Relationship Id="rId8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4.xml"/><Relationship Id="rId13" Type="http://schemas.openxmlformats.org/officeDocument/2006/relationships/slideLayout" Target="../slideLayouts/slideLayout95.xml"/><Relationship Id="rId14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9.jpeg"/><Relationship Id="rId3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0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1"/>
          <p:cNvGrpSpPr/>
          <p:nvPr/>
        </p:nvGrpSpPr>
        <p:grpSpPr>
          <a:xfrm>
            <a:off x="512640" y="1042920"/>
            <a:ext cx="8637840" cy="17640"/>
            <a:chOff x="512640" y="1042920"/>
            <a:chExt cx="8637840" cy="17640"/>
          </a:xfrm>
        </p:grpSpPr>
        <p:pic>
          <p:nvPicPr>
            <p:cNvPr id="1" name="Прямая соединительная линия 6" descr=""/>
            <p:cNvPicPr/>
            <p:nvPr/>
          </p:nvPicPr>
          <p:blipFill>
            <a:blip r:embed="rId3"/>
            <a:stretch/>
          </p:blipFill>
          <p:spPr>
            <a:xfrm>
              <a:off x="512640" y="1042920"/>
              <a:ext cx="8637840" cy="17640"/>
            </a:xfrm>
            <a:prstGeom prst="rect">
              <a:avLst/>
            </a:prstGeom>
            <a:ln>
              <a:noFill/>
            </a:ln>
          </p:spPr>
        </p:pic>
        <p:sp>
          <p:nvSpPr>
            <p:cNvPr id="2" name="CustomShape 2"/>
            <p:cNvSpPr/>
            <p:nvPr/>
          </p:nvSpPr>
          <p:spPr>
            <a:xfrm>
              <a:off x="514440" y="105084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1" marL="742680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Second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2" marL="11430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Third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3" marL="16002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Fourth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4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Fifth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5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Sixth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6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Seventh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r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sldNum"/>
          </p:nvPr>
        </p:nvSpPr>
        <p:spPr>
          <a:xfrm>
            <a:off x="8229240" y="6476760"/>
            <a:ext cx="762120" cy="24444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 algn="r"/>
            <a:fld id="{7074B36C-F876-4227-9E90-911B4F9E0696}" type="slidenum"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7" name="PlaceHolder 7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0" lang="en-US" sz="3600" spc="-1" strike="noStrike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512640" y="1042920"/>
            <a:ext cx="8637840" cy="17640"/>
            <a:chOff x="512640" y="1042920"/>
            <a:chExt cx="8637840" cy="17640"/>
          </a:xfrm>
        </p:grpSpPr>
        <p:pic>
          <p:nvPicPr>
            <p:cNvPr id="9" name="Прямая соединительная линия 8" descr=""/>
            <p:cNvPicPr/>
            <p:nvPr/>
          </p:nvPicPr>
          <p:blipFill>
            <a:blip r:embed="rId4"/>
            <a:stretch/>
          </p:blipFill>
          <p:spPr>
            <a:xfrm>
              <a:off x="512640" y="1042920"/>
              <a:ext cx="8637840" cy="17640"/>
            </a:xfrm>
            <a:prstGeom prst="rect">
              <a:avLst/>
            </a:prstGeom>
            <a:ln>
              <a:noFill/>
            </a:ln>
          </p:spPr>
        </p:pic>
        <p:sp>
          <p:nvSpPr>
            <p:cNvPr id="10" name="CustomShape 9"/>
            <p:cNvSpPr/>
            <p:nvPr/>
          </p:nvSpPr>
          <p:spPr>
            <a:xfrm>
              <a:off x="514440" y="105084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" name="Group 10"/>
          <p:cNvGrpSpPr/>
          <p:nvPr/>
        </p:nvGrpSpPr>
        <p:grpSpPr>
          <a:xfrm>
            <a:off x="512640" y="1054080"/>
            <a:ext cx="8637840" cy="12600"/>
            <a:chOff x="512640" y="1054080"/>
            <a:chExt cx="8637840" cy="12600"/>
          </a:xfrm>
        </p:grpSpPr>
        <p:pic>
          <p:nvPicPr>
            <p:cNvPr id="12" name="Прямая соединительная линия 11" descr=""/>
            <p:cNvPicPr/>
            <p:nvPr/>
          </p:nvPicPr>
          <p:blipFill>
            <a:blip r:embed="rId5"/>
            <a:stretch/>
          </p:blipFill>
          <p:spPr>
            <a:xfrm>
              <a:off x="512640" y="1054080"/>
              <a:ext cx="8637840" cy="126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3" name="CustomShape 11"/>
            <p:cNvSpPr/>
            <p:nvPr/>
          </p:nvSpPr>
          <p:spPr>
            <a:xfrm>
              <a:off x="514440" y="105732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1"/>
          <p:cNvGrpSpPr/>
          <p:nvPr/>
        </p:nvGrpSpPr>
        <p:grpSpPr>
          <a:xfrm>
            <a:off x="512640" y="5346720"/>
            <a:ext cx="8637840" cy="11160"/>
            <a:chOff x="512640" y="5346720"/>
            <a:chExt cx="8637840" cy="11160"/>
          </a:xfrm>
        </p:grpSpPr>
        <p:pic>
          <p:nvPicPr>
            <p:cNvPr id="51" name="Прямая соединительная линия 12" descr=""/>
            <p:cNvPicPr/>
            <p:nvPr/>
          </p:nvPicPr>
          <p:blipFill>
            <a:blip r:embed="rId3"/>
            <a:stretch/>
          </p:blipFill>
          <p:spPr>
            <a:xfrm>
              <a:off x="512640" y="5346720"/>
              <a:ext cx="8637840" cy="11160"/>
            </a:xfrm>
            <a:prstGeom prst="rect">
              <a:avLst/>
            </a:prstGeom>
            <a:ln>
              <a:noFill/>
            </a:ln>
          </p:spPr>
        </p:pic>
        <p:sp>
          <p:nvSpPr>
            <p:cNvPr id="52" name="CustomShape 2"/>
            <p:cNvSpPr/>
            <p:nvPr/>
          </p:nvSpPr>
          <p:spPr>
            <a:xfrm>
              <a:off x="514440" y="534996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1" marL="742680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Second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2" marL="11430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Third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3" marL="16002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Fourth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4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Fifth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5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Sixth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6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Seventh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0" lang="en-US" sz="3600" spc="-1" strike="noStrike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r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7"/>
          <p:cNvSpPr>
            <a:spLocks noGrp="1"/>
          </p:cNvSpPr>
          <p:nvPr>
            <p:ph type="sldNum"/>
          </p:nvPr>
        </p:nvSpPr>
        <p:spPr>
          <a:xfrm>
            <a:off x="8229600" y="6473880"/>
            <a:ext cx="758880" cy="2476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 algn="r"/>
            <a:fld id="{1FA604ED-412C-4984-A02A-1867AB65B5E3}" type="slidenum"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1"/>
          <p:cNvGrpSpPr/>
          <p:nvPr/>
        </p:nvGrpSpPr>
        <p:grpSpPr>
          <a:xfrm>
            <a:off x="512640" y="1042920"/>
            <a:ext cx="8637840" cy="17640"/>
            <a:chOff x="512640" y="1042920"/>
            <a:chExt cx="8637840" cy="17640"/>
          </a:xfrm>
        </p:grpSpPr>
        <p:pic>
          <p:nvPicPr>
            <p:cNvPr id="95" name="Прямая соединительная линия 6" descr=""/>
            <p:cNvPicPr/>
            <p:nvPr/>
          </p:nvPicPr>
          <p:blipFill>
            <a:blip r:embed="rId3"/>
            <a:stretch/>
          </p:blipFill>
          <p:spPr>
            <a:xfrm>
              <a:off x="512640" y="1042920"/>
              <a:ext cx="8637840" cy="17640"/>
            </a:xfrm>
            <a:prstGeom prst="rect">
              <a:avLst/>
            </a:prstGeom>
            <a:ln>
              <a:noFill/>
            </a:ln>
          </p:spPr>
        </p:pic>
        <p:sp>
          <p:nvSpPr>
            <p:cNvPr id="96" name="CustomShape 2"/>
            <p:cNvSpPr/>
            <p:nvPr/>
          </p:nvSpPr>
          <p:spPr>
            <a:xfrm>
              <a:off x="514440" y="105084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7" name="Group 3"/>
          <p:cNvGrpSpPr/>
          <p:nvPr/>
        </p:nvGrpSpPr>
        <p:grpSpPr>
          <a:xfrm>
            <a:off x="512640" y="1042920"/>
            <a:ext cx="8637840" cy="17640"/>
            <a:chOff x="512640" y="1042920"/>
            <a:chExt cx="8637840" cy="17640"/>
          </a:xfrm>
        </p:grpSpPr>
        <p:pic>
          <p:nvPicPr>
            <p:cNvPr id="98" name="Прямая соединительная линия 8" descr=""/>
            <p:cNvPicPr/>
            <p:nvPr/>
          </p:nvPicPr>
          <p:blipFill>
            <a:blip r:embed="rId4"/>
            <a:stretch/>
          </p:blipFill>
          <p:spPr>
            <a:xfrm>
              <a:off x="512640" y="1042920"/>
              <a:ext cx="8637840" cy="17640"/>
            </a:xfrm>
            <a:prstGeom prst="rect">
              <a:avLst/>
            </a:prstGeom>
            <a:ln>
              <a:noFill/>
            </a:ln>
          </p:spPr>
        </p:pic>
        <p:sp>
          <p:nvSpPr>
            <p:cNvPr id="99" name="CustomShape 4"/>
            <p:cNvSpPr/>
            <p:nvPr/>
          </p:nvSpPr>
          <p:spPr>
            <a:xfrm>
              <a:off x="514440" y="105084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0" name="Group 5"/>
          <p:cNvGrpSpPr/>
          <p:nvPr/>
        </p:nvGrpSpPr>
        <p:grpSpPr>
          <a:xfrm>
            <a:off x="512640" y="1054080"/>
            <a:ext cx="8637840" cy="12600"/>
            <a:chOff x="512640" y="1054080"/>
            <a:chExt cx="8637840" cy="12600"/>
          </a:xfrm>
        </p:grpSpPr>
        <p:pic>
          <p:nvPicPr>
            <p:cNvPr id="101" name="Прямая соединительная линия 11" descr=""/>
            <p:cNvPicPr/>
            <p:nvPr/>
          </p:nvPicPr>
          <p:blipFill>
            <a:blip r:embed="rId5"/>
            <a:stretch/>
          </p:blipFill>
          <p:spPr>
            <a:xfrm>
              <a:off x="512640" y="1054080"/>
              <a:ext cx="8637840" cy="126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02" name="CustomShape 6"/>
            <p:cNvSpPr/>
            <p:nvPr/>
          </p:nvSpPr>
          <p:spPr>
            <a:xfrm>
              <a:off x="514440" y="105732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3" name="PlaceHolder 7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1" marL="742680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Second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2" marL="11430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Third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3" marL="16002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Fourth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4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Fifth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5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Sixth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6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Seventh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04" name="PlaceHolder 8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0" lang="en-US" sz="3600" spc="-1" strike="noStrike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05" name="PlaceHolder 9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r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06" name="PlaceHolder 10"/>
          <p:cNvSpPr>
            <a:spLocks noGrp="1"/>
          </p:cNvSpPr>
          <p:nvPr>
            <p:ph type="ftr"/>
          </p:nvPr>
        </p:nvSpPr>
        <p:spPr>
          <a:xfrm>
            <a:off x="3581280" y="76320"/>
            <a:ext cx="289584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11"/>
          <p:cNvSpPr>
            <a:spLocks noGrp="1"/>
          </p:cNvSpPr>
          <p:nvPr>
            <p:ph type="sldNum"/>
          </p:nvPr>
        </p:nvSpPr>
        <p:spPr>
          <a:xfrm>
            <a:off x="8229600" y="6473880"/>
            <a:ext cx="758880" cy="2476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 algn="r"/>
            <a:fld id="{24C26889-24A8-491B-9E8E-4B852001CE0E}" type="slidenum"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roup 1"/>
          <p:cNvGrpSpPr/>
          <p:nvPr/>
        </p:nvGrpSpPr>
        <p:grpSpPr>
          <a:xfrm>
            <a:off x="512640" y="3438360"/>
            <a:ext cx="8637840" cy="11160"/>
            <a:chOff x="512640" y="3438360"/>
            <a:chExt cx="8637840" cy="11160"/>
          </a:xfrm>
        </p:grpSpPr>
        <p:pic>
          <p:nvPicPr>
            <p:cNvPr id="145" name="Прямая соединительная линия 12" descr=""/>
            <p:cNvPicPr/>
            <p:nvPr/>
          </p:nvPicPr>
          <p:blipFill>
            <a:blip r:embed="rId3"/>
            <a:stretch/>
          </p:blipFill>
          <p:spPr>
            <a:xfrm>
              <a:off x="512640" y="3438360"/>
              <a:ext cx="8637840" cy="11160"/>
            </a:xfrm>
            <a:prstGeom prst="rect">
              <a:avLst/>
            </a:prstGeom>
            <a:ln>
              <a:noFill/>
            </a:ln>
          </p:spPr>
        </p:pic>
        <p:sp>
          <p:nvSpPr>
            <p:cNvPr id="146" name="CustomShape 2"/>
            <p:cNvSpPr/>
            <p:nvPr/>
          </p:nvSpPr>
          <p:spPr>
            <a:xfrm>
              <a:off x="514440" y="344484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rgbClr val="fefac9"/>
                </a:solidFill>
                <a:latin typeface="Franklin Gothic Book"/>
              </a:rPr>
              <a:t>Click to edit the outline text format</a:t>
            </a:r>
            <a:endParaRPr b="0" lang="en-US" sz="3200" spc="-1" strike="noStrike">
              <a:solidFill>
                <a:srgbClr val="fefac9"/>
              </a:solidFill>
              <a:latin typeface="Franklin Gothic Book"/>
            </a:endParaRPr>
          </a:p>
          <a:p>
            <a:pPr lvl="1" marL="742680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b="0" lang="en-US" sz="3200" spc="-1" strike="noStrike">
                <a:solidFill>
                  <a:srgbClr val="fefac9"/>
                </a:solidFill>
                <a:latin typeface="Franklin Gothic Book"/>
              </a:rPr>
              <a:t>Second Outline Level</a:t>
            </a:r>
            <a:endParaRPr b="0" lang="en-US" sz="3200" spc="-1" strike="noStrike">
              <a:solidFill>
                <a:srgbClr val="fefac9"/>
              </a:solidFill>
              <a:latin typeface="Franklin Gothic Book"/>
            </a:endParaRPr>
          </a:p>
          <a:p>
            <a:pPr lvl="2" marL="11430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b="0" lang="en-US" sz="3200" spc="-1" strike="noStrike">
                <a:solidFill>
                  <a:srgbClr val="fefac9"/>
                </a:solidFill>
                <a:latin typeface="Franklin Gothic Book"/>
              </a:rPr>
              <a:t>Third Outline Level</a:t>
            </a:r>
            <a:endParaRPr b="0" lang="en-US" sz="3200" spc="-1" strike="noStrike">
              <a:solidFill>
                <a:srgbClr val="fefac9"/>
              </a:solidFill>
              <a:latin typeface="Franklin Gothic Book"/>
            </a:endParaRPr>
          </a:p>
          <a:p>
            <a:pPr lvl="3" marL="16002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b="0" lang="en-US" sz="3200" spc="-1" strike="noStrike">
                <a:solidFill>
                  <a:srgbClr val="fefac9"/>
                </a:solidFill>
                <a:latin typeface="Franklin Gothic Book"/>
              </a:rPr>
              <a:t>Fourth Outline Level</a:t>
            </a:r>
            <a:endParaRPr b="0" lang="en-US" sz="3200" spc="-1" strike="noStrike">
              <a:solidFill>
                <a:srgbClr val="fefac9"/>
              </a:solidFill>
              <a:latin typeface="Franklin Gothic Book"/>
            </a:endParaRPr>
          </a:p>
          <a:p>
            <a:pPr lvl="4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fefac9"/>
                </a:solidFill>
                <a:latin typeface="Franklin Gothic Book"/>
              </a:rPr>
              <a:t>Fifth Outline Level</a:t>
            </a:r>
            <a:endParaRPr b="0" lang="en-US" sz="3200" spc="-1" strike="noStrike">
              <a:solidFill>
                <a:srgbClr val="fefac9"/>
              </a:solidFill>
              <a:latin typeface="Franklin Gothic Book"/>
            </a:endParaRPr>
          </a:p>
          <a:p>
            <a:pPr lvl="5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fefac9"/>
                </a:solidFill>
                <a:latin typeface="Franklin Gothic Book"/>
              </a:rPr>
              <a:t>Sixth Outline Level</a:t>
            </a:r>
            <a:endParaRPr b="0" lang="en-US" sz="3200" spc="-1" strike="noStrike">
              <a:solidFill>
                <a:srgbClr val="fefac9"/>
              </a:solidFill>
              <a:latin typeface="Franklin Gothic Book"/>
            </a:endParaRPr>
          </a:p>
          <a:p>
            <a:pPr lvl="6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fefac9"/>
                </a:solidFill>
                <a:latin typeface="Franklin Gothic Book"/>
              </a:rPr>
              <a:t>Seventh Outline Level</a:t>
            </a:r>
            <a:endParaRPr b="0" lang="en-US" sz="3200" spc="-1" strike="noStrike">
              <a:solidFill>
                <a:srgbClr val="fefac9"/>
              </a:solidFill>
              <a:latin typeface="Franklin Gothic Book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0" lang="en-US" sz="3600" spc="-1" strike="noStrike">
                <a:solidFill>
                  <a:srgbClr val="fefac9"/>
                </a:solidFill>
                <a:latin typeface="Franklin Gothic Medium"/>
              </a:rPr>
              <a:t>Click to edit the title text format</a:t>
            </a:r>
            <a:endParaRPr b="0" lang="en-US" sz="3600" spc="-1" strike="noStrike">
              <a:solidFill>
                <a:srgbClr val="fefac9"/>
              </a:solidFill>
              <a:latin typeface="Franklin Gothic Medium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r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sldNum"/>
          </p:nvPr>
        </p:nvSpPr>
        <p:spPr>
          <a:xfrm>
            <a:off x="8229240" y="6476760"/>
            <a:ext cx="762120" cy="24444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 algn="r"/>
            <a:fld id="{0330560E-467B-479E-A5FD-A7F5B0CDE80B}" type="slidenum"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roup 1"/>
          <p:cNvGrpSpPr/>
          <p:nvPr/>
        </p:nvGrpSpPr>
        <p:grpSpPr>
          <a:xfrm>
            <a:off x="512640" y="6016680"/>
            <a:ext cx="8637840" cy="12600"/>
            <a:chOff x="512640" y="6016680"/>
            <a:chExt cx="8637840" cy="12600"/>
          </a:xfrm>
        </p:grpSpPr>
        <p:pic>
          <p:nvPicPr>
            <p:cNvPr id="189" name="Прямая соединительная линия 12" descr=""/>
            <p:cNvPicPr/>
            <p:nvPr/>
          </p:nvPicPr>
          <p:blipFill>
            <a:blip r:embed="rId3"/>
            <a:stretch/>
          </p:blipFill>
          <p:spPr>
            <a:xfrm>
              <a:off x="512640" y="6016680"/>
              <a:ext cx="8637840" cy="126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90" name="CustomShape 2"/>
            <p:cNvSpPr/>
            <p:nvPr/>
          </p:nvSpPr>
          <p:spPr>
            <a:xfrm>
              <a:off x="514440" y="601992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1" marL="742680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Second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2" marL="11430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Third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3" marL="16002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Fourth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4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Fifth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5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Sixth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6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Seventh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0" lang="en-US" sz="3600" spc="-1" strike="noStrike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93" name="PlaceHolder 5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r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94" name="PlaceHolder 6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7"/>
          <p:cNvSpPr>
            <a:spLocks noGrp="1"/>
          </p:cNvSpPr>
          <p:nvPr>
            <p:ph type="sldNum"/>
          </p:nvPr>
        </p:nvSpPr>
        <p:spPr>
          <a:xfrm>
            <a:off x="8229240" y="6477120"/>
            <a:ext cx="762120" cy="2476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 algn="r"/>
            <a:fld id="{7DA2C3E6-5C7F-4F5A-917D-B299EBF17827}" type="slidenum"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1" marL="742680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Second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2" marL="11430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Third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3" marL="16002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Fourth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4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Fifth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5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Sixth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6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Seventh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0" lang="en-US" sz="3600" spc="-1" strike="noStrike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r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5"/>
          <p:cNvSpPr>
            <a:spLocks noGrp="1"/>
          </p:cNvSpPr>
          <p:nvPr>
            <p:ph type="sldNum"/>
          </p:nvPr>
        </p:nvSpPr>
        <p:spPr>
          <a:xfrm>
            <a:off x="8229240" y="6476760"/>
            <a:ext cx="762120" cy="24444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 algn="r"/>
            <a:fld id="{92611852-A8FD-4219-9785-C7EA683C5E81}" type="slidenum"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roup 1"/>
          <p:cNvGrpSpPr/>
          <p:nvPr/>
        </p:nvGrpSpPr>
        <p:grpSpPr>
          <a:xfrm>
            <a:off x="512640" y="5846760"/>
            <a:ext cx="8637840" cy="11160"/>
            <a:chOff x="512640" y="5846760"/>
            <a:chExt cx="8637840" cy="11160"/>
          </a:xfrm>
        </p:grpSpPr>
        <p:pic>
          <p:nvPicPr>
            <p:cNvPr id="274" name="Прямая соединительная линия 12" descr=""/>
            <p:cNvPicPr/>
            <p:nvPr/>
          </p:nvPicPr>
          <p:blipFill>
            <a:blip r:embed="rId3"/>
            <a:stretch/>
          </p:blipFill>
          <p:spPr>
            <a:xfrm>
              <a:off x="512640" y="5846760"/>
              <a:ext cx="8637840" cy="1116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5" name="CustomShape 2"/>
            <p:cNvSpPr/>
            <p:nvPr/>
          </p:nvSpPr>
          <p:spPr>
            <a:xfrm>
              <a:off x="514440" y="584820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76" name="PlaceHolder 3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1" marL="742680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Second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2" marL="11430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Third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3" marL="16002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Fourth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4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Fifth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5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Sixth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6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Seventh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77" name="PlaceHolder 4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0" lang="en-US" sz="3600" spc="-1" strike="noStrike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78" name="PlaceHolder 5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r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79" name="PlaceHolder 6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7"/>
          <p:cNvSpPr>
            <a:spLocks noGrp="1"/>
          </p:cNvSpPr>
          <p:nvPr>
            <p:ph type="sldNum"/>
          </p:nvPr>
        </p:nvSpPr>
        <p:spPr>
          <a:xfrm>
            <a:off x="8229240" y="6476760"/>
            <a:ext cx="762120" cy="24444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 algn="r"/>
            <a:fld id="{BEAE1179-4BD5-49C5-AB8B-ABE6020A6B0F}" type="slidenum"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1" marL="742680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Second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2" marL="11430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Third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3" marL="16002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Fourth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4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Fifth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5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Sixth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6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Seventh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0" lang="en-US" sz="3600" spc="-1" strike="noStrike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r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5"/>
          <p:cNvSpPr>
            <a:spLocks noGrp="1"/>
          </p:cNvSpPr>
          <p:nvPr>
            <p:ph type="sldNum"/>
          </p:nvPr>
        </p:nvSpPr>
        <p:spPr>
          <a:xfrm>
            <a:off x="8229240" y="6476760"/>
            <a:ext cx="762120" cy="24444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 algn="r"/>
            <a:fld id="{AFDFD4DE-2977-4E39-B627-6BEEB7E0B441}" type="slidenum"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1" marL="742680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Second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2" marL="11430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Third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3" marL="1600200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Fourth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4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Fifth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5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Sixth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  <a:p>
            <a:pPr lvl="6" marL="2057400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b="0" lang="en-US" sz="3200" spc="-1" strike="noStrike">
                <a:solidFill>
                  <a:srgbClr val="444d26"/>
                </a:solidFill>
                <a:latin typeface="Franklin Gothic Book"/>
              </a:rPr>
              <a:t>Seventh Outline Level</a:t>
            </a:r>
            <a:endParaRPr b="0" lang="en-US" sz="3200" spc="-1" strike="noStrike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r>
              <a:rPr b="0" lang="en-US" sz="3600" spc="-1" strike="noStrike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  <a:endParaRPr b="0" lang="en-US" sz="36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r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361" name="PlaceHolder 4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5"/>
          <p:cNvSpPr>
            <a:spLocks noGrp="1"/>
          </p:cNvSpPr>
          <p:nvPr>
            <p:ph type="sldNum"/>
          </p:nvPr>
        </p:nvSpPr>
        <p:spPr>
          <a:xfrm>
            <a:off x="8229240" y="6476760"/>
            <a:ext cx="762120" cy="24444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 algn="r"/>
            <a:fld id="{DAE6AAA8-1E19-4348-9431-30D2002E4510}" type="slidenum">
              <a:rPr b="0" lang="ru-RU" sz="1200" spc="-1" strike="noStrike">
                <a:solidFill>
                  <a:srgbClr val="919f80"/>
                </a:solidFill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1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22.wmf"/><Relationship Id="rId5" Type="http://schemas.openxmlformats.org/officeDocument/2006/relationships/image" Target="../media/image23.png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oleObject" Target="../embeddings/oleObject1.bin"/><Relationship Id="rId4" Type="http://schemas.openxmlformats.org/officeDocument/2006/relationships/image" Target="../media/image27.wmf"/><Relationship Id="rId5" Type="http://schemas.openxmlformats.org/officeDocument/2006/relationships/image" Target="../media/image28.png"/><Relationship Id="rId6" Type="http://schemas.openxmlformats.org/officeDocument/2006/relationships/oleObject" Target="../embeddings/oleObject2.bin"/><Relationship Id="rId7" Type="http://schemas.openxmlformats.org/officeDocument/2006/relationships/image" Target="../media/image29.wmf"/><Relationship Id="rId8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45.wmf"/><Relationship Id="rId6" Type="http://schemas.openxmlformats.org/officeDocument/2006/relationships/image" Target="../media/image46.png"/><Relationship Id="rId7" Type="http://schemas.openxmlformats.org/officeDocument/2006/relationships/oleObject" Target="../embeddings/oleObject2.bin"/><Relationship Id="rId8" Type="http://schemas.openxmlformats.org/officeDocument/2006/relationships/image" Target="../media/image47.wmf"/><Relationship Id="rId9" Type="http://schemas.openxmlformats.org/officeDocument/2006/relationships/oleObject" Target="../embeddings/oleObject3.bin"/><Relationship Id="rId10" Type="http://schemas.openxmlformats.org/officeDocument/2006/relationships/image" Target="../media/image48.wmf"/><Relationship Id="rId11" Type="http://schemas.openxmlformats.org/officeDocument/2006/relationships/image" Target="../media/image49.png"/><Relationship Id="rId12" Type="http://schemas.openxmlformats.org/officeDocument/2006/relationships/oleObject" Target="../embeddings/oleObject4.bin"/><Relationship Id="rId13" Type="http://schemas.openxmlformats.org/officeDocument/2006/relationships/image" Target="../media/image50.wmf"/><Relationship Id="rId14" Type="http://schemas.openxmlformats.org/officeDocument/2006/relationships/image" Target="../media/image51.png"/><Relationship Id="rId15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5.wmf"/><Relationship Id="rId6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Заголовок 1" descr=""/>
          <p:cNvPicPr/>
          <p:nvPr/>
        </p:nvPicPr>
        <p:blipFill>
          <a:blip r:embed="rId1"/>
          <a:stretch/>
        </p:blipFill>
        <p:spPr>
          <a:xfrm>
            <a:off x="189000" y="4761000"/>
            <a:ext cx="8650080" cy="1315800"/>
          </a:xfrm>
          <a:prstGeom prst="rect">
            <a:avLst/>
          </a:prstGeom>
          <a:ln>
            <a:noFill/>
          </a:ln>
        </p:spPr>
      </p:pic>
      <p:sp>
        <p:nvSpPr>
          <p:cNvPr id="400" name="TextShape 1"/>
          <p:cNvSpPr txBox="1"/>
          <p:nvPr/>
        </p:nvSpPr>
        <p:spPr>
          <a:xfrm>
            <a:off x="323640" y="5084640"/>
            <a:ext cx="8458200" cy="91440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>
              <a:spcBef>
                <a:spcPts val="598"/>
              </a:spcBef>
            </a:pPr>
            <a:r>
              <a:rPr b="0" lang="ru-RU" sz="2400" spc="-1" strike="noStrike">
                <a:solidFill>
                  <a:srgbClr val="3b4320"/>
                </a:solidFill>
                <a:latin typeface="Franklin Gothic Book"/>
              </a:rPr>
              <a:t>Воздействие сигнала и шума на линейный АД</a:t>
            </a:r>
            <a:endParaRPr b="0" lang="en-US" sz="2400" spc="-1" strike="noStrike">
              <a:solidFill>
                <a:srgbClr val="444d26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CustomShape 1"/>
          <p:cNvSpPr/>
          <p:nvPr/>
        </p:nvSpPr>
        <p:spPr>
          <a:xfrm>
            <a:off x="468360" y="260280"/>
            <a:ext cx="842472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444d26"/>
                </a:solidFill>
                <a:latin typeface="Franklin Gothic Book"/>
              </a:rPr>
              <a:t>Шум на выходе БВЧ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3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4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CustomShape 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8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9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1" name="CustomShape 1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2" name="CustomShap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3" name="CustomShape 1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CustomShap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CustomShape 1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6" name="CustomShape 1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7" name="CustomShape 1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CustomShape 1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9" name="CustomShape 19"/>
          <p:cNvSpPr/>
          <p:nvPr/>
        </p:nvSpPr>
        <p:spPr>
          <a:xfrm>
            <a:off x="324000" y="1125360"/>
            <a:ext cx="3384360" cy="1581480"/>
          </a:xfrm>
          <a:custGeom>
            <a:avLst/>
            <a:gdLst/>
            <a:ahLst/>
            <a:rect l="0" t="0" r="r" b="b"/>
            <a:pathLst>
              <a:path w="9403" h="4395">
                <a:moveTo>
                  <a:pt x="732" y="0"/>
                </a:moveTo>
                <a:cubicBezTo>
                  <a:pt x="366" y="0"/>
                  <a:pt x="0" y="366"/>
                  <a:pt x="0" y="732"/>
                </a:cubicBezTo>
                <a:lnTo>
                  <a:pt x="0" y="3661"/>
                </a:lnTo>
                <a:cubicBezTo>
                  <a:pt x="0" y="4027"/>
                  <a:pt x="366" y="4394"/>
                  <a:pt x="732" y="4394"/>
                </a:cubicBezTo>
                <a:lnTo>
                  <a:pt x="8669" y="4394"/>
                </a:lnTo>
                <a:cubicBezTo>
                  <a:pt x="9035" y="4394"/>
                  <a:pt x="9402" y="4027"/>
                  <a:pt x="9402" y="3661"/>
                </a:cubicBezTo>
                <a:lnTo>
                  <a:pt x="9402" y="732"/>
                </a:lnTo>
                <a:cubicBezTo>
                  <a:pt x="9402" y="366"/>
                  <a:pt x="9035" y="0"/>
                  <a:pt x="8669" y="0"/>
                </a:cubicBezTo>
                <a:lnTo>
                  <a:pt x="732" y="0"/>
                </a:lnTo>
              </a:path>
            </a:pathLst>
          </a:custGeom>
          <a:solidFill>
            <a:srgbClr val="ffffff"/>
          </a:solidFill>
          <a:ln w="19080">
            <a:solidFill>
              <a:srgbClr val="a5b592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20" name="Group 20"/>
          <p:cNvGrpSpPr/>
          <p:nvPr/>
        </p:nvGrpSpPr>
        <p:grpSpPr>
          <a:xfrm>
            <a:off x="633960" y="1197000"/>
            <a:ext cx="3011040" cy="1272600"/>
            <a:chOff x="633960" y="1197000"/>
            <a:chExt cx="3011040" cy="1272600"/>
          </a:xfrm>
        </p:grpSpPr>
        <p:graphicFrame>
          <p:nvGraphicFramePr>
            <p:cNvPr id="421" name="Object 21"/>
            <p:cNvGraphicFramePr/>
            <p:nvPr/>
          </p:nvGraphicFramePr>
          <p:xfrm>
            <a:off x="900360" y="1197000"/>
            <a:ext cx="2090160" cy="813600"/>
          </p:xfrm>
          <a:graphic>
            <a:graphicData uri="http://schemas.openxmlformats.org/presentationml/2006/ole">
              <p:oleObj r:id="rId1" spid="">
                <p:embed/>
                <p:pic>
                  <p:nvPicPr>
                    <p:cNvPr id="422" name="Object 19" descr=""/>
                    <p:cNvPicPr/>
                    <p:nvPr/>
                  </p:nvPicPr>
                  <p:blipFill>
                    <a:blip r:embed="rId2"/>
                    <a:stretch/>
                  </p:blipFill>
                  <p:spPr>
                    <a:xfrm>
                      <a:off x="900360" y="1197000"/>
                      <a:ext cx="2090160" cy="81360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</p:pic>
              </p:oleObj>
            </a:graphicData>
          </a:graphic>
        </p:graphicFrame>
        <p:sp>
          <p:nvSpPr>
            <p:cNvPr id="423" name="CustomShape 22"/>
            <p:cNvSpPr/>
            <p:nvPr/>
          </p:nvSpPr>
          <p:spPr>
            <a:xfrm>
              <a:off x="633960" y="2132280"/>
              <a:ext cx="3011040" cy="3373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>
              <a:spAutoFit/>
            </a:bodyPr>
            <a:p>
              <a:pPr>
                <a:lnSpc>
                  <a:spcPct val="100000"/>
                </a:lnSpc>
              </a:pPr>
              <a:r>
                <a:rPr b="0" lang="ru-RU" sz="1600" spc="-1" strike="noStrike">
                  <a:solidFill>
                    <a:srgbClr val="000000"/>
                  </a:solidFill>
                  <a:latin typeface="Franklin Gothic Book"/>
                </a:rPr>
                <a:t>Нормальное</a:t>
              </a:r>
              <a:r>
                <a:rPr b="0" lang="ru-RU" sz="1600" spc="-1" strike="noStrike">
                  <a:solidFill>
                    <a:srgbClr val="000000"/>
                  </a:solidFill>
                  <a:latin typeface="Arial"/>
                </a:rPr>
                <a:t> распределение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24" name="CustomShape 23"/>
          <p:cNvSpPr/>
          <p:nvPr/>
        </p:nvSpPr>
        <p:spPr>
          <a:xfrm>
            <a:off x="324000" y="2781360"/>
            <a:ext cx="3384360" cy="1511280"/>
          </a:xfrm>
          <a:custGeom>
            <a:avLst/>
            <a:gdLst/>
            <a:ahLst/>
            <a:rect l="0" t="0" r="r" b="b"/>
            <a:pathLst>
              <a:path w="9403" h="4200">
                <a:moveTo>
                  <a:pt x="699" y="0"/>
                </a:moveTo>
                <a:cubicBezTo>
                  <a:pt x="349" y="0"/>
                  <a:pt x="0" y="349"/>
                  <a:pt x="0" y="699"/>
                </a:cubicBezTo>
                <a:lnTo>
                  <a:pt x="0" y="3499"/>
                </a:lnTo>
                <a:cubicBezTo>
                  <a:pt x="0" y="3849"/>
                  <a:pt x="349" y="4199"/>
                  <a:pt x="699" y="4199"/>
                </a:cubicBezTo>
                <a:lnTo>
                  <a:pt x="8702" y="4199"/>
                </a:lnTo>
                <a:cubicBezTo>
                  <a:pt x="9052" y="4199"/>
                  <a:pt x="9402" y="3849"/>
                  <a:pt x="9402" y="3499"/>
                </a:cubicBezTo>
                <a:lnTo>
                  <a:pt x="9402" y="699"/>
                </a:lnTo>
                <a:cubicBezTo>
                  <a:pt x="9402" y="349"/>
                  <a:pt x="9052" y="0"/>
                  <a:pt x="8702" y="0"/>
                </a:cubicBezTo>
                <a:lnTo>
                  <a:pt x="699" y="0"/>
                </a:lnTo>
              </a:path>
            </a:pathLst>
          </a:custGeom>
          <a:solidFill>
            <a:srgbClr val="ffffff"/>
          </a:solidFill>
          <a:ln w="19080">
            <a:solidFill>
              <a:srgbClr val="a5b592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25" name="Group 24"/>
          <p:cNvGrpSpPr/>
          <p:nvPr/>
        </p:nvGrpSpPr>
        <p:grpSpPr>
          <a:xfrm>
            <a:off x="539640" y="2852640"/>
            <a:ext cx="2960640" cy="1274040"/>
            <a:chOff x="539640" y="2852640"/>
            <a:chExt cx="2960640" cy="1274040"/>
          </a:xfrm>
        </p:grpSpPr>
        <p:graphicFrame>
          <p:nvGraphicFramePr>
            <p:cNvPr id="426" name="Object 25"/>
            <p:cNvGraphicFramePr/>
            <p:nvPr/>
          </p:nvGraphicFramePr>
          <p:xfrm>
            <a:off x="539640" y="2852640"/>
            <a:ext cx="2960640" cy="792360"/>
          </p:xfrm>
          <a:graphic>
            <a:graphicData uri="http://schemas.openxmlformats.org/presentationml/2006/ole">
              <p:oleObj r:id="rId3" spid="">
                <p:embed/>
                <p:pic>
                  <p:nvPicPr>
                    <p:cNvPr id="427" name="Object 21" descr=""/>
                    <p:cNvPicPr/>
                    <p:nvPr/>
                  </p:nvPicPr>
                  <p:blipFill>
                    <a:blip r:embed="rId4"/>
                    <a:stretch/>
                  </p:blipFill>
                  <p:spPr>
                    <a:xfrm>
                      <a:off x="539640" y="2852640"/>
                      <a:ext cx="2960640" cy="79236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</p:pic>
              </p:oleObj>
            </a:graphicData>
          </a:graphic>
        </p:graphicFrame>
        <p:sp>
          <p:nvSpPr>
            <p:cNvPr id="428" name="CustomShape 26"/>
            <p:cNvSpPr/>
            <p:nvPr/>
          </p:nvSpPr>
          <p:spPr>
            <a:xfrm>
              <a:off x="756720" y="3789360"/>
              <a:ext cx="2478960" cy="3373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>
              <a:spAutoFit/>
            </a:bodyPr>
            <a:p>
              <a:pPr>
                <a:lnSpc>
                  <a:spcPct val="100000"/>
                </a:lnSpc>
              </a:pPr>
              <a:r>
                <a:rPr b="0" lang="ru-RU" sz="1600" spc="-1" strike="noStrike">
                  <a:solidFill>
                    <a:srgbClr val="000000"/>
                  </a:solidFill>
                  <a:latin typeface="Franklin Gothic Book"/>
                </a:rPr>
                <a:t>Распределение</a:t>
              </a:r>
              <a:r>
                <a:rPr b="0" lang="ru-RU" sz="1600" spc="-1" strike="noStrike">
                  <a:solidFill>
                    <a:srgbClr val="000000"/>
                  </a:solidFill>
                  <a:latin typeface="Arial"/>
                </a:rPr>
                <a:t> Релея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9" name="Group 27"/>
          <p:cNvGrpSpPr/>
          <p:nvPr/>
        </p:nvGrpSpPr>
        <p:grpSpPr>
          <a:xfrm>
            <a:off x="176040" y="4363920"/>
            <a:ext cx="6267600" cy="793800"/>
            <a:chOff x="176040" y="4363920"/>
            <a:chExt cx="6267600" cy="793800"/>
          </a:xfrm>
        </p:grpSpPr>
        <p:pic>
          <p:nvPicPr>
            <p:cNvPr id="430" name="Прямоугольник 50" descr=""/>
            <p:cNvPicPr/>
            <p:nvPr/>
          </p:nvPicPr>
          <p:blipFill>
            <a:blip r:embed="rId5"/>
            <a:stretch/>
          </p:blipFill>
          <p:spPr>
            <a:xfrm>
              <a:off x="176040" y="4363920"/>
              <a:ext cx="6267600" cy="793800"/>
            </a:xfrm>
            <a:prstGeom prst="rect">
              <a:avLst/>
            </a:prstGeom>
            <a:ln>
              <a:noFill/>
            </a:ln>
          </p:spPr>
        </p:pic>
        <p:sp>
          <p:nvSpPr>
            <p:cNvPr id="431" name="CustomShape 28"/>
            <p:cNvSpPr/>
            <p:nvPr/>
          </p:nvSpPr>
          <p:spPr>
            <a:xfrm>
              <a:off x="250920" y="4437000"/>
              <a:ext cx="6121440" cy="6476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32" name="CustomShape 29"/>
          <p:cNvSpPr/>
          <p:nvPr/>
        </p:nvSpPr>
        <p:spPr>
          <a:xfrm>
            <a:off x="-136800" y="4581360"/>
            <a:ext cx="6485400" cy="405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spAutoFit/>
          </a:bodyPr>
          <a:p>
            <a:pPr/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ru-RU" sz="1800" spc="-1" strike="noStrike" baseline="-25000">
                <a:solidFill>
                  <a:srgbClr val="000000"/>
                </a:solidFill>
                <a:latin typeface="Arial"/>
              </a:rPr>
              <a:t>ш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- эффективное напряжение шума на выходе БВЧ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CustomShape 30"/>
          <p:cNvSpPr/>
          <p:nvPr/>
        </p:nvSpPr>
        <p:spPr>
          <a:xfrm>
            <a:off x="3557520" y="1700280"/>
            <a:ext cx="272124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- шум на выходе БВЧ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CustomShape 31"/>
          <p:cNvSpPr/>
          <p:nvPr/>
        </p:nvSpPr>
        <p:spPr>
          <a:xfrm>
            <a:off x="3432600" y="3357720"/>
            <a:ext cx="430920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- огибающая шума на выходе БВЧ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CustomShape 1"/>
          <p:cNvSpPr/>
          <p:nvPr/>
        </p:nvSpPr>
        <p:spPr>
          <a:xfrm>
            <a:off x="455760" y="220680"/>
            <a:ext cx="842472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444d26"/>
                </a:solidFill>
                <a:latin typeface="Franklin Gothic Book"/>
              </a:rPr>
              <a:t>Задача </a:t>
            </a:r>
            <a:r>
              <a:rPr b="1" lang="en-US" sz="3200" spc="-1" strike="noStrike">
                <a:solidFill>
                  <a:srgbClr val="444d26"/>
                </a:solidFill>
                <a:latin typeface="Franklin Gothic Book"/>
              </a:rPr>
              <a:t>2</a:t>
            </a:r>
            <a:r>
              <a:rPr b="1" lang="ru-RU" sz="3200" spc="-1" strike="noStrike">
                <a:solidFill>
                  <a:srgbClr val="444d26"/>
                </a:solidFill>
                <a:latin typeface="Franklin Gothic Book"/>
              </a:rPr>
              <a:t>-1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7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9" name="CustomShape 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0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3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4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5" name="CustomShape 1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6" name="CustomShap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7" name="CustomShape 1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CustomShap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CustomShape 1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0" name="CustomShape 1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1" name="CustomShape 1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2" name="CustomShape 1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3" name="CustomShap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4" name="CustomShape 2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55" name="Group 21"/>
          <p:cNvGrpSpPr/>
          <p:nvPr/>
        </p:nvGrpSpPr>
        <p:grpSpPr>
          <a:xfrm>
            <a:off x="103320" y="1054080"/>
            <a:ext cx="8864640" cy="2232000"/>
            <a:chOff x="103320" y="1054080"/>
            <a:chExt cx="8864640" cy="2232000"/>
          </a:xfrm>
        </p:grpSpPr>
        <p:pic>
          <p:nvPicPr>
            <p:cNvPr id="456" name="Прямоугольник 30" descr=""/>
            <p:cNvPicPr/>
            <p:nvPr/>
          </p:nvPicPr>
          <p:blipFill>
            <a:blip r:embed="rId1"/>
            <a:stretch/>
          </p:blipFill>
          <p:spPr>
            <a:xfrm>
              <a:off x="103320" y="1054080"/>
              <a:ext cx="8864640" cy="2232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457" name="CustomShape 22"/>
            <p:cNvSpPr/>
            <p:nvPr/>
          </p:nvSpPr>
          <p:spPr>
            <a:xfrm>
              <a:off x="179280" y="1125360"/>
              <a:ext cx="8713800" cy="20876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58" name="CustomShape 23"/>
          <p:cNvSpPr/>
          <p:nvPr/>
        </p:nvSpPr>
        <p:spPr>
          <a:xfrm>
            <a:off x="179280" y="1197000"/>
            <a:ext cx="8569440" cy="2284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На входе преселектора с шумовой полосой пропускания  1 МГц и коэффициентом передачи проходной мощности 6 дБ действует приведённый шум со спектральной плотностью 5·10</a:t>
            </a:r>
            <a:r>
              <a:rPr b="0" lang="ru-RU" sz="1600" spc="-1" strike="noStrike" baseline="30000">
                <a:solidFill>
                  <a:srgbClr val="000000"/>
                </a:solidFill>
                <a:latin typeface="Franklin Gothic Book"/>
              </a:rPr>
              <a:t>-19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 Вт/Гц. Сопротивление нагрузки преселектора 50 Ом. Записать в численном виде выражение для плотности вероятности мгновенных значений: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Franklin Gothic Book"/>
              <a:buAutoNum type="alphaLcParenR"/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напряжения шума на выходе преселектора;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Franklin Gothic Book"/>
              <a:buAutoNum type="alphaLcParenR"/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огибающей шума на выходе преселектора.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Изобразить графики этих плотностей вероятности.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CustomShape 1"/>
          <p:cNvSpPr/>
          <p:nvPr/>
        </p:nvSpPr>
        <p:spPr>
          <a:xfrm>
            <a:off x="468360" y="260280"/>
            <a:ext cx="842472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444d26"/>
                </a:solidFill>
                <a:latin typeface="Franklin Gothic Book"/>
              </a:rPr>
              <a:t>Задача </a:t>
            </a:r>
            <a:r>
              <a:rPr b="1" lang="en-US" sz="3200" spc="-1" strike="noStrike">
                <a:solidFill>
                  <a:srgbClr val="444d26"/>
                </a:solidFill>
                <a:latin typeface="Franklin Gothic Book"/>
              </a:rPr>
              <a:t>2</a:t>
            </a:r>
            <a:r>
              <a:rPr b="1" lang="ru-RU" sz="3200" spc="-1" strike="noStrike">
                <a:solidFill>
                  <a:srgbClr val="444d26"/>
                </a:solidFill>
                <a:latin typeface="Franklin Gothic Book"/>
              </a:rPr>
              <a:t>-2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1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2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3" name="CustomShape 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4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5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6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7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8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9" name="CustomShape 1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0" name="CustomShap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1" name="CustomShape 1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2" name="CustomShap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3" name="CustomShape 1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4" name="CustomShape 1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5" name="CustomShape 1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6" name="CustomShape 1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7" name="CustomShap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8" name="CustomShape 2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79" name="Group 21"/>
          <p:cNvGrpSpPr/>
          <p:nvPr/>
        </p:nvGrpSpPr>
        <p:grpSpPr>
          <a:xfrm>
            <a:off x="103320" y="1054080"/>
            <a:ext cx="8864640" cy="1152720"/>
            <a:chOff x="103320" y="1054080"/>
            <a:chExt cx="8864640" cy="1152720"/>
          </a:xfrm>
        </p:grpSpPr>
        <p:pic>
          <p:nvPicPr>
            <p:cNvPr id="480" name="Прямоугольник 23" descr=""/>
            <p:cNvPicPr/>
            <p:nvPr/>
          </p:nvPicPr>
          <p:blipFill>
            <a:blip r:embed="rId1"/>
            <a:stretch/>
          </p:blipFill>
          <p:spPr>
            <a:xfrm>
              <a:off x="103320" y="1054080"/>
              <a:ext cx="8864640" cy="1152720"/>
            </a:xfrm>
            <a:prstGeom prst="rect">
              <a:avLst/>
            </a:prstGeom>
            <a:ln>
              <a:noFill/>
            </a:ln>
          </p:spPr>
        </p:pic>
        <p:sp>
          <p:nvSpPr>
            <p:cNvPr id="481" name="CustomShape 22"/>
            <p:cNvSpPr/>
            <p:nvPr/>
          </p:nvSpPr>
          <p:spPr>
            <a:xfrm>
              <a:off x="179280" y="1125360"/>
              <a:ext cx="8713800" cy="1008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82" name="CustomShape 23"/>
          <p:cNvSpPr/>
          <p:nvPr/>
        </p:nvSpPr>
        <p:spPr>
          <a:xfrm>
            <a:off x="179280" y="1197000"/>
            <a:ext cx="8569440" cy="824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При действии на входе линейного АД квазигармонического шума среднее значение выходного напряжения равно 0,1 В. Чему равно эффективное (среднеквадратическое) напряжение шума на выходе АД?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83" name="Group 24"/>
          <p:cNvGrpSpPr/>
          <p:nvPr/>
        </p:nvGrpSpPr>
        <p:grpSpPr>
          <a:xfrm>
            <a:off x="103320" y="2206800"/>
            <a:ext cx="3030480" cy="865080"/>
            <a:chOff x="103320" y="2206800"/>
            <a:chExt cx="3030480" cy="865080"/>
          </a:xfrm>
        </p:grpSpPr>
        <p:pic>
          <p:nvPicPr>
            <p:cNvPr id="484" name="Прямоугольник 29" descr=""/>
            <p:cNvPicPr/>
            <p:nvPr/>
          </p:nvPicPr>
          <p:blipFill>
            <a:blip r:embed="rId2"/>
            <a:stretch/>
          </p:blipFill>
          <p:spPr>
            <a:xfrm>
              <a:off x="103320" y="2206800"/>
              <a:ext cx="3030480" cy="865080"/>
            </a:xfrm>
            <a:prstGeom prst="rect">
              <a:avLst/>
            </a:prstGeom>
            <a:ln>
              <a:noFill/>
            </a:ln>
          </p:spPr>
        </p:pic>
        <p:sp>
          <p:nvSpPr>
            <p:cNvPr id="485" name="CustomShape 25"/>
            <p:cNvSpPr/>
            <p:nvPr/>
          </p:nvSpPr>
          <p:spPr>
            <a:xfrm>
              <a:off x="179280" y="2276640"/>
              <a:ext cx="2880000" cy="720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aphicFrame>
        <p:nvGraphicFramePr>
          <p:cNvPr id="486" name="Object 26"/>
          <p:cNvGraphicFramePr/>
          <p:nvPr/>
        </p:nvGraphicFramePr>
        <p:xfrm>
          <a:off x="250920" y="2276640"/>
          <a:ext cx="2663640" cy="69372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487" name="Object 4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250920" y="2276640"/>
                    <a:ext cx="2663640" cy="693720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</p:oleObj>
          </a:graphicData>
        </a:graphic>
      </p:graphicFrame>
      <p:sp>
        <p:nvSpPr>
          <p:cNvPr id="488" name="CustomShape 27"/>
          <p:cNvSpPr/>
          <p:nvPr/>
        </p:nvSpPr>
        <p:spPr>
          <a:xfrm>
            <a:off x="2612160" y="2492280"/>
            <a:ext cx="5231160" cy="33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- Среднее значение напряжения на выходе АД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89" name="Group 28"/>
          <p:cNvGrpSpPr/>
          <p:nvPr/>
        </p:nvGrpSpPr>
        <p:grpSpPr>
          <a:xfrm>
            <a:off x="103320" y="2992320"/>
            <a:ext cx="3030480" cy="798480"/>
            <a:chOff x="103320" y="2992320"/>
            <a:chExt cx="3030480" cy="798480"/>
          </a:xfrm>
        </p:grpSpPr>
        <p:pic>
          <p:nvPicPr>
            <p:cNvPr id="490" name="Прямоугольник 32" descr=""/>
            <p:cNvPicPr/>
            <p:nvPr/>
          </p:nvPicPr>
          <p:blipFill>
            <a:blip r:embed="rId5"/>
            <a:stretch/>
          </p:blipFill>
          <p:spPr>
            <a:xfrm>
              <a:off x="103320" y="2992320"/>
              <a:ext cx="3030480" cy="798480"/>
            </a:xfrm>
            <a:prstGeom prst="rect">
              <a:avLst/>
            </a:prstGeom>
            <a:ln>
              <a:noFill/>
            </a:ln>
          </p:spPr>
        </p:pic>
        <p:sp>
          <p:nvSpPr>
            <p:cNvPr id="491" name="CustomShape 29"/>
            <p:cNvSpPr/>
            <p:nvPr/>
          </p:nvSpPr>
          <p:spPr>
            <a:xfrm>
              <a:off x="179280" y="3068640"/>
              <a:ext cx="2880000" cy="6476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aphicFrame>
        <p:nvGraphicFramePr>
          <p:cNvPr id="492" name="Object 30"/>
          <p:cNvGraphicFramePr/>
          <p:nvPr/>
        </p:nvGraphicFramePr>
        <p:xfrm>
          <a:off x="250920" y="3068640"/>
          <a:ext cx="2736720" cy="600120"/>
        </p:xfrm>
        <a:graphic>
          <a:graphicData uri="http://schemas.openxmlformats.org/presentationml/2006/ole">
            <p:oleObj r:id="rId6" spid="">
              <p:embed/>
              <p:pic>
                <p:nvPicPr>
                  <p:cNvPr id="493" name="Object 6" descr=""/>
                  <p:cNvPicPr/>
                  <p:nvPr/>
                </p:nvPicPr>
                <p:blipFill>
                  <a:blip r:embed="rId7"/>
                  <a:stretch/>
                </p:blipFill>
                <p:spPr>
                  <a:xfrm>
                    <a:off x="250920" y="3068640"/>
                    <a:ext cx="2736720" cy="600120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</p:oleObj>
          </a:graphicData>
        </a:graphic>
      </p:graphicFrame>
      <p:sp>
        <p:nvSpPr>
          <p:cNvPr id="494" name="CustomShape 31"/>
          <p:cNvSpPr/>
          <p:nvPr/>
        </p:nvSpPr>
        <p:spPr>
          <a:xfrm>
            <a:off x="2476440" y="3213000"/>
            <a:ext cx="6569280" cy="33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- Эффективное (среднеквадратическое) напряжение шума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Заголовок 1" descr=""/>
          <p:cNvPicPr/>
          <p:nvPr/>
        </p:nvPicPr>
        <p:blipFill>
          <a:blip r:embed="rId1"/>
          <a:stretch/>
        </p:blipFill>
        <p:spPr>
          <a:xfrm>
            <a:off x="0" y="365040"/>
            <a:ext cx="9174240" cy="1146240"/>
          </a:xfrm>
          <a:prstGeom prst="rect">
            <a:avLst/>
          </a:prstGeom>
          <a:ln>
            <a:noFill/>
          </a:ln>
        </p:spPr>
      </p:pic>
      <p:sp>
        <p:nvSpPr>
          <p:cNvPr id="496" name="CustomShape 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7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8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9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0" name="CustomShape 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1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2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3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4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5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6" name="CustomShape 1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7" name="CustomShap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08" name="Group 13"/>
          <p:cNvGrpSpPr/>
          <p:nvPr/>
        </p:nvGrpSpPr>
        <p:grpSpPr>
          <a:xfrm>
            <a:off x="103320" y="1414440"/>
            <a:ext cx="8937360" cy="1225440"/>
            <a:chOff x="103320" y="1414440"/>
            <a:chExt cx="8937360" cy="1225440"/>
          </a:xfrm>
        </p:grpSpPr>
        <p:pic>
          <p:nvPicPr>
            <p:cNvPr id="509" name="Прямоугольник 21" descr=""/>
            <p:cNvPicPr/>
            <p:nvPr/>
          </p:nvPicPr>
          <p:blipFill>
            <a:blip r:embed="rId2"/>
            <a:stretch/>
          </p:blipFill>
          <p:spPr>
            <a:xfrm>
              <a:off x="103320" y="1414440"/>
              <a:ext cx="8937360" cy="1225440"/>
            </a:xfrm>
            <a:prstGeom prst="rect">
              <a:avLst/>
            </a:prstGeom>
            <a:ln>
              <a:noFill/>
            </a:ln>
          </p:spPr>
        </p:pic>
        <p:sp>
          <p:nvSpPr>
            <p:cNvPr id="510" name="CustomShape 14"/>
            <p:cNvSpPr/>
            <p:nvPr/>
          </p:nvSpPr>
          <p:spPr>
            <a:xfrm>
              <a:off x="179280" y="1484280"/>
              <a:ext cx="8785440" cy="1081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11" name="CustomShape 15"/>
          <p:cNvSpPr/>
          <p:nvPr/>
        </p:nvSpPr>
        <p:spPr>
          <a:xfrm>
            <a:off x="324000" y="1557360"/>
            <a:ext cx="8496000" cy="1191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just"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Учитывая, что в модели эффективное напряжение шума на входе АД принято равным 0,1 В, рассчитать значение коэффициента передачи АД, при котором среднее значение выходного напряжения равно 0,1 В.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12" name="Group 16"/>
          <p:cNvGrpSpPr/>
          <p:nvPr/>
        </p:nvGrpSpPr>
        <p:grpSpPr>
          <a:xfrm>
            <a:off x="103320" y="2633760"/>
            <a:ext cx="8937360" cy="1298520"/>
            <a:chOff x="103320" y="2633760"/>
            <a:chExt cx="8937360" cy="1298520"/>
          </a:xfrm>
        </p:grpSpPr>
        <p:pic>
          <p:nvPicPr>
            <p:cNvPr id="513" name="Прямоугольник 17" descr=""/>
            <p:cNvPicPr/>
            <p:nvPr/>
          </p:nvPicPr>
          <p:blipFill>
            <a:blip r:embed="rId3"/>
            <a:stretch/>
          </p:blipFill>
          <p:spPr>
            <a:xfrm>
              <a:off x="103320" y="2633760"/>
              <a:ext cx="8937360" cy="1298520"/>
            </a:xfrm>
            <a:prstGeom prst="rect">
              <a:avLst/>
            </a:prstGeom>
            <a:ln>
              <a:noFill/>
            </a:ln>
          </p:spPr>
        </p:pic>
        <p:sp>
          <p:nvSpPr>
            <p:cNvPr id="514" name="CustomShape 17"/>
            <p:cNvSpPr/>
            <p:nvPr/>
          </p:nvSpPr>
          <p:spPr>
            <a:xfrm>
              <a:off x="179280" y="2708280"/>
              <a:ext cx="8785440" cy="1152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15" name="CustomShape 18"/>
          <p:cNvSpPr/>
          <p:nvPr/>
        </p:nvSpPr>
        <p:spPr>
          <a:xfrm>
            <a:off x="250920" y="2637000"/>
            <a:ext cx="8893080" cy="1499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1" i="1" lang="ru-RU" sz="1600" spc="-1" strike="noStrike" u="sng">
                <a:solidFill>
                  <a:srgbClr val="000000"/>
                </a:solidFill>
                <a:uFillTx/>
                <a:latin typeface="Franklin Gothic Book"/>
              </a:rPr>
              <a:t>Провести моделирование: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 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Задать найденное значение К</a:t>
            </a:r>
            <a:r>
              <a:rPr b="0" lang="ru-RU" sz="1600" spc="-1" strike="noStrike" baseline="-25000">
                <a:solidFill>
                  <a:srgbClr val="000000"/>
                </a:solidFill>
                <a:latin typeface="Franklin Gothic Book"/>
              </a:rPr>
              <a:t>д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ru-RU" sz="1600" spc="-1" strike="noStrike" baseline="-25000">
                <a:solidFill>
                  <a:srgbClr val="000000"/>
                </a:solidFill>
                <a:latin typeface="Franklin Gothic Book"/>
              </a:rPr>
              <a:t> 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Сопоставить измеренные значения среднего напряжения и СКО (эффективного напряжения) на выходе АД с теоретическими.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Заголовок 1" descr=""/>
          <p:cNvPicPr/>
          <p:nvPr/>
        </p:nvPicPr>
        <p:blipFill>
          <a:blip r:embed="rId1"/>
          <a:stretch/>
        </p:blipFill>
        <p:spPr>
          <a:xfrm>
            <a:off x="274680" y="189000"/>
            <a:ext cx="8869320" cy="1218960"/>
          </a:xfrm>
          <a:prstGeom prst="rect">
            <a:avLst/>
          </a:prstGeom>
          <a:ln>
            <a:noFill/>
          </a:ln>
        </p:spPr>
      </p:pic>
      <p:sp>
        <p:nvSpPr>
          <p:cNvPr id="517" name="CustomShape 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8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9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0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1" name="CustomShape 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2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3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4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5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6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7" name="CustomShape 1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8" name="CustomShap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29" name="Group 13"/>
          <p:cNvGrpSpPr/>
          <p:nvPr/>
        </p:nvGrpSpPr>
        <p:grpSpPr>
          <a:xfrm>
            <a:off x="103320" y="1054080"/>
            <a:ext cx="8937360" cy="1871640"/>
            <a:chOff x="103320" y="1054080"/>
            <a:chExt cx="8937360" cy="1871640"/>
          </a:xfrm>
        </p:grpSpPr>
        <p:pic>
          <p:nvPicPr>
            <p:cNvPr id="530" name="Прямоугольник 21" descr=""/>
            <p:cNvPicPr/>
            <p:nvPr/>
          </p:nvPicPr>
          <p:blipFill>
            <a:blip r:embed="rId2"/>
            <a:stretch/>
          </p:blipFill>
          <p:spPr>
            <a:xfrm>
              <a:off x="103320" y="1054080"/>
              <a:ext cx="8937360" cy="1871640"/>
            </a:xfrm>
            <a:prstGeom prst="rect">
              <a:avLst/>
            </a:prstGeom>
            <a:ln>
              <a:noFill/>
            </a:ln>
          </p:spPr>
        </p:pic>
        <p:sp>
          <p:nvSpPr>
            <p:cNvPr id="531" name="CustomShape 14"/>
            <p:cNvSpPr/>
            <p:nvPr/>
          </p:nvSpPr>
          <p:spPr>
            <a:xfrm>
              <a:off x="179280" y="1125360"/>
              <a:ext cx="8785440" cy="1727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32" name="CustomShape 15"/>
          <p:cNvSpPr/>
          <p:nvPr/>
        </p:nvSpPr>
        <p:spPr>
          <a:xfrm>
            <a:off x="324000" y="1197000"/>
            <a:ext cx="8496000" cy="1830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just"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При действии квазигармонического шума на входе линейного АД с коэффициентом передачи К</a:t>
            </a:r>
            <a:r>
              <a:rPr b="0" lang="ru-RU" sz="1600" spc="-1" strike="noStrike" baseline="-25000">
                <a:solidFill>
                  <a:srgbClr val="000000"/>
                </a:solidFill>
                <a:latin typeface="Franklin Gothic Book"/>
              </a:rPr>
              <a:t>д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=0,8 постоянная составляющая выходного напряжения равна 0,1 В. Чему будет равна постоянная составляющая выходного напряжения, если на вход АД дополнительно подать гармонический сигнал с амплитудой 0,3 В?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Изобразить зависимость постоянной составляющей и эффективного значения напряжения на выходе АД от амплитуды сигнала.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Заголовок 1" descr=""/>
          <p:cNvPicPr/>
          <p:nvPr/>
        </p:nvPicPr>
        <p:blipFill>
          <a:blip r:embed="rId1"/>
          <a:stretch/>
        </p:blipFill>
        <p:spPr>
          <a:xfrm>
            <a:off x="0" y="365040"/>
            <a:ext cx="9174240" cy="1146240"/>
          </a:xfrm>
          <a:prstGeom prst="rect">
            <a:avLst/>
          </a:prstGeom>
          <a:ln>
            <a:noFill/>
          </a:ln>
        </p:spPr>
      </p:pic>
      <p:sp>
        <p:nvSpPr>
          <p:cNvPr id="534" name="CustomShape 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5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6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7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8" name="CustomShape 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9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0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1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2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3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4" name="CustomShape 1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5" name="CustomShap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46" name="Group 13"/>
          <p:cNvGrpSpPr/>
          <p:nvPr/>
        </p:nvGrpSpPr>
        <p:grpSpPr>
          <a:xfrm>
            <a:off x="103320" y="1481040"/>
            <a:ext cx="8937360" cy="2163960"/>
            <a:chOff x="103320" y="1481040"/>
            <a:chExt cx="8937360" cy="2163960"/>
          </a:xfrm>
        </p:grpSpPr>
        <p:pic>
          <p:nvPicPr>
            <p:cNvPr id="547" name="Прямоугольник 15" descr=""/>
            <p:cNvPicPr/>
            <p:nvPr/>
          </p:nvPicPr>
          <p:blipFill>
            <a:blip r:embed="rId2"/>
            <a:stretch/>
          </p:blipFill>
          <p:spPr>
            <a:xfrm>
              <a:off x="103320" y="1481040"/>
              <a:ext cx="8937360" cy="2163960"/>
            </a:xfrm>
            <a:prstGeom prst="rect">
              <a:avLst/>
            </a:prstGeom>
            <a:ln>
              <a:noFill/>
            </a:ln>
          </p:spPr>
        </p:pic>
        <p:sp>
          <p:nvSpPr>
            <p:cNvPr id="548" name="CustomShape 14"/>
            <p:cNvSpPr/>
            <p:nvPr/>
          </p:nvSpPr>
          <p:spPr>
            <a:xfrm>
              <a:off x="179280" y="1557360"/>
              <a:ext cx="8785440" cy="201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49" name="CustomShape 15"/>
          <p:cNvSpPr/>
          <p:nvPr/>
        </p:nvSpPr>
        <p:spPr>
          <a:xfrm>
            <a:off x="250920" y="1484280"/>
            <a:ext cx="8893080" cy="2284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50000"/>
              </a:lnSpc>
            </a:pPr>
            <a:r>
              <a:rPr b="1" i="1" lang="ru-RU" sz="1600" spc="-1" strike="noStrike" u="sng">
                <a:solidFill>
                  <a:srgbClr val="000000"/>
                </a:solidFill>
                <a:uFillTx/>
                <a:latin typeface="Franklin Gothic Book"/>
              </a:rPr>
              <a:t>Провести моделирование: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 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проверить решение задачи 8-3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 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оценить изменение плотности вероятности (по гистограмме) напряжения на выходе АД при подаче сигнала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 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изменяя амплитуду сигнала от 0 до 1 В, получить зависимости постоянной составляющей и эффективного значения напряжения на выходе АД от амплитуды сигнала. Сравнить с теоретическими зависимостями.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Заголовок 1" descr=""/>
          <p:cNvPicPr/>
          <p:nvPr/>
        </p:nvPicPr>
        <p:blipFill>
          <a:blip r:embed="rId1"/>
          <a:stretch/>
        </p:blipFill>
        <p:spPr>
          <a:xfrm>
            <a:off x="304920" y="189000"/>
            <a:ext cx="8839080" cy="1122120"/>
          </a:xfrm>
          <a:prstGeom prst="rect">
            <a:avLst/>
          </a:prstGeom>
          <a:ln>
            <a:noFill/>
          </a:ln>
        </p:spPr>
      </p:pic>
      <p:sp>
        <p:nvSpPr>
          <p:cNvPr id="551" name="CustomShape 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2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3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4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5" name="CustomShape 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6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7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8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9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0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1" name="CustomShape 1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2" name="CustomShap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63" name="Group 13"/>
          <p:cNvGrpSpPr/>
          <p:nvPr/>
        </p:nvGrpSpPr>
        <p:grpSpPr>
          <a:xfrm>
            <a:off x="103320" y="1195560"/>
            <a:ext cx="8937360" cy="1657080"/>
            <a:chOff x="103320" y="1195560"/>
            <a:chExt cx="8937360" cy="1657080"/>
          </a:xfrm>
        </p:grpSpPr>
        <p:pic>
          <p:nvPicPr>
            <p:cNvPr id="564" name="Прямоугольник 21" descr=""/>
            <p:cNvPicPr/>
            <p:nvPr/>
          </p:nvPicPr>
          <p:blipFill>
            <a:blip r:embed="rId2"/>
            <a:stretch/>
          </p:blipFill>
          <p:spPr>
            <a:xfrm>
              <a:off x="103320" y="1195560"/>
              <a:ext cx="8937360" cy="1657080"/>
            </a:xfrm>
            <a:prstGeom prst="rect">
              <a:avLst/>
            </a:prstGeom>
            <a:ln>
              <a:noFill/>
            </a:ln>
          </p:spPr>
        </p:pic>
        <p:sp>
          <p:nvSpPr>
            <p:cNvPr id="565" name="CustomShape 14"/>
            <p:cNvSpPr/>
            <p:nvPr/>
          </p:nvSpPr>
          <p:spPr>
            <a:xfrm>
              <a:off x="179280" y="1268280"/>
              <a:ext cx="8785440" cy="1513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66" name="CustomShape 15"/>
          <p:cNvSpPr/>
          <p:nvPr/>
        </p:nvSpPr>
        <p:spPr>
          <a:xfrm>
            <a:off x="324000" y="1341360"/>
            <a:ext cx="8496000" cy="1554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just"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Вольтметр измеряет постоянную составляющую напряжения на выходе линейного АД, подключённого к БВЧ с шумовой полосой 1 МГц. Ко входу БВЧ подключён согласованный генератор сигналов, находящийся при температуре +20°С. При отсутствии сигнала вольтметр показывает 0,2 В; при включении сигнала мощностью 5,07·10</a:t>
            </a:r>
            <a:r>
              <a:rPr b="0" lang="ru-RU" sz="1600" spc="-1" strike="noStrike" baseline="30000">
                <a:solidFill>
                  <a:srgbClr val="000000"/>
                </a:solidFill>
                <a:latin typeface="Franklin Gothic Book"/>
              </a:rPr>
              <a:t>-13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 Вт – 0,8В. Определить коэффициент шума БВЧ.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TextShape 1"/>
          <p:cNvSpPr txBox="1"/>
          <p:nvPr/>
        </p:nvSpPr>
        <p:spPr>
          <a:xfrm>
            <a:off x="0" y="0"/>
            <a:ext cx="9144000" cy="1295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ctr">
            <a:noAutofit/>
          </a:bodyPr>
          <a:p>
            <a:pPr algn="r">
              <a:lnSpc>
                <a:spcPct val="150000"/>
              </a:lnSpc>
            </a:pPr>
            <a:r>
              <a:rPr b="1" lang="ru-RU" sz="3200" spc="-1" strike="noStrike">
                <a:solidFill>
                  <a:srgbClr val="444d26"/>
                </a:solidFill>
                <a:latin typeface="Franklin Gothic Book"/>
              </a:rPr>
              <a:t>ЛАБОРАТОРНАЯ РАБОТА</a:t>
            </a:r>
            <a:r>
              <a:rPr b="0" lang="ru-RU" sz="3200" spc="-1" strike="noStrike">
                <a:solidFill>
                  <a:srgbClr val="444d26"/>
                </a:solidFill>
                <a:latin typeface="Franklin Gothic Book"/>
              </a:rPr>
              <a:t>: </a:t>
            </a:r>
            <a:r>
              <a:rPr b="1" lang="ru-RU" sz="1600" spc="-1" strike="noStrike">
                <a:solidFill>
                  <a:srgbClr val="444d26"/>
                </a:solidFill>
                <a:latin typeface="Franklin Gothic Book"/>
              </a:rPr>
              <a:t>«ПРОХОЖДЕНИЕ СИГНАЛА И ШУМА ЧЕРЕЗ АД»</a:t>
            </a:r>
            <a:br/>
            <a:r>
              <a:rPr b="0" lang="ru-RU" sz="1600" spc="-1" strike="noStrike">
                <a:solidFill>
                  <a:srgbClr val="444d26"/>
                </a:solidFill>
                <a:latin typeface="Franklin Gothic Book"/>
              </a:rPr>
              <a:t>П.1 «ХАРАКТЕРИСТИКИ ОГИБАЮЩЕЙ КВАЗИГАРМОНИЧЕСКОГО КОЛЕБАНИЯ»,</a:t>
            </a:r>
            <a:br/>
            <a:r>
              <a:rPr b="0" lang="ru-RU" sz="1400" spc="-1" strike="noStrike">
                <a:solidFill>
                  <a:srgbClr val="444d26"/>
                </a:solidFill>
                <a:latin typeface="Franklin Gothic Book"/>
              </a:rPr>
              <a:t> П.1.1. «КОМПЛЕКСНАЯ ОГИБАЮЩАЯ»</a:t>
            </a:r>
            <a:endParaRPr b="0" lang="en-US" sz="14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568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9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0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1" name="CustomShape 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2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3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4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5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6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7" name="CustomShape 1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8" name="CustomShap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9" name="CustomShape 1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0" name="CustomShape 14"/>
          <p:cNvSpPr/>
          <p:nvPr/>
        </p:nvSpPr>
        <p:spPr>
          <a:xfrm>
            <a:off x="-640080" y="1413000"/>
            <a:ext cx="9260640" cy="33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а) В соответствии с номером бригады задать форму энергетического спектра шума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81" name="Group 15"/>
          <p:cNvGrpSpPr/>
          <p:nvPr/>
        </p:nvGrpSpPr>
        <p:grpSpPr>
          <a:xfrm>
            <a:off x="324000" y="1627200"/>
            <a:ext cx="4754520" cy="2811600"/>
            <a:chOff x="324000" y="1627200"/>
            <a:chExt cx="4754520" cy="2811600"/>
          </a:xfrm>
        </p:grpSpPr>
        <p:pic>
          <p:nvPicPr>
            <p:cNvPr id="582" name="Прямоугольник 19" descr=""/>
            <p:cNvPicPr/>
            <p:nvPr/>
          </p:nvPicPr>
          <p:blipFill>
            <a:blip r:embed="rId1"/>
            <a:stretch/>
          </p:blipFill>
          <p:spPr>
            <a:xfrm>
              <a:off x="324000" y="1627200"/>
              <a:ext cx="4754520" cy="2811600"/>
            </a:xfrm>
            <a:prstGeom prst="rect">
              <a:avLst/>
            </a:prstGeom>
            <a:ln>
              <a:noFill/>
            </a:ln>
          </p:spPr>
        </p:pic>
        <p:sp>
          <p:nvSpPr>
            <p:cNvPr id="583" name="CustomShape 16"/>
            <p:cNvSpPr/>
            <p:nvPr/>
          </p:nvSpPr>
          <p:spPr>
            <a:xfrm>
              <a:off x="395280" y="1700280"/>
              <a:ext cx="4608360" cy="26636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aphicFrame>
        <p:nvGraphicFramePr>
          <p:cNvPr id="584" name="Table 17"/>
          <p:cNvGraphicFramePr/>
          <p:nvPr/>
        </p:nvGraphicFramePr>
        <p:xfrm>
          <a:off x="684360" y="1843200"/>
          <a:ext cx="4101840" cy="2347920"/>
        </p:xfrm>
        <a:graphic>
          <a:graphicData uri="http://schemas.openxmlformats.org/drawingml/2006/table">
            <a:tbl>
              <a:tblPr/>
              <a:tblGrid>
                <a:gridCol w="990360"/>
                <a:gridCol w="3111480"/>
              </a:tblGrid>
              <a:tr h="426960">
                <a:tc>
                  <a:txBody>
                    <a:bodyPr lIns="68760" rIns="68760" tIns="0" bIns="0">
                      <a:noAutofit/>
                    </a:bodyPr>
                    <a:p>
                      <a:pPr marL="18720" algn="ctr"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Franklin Gothic Book"/>
                          <a:ea typeface="Times New Roman"/>
                        </a:rPr>
                        <a:t>№ </a:t>
                      </a: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Franklin Gothic Book"/>
                          <a:ea typeface="Times New Roman"/>
                        </a:rPr>
                        <a:t>бригады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760" marR="6876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760" rIns="6876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98"/>
                        </a:spcBef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Franklin Gothic Book"/>
                          <a:ea typeface="Times New Roman"/>
                        </a:rPr>
                        <a:t>Форма спектра шума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760" marR="6876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20960">
                <a:tc>
                  <a:txBody>
                    <a:bodyPr lIns="68760" rIns="68760" tIns="0" bIns="0">
                      <a:noAutofit/>
                    </a:bodyPr>
                    <a:p>
                      <a:pPr marL="18720" algn="ctr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720" algn="ctr"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Franklin Gothic Book"/>
                          <a:ea typeface="Times New Roman"/>
                        </a:rPr>
                        <a:t>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720" algn="ctr"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Franklin Gothic Book"/>
                          <a:ea typeface="Times New Roman"/>
                        </a:rPr>
                        <a:t>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720" algn="ctr"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Franklin Gothic Book"/>
                          <a:ea typeface="Times New Roman"/>
                        </a:rPr>
                        <a:t>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720" algn="ctr"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Franklin Gothic Book"/>
                          <a:ea typeface="Times New Roman"/>
                        </a:rPr>
                        <a:t>4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720" algn="ctr"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Franklin Gothic Book"/>
                          <a:ea typeface="Times New Roman"/>
                        </a:rPr>
                        <a:t>5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720" algn="ctr"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Franklin Gothic Book"/>
                          <a:ea typeface="Times New Roman"/>
                        </a:rPr>
                        <a:t>6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720" algn="ctr"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Franklin Gothic Book"/>
                          <a:ea typeface="Times New Roman"/>
                        </a:rPr>
                        <a:t>7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8720" algn="ctr"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Franklin Gothic Book"/>
                          <a:ea typeface="Times New Roman"/>
                        </a:rPr>
                        <a:t>8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760" marR="6876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760" rIns="6876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Franklin Gothic Book"/>
                          <a:ea typeface="Times New Roman"/>
                        </a:rPr>
                        <a:t>прямоугольная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Franklin Gothic Book"/>
                          <a:ea typeface="Times New Roman"/>
                        </a:rPr>
                        <a:t>соотв. ф-ру Баттерворта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Franklin Gothic Book"/>
                          <a:ea typeface="Times New Roman"/>
                        </a:rPr>
                        <a:t>гауссова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Franklin Gothic Book"/>
                          <a:ea typeface="Times New Roman"/>
                        </a:rPr>
                        <a:t>прямоугольная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Franklin Gothic Book"/>
                          <a:ea typeface="Times New Roman"/>
                        </a:rPr>
                        <a:t>соотв. ф-ру Баттерворта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Franklin Gothic Book"/>
                          <a:ea typeface="Times New Roman"/>
                        </a:rPr>
                        <a:t>гауссова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Franklin Gothic Book"/>
                          <a:ea typeface="Times New Roman"/>
                        </a:rPr>
                        <a:t>прямоугольная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Franklin Gothic Book"/>
                          <a:ea typeface="Times New Roman"/>
                        </a:rPr>
                        <a:t>соотв. ф-ру Баттерворта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760" marR="6876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85" name="CustomShape 18"/>
          <p:cNvSpPr/>
          <p:nvPr/>
        </p:nvSpPr>
        <p:spPr>
          <a:xfrm>
            <a:off x="179280" y="4437000"/>
            <a:ext cx="8785440" cy="2317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б) В отсутствие сигнала подобрать такую реализацию шума, у которой огибающая имеет провалы до нуля. Отметить характерные особенности реализаций синусной </a:t>
            </a:r>
            <a:r>
              <a:rPr b="0" i="1" lang="en-US" sz="1600" spc="-1" strike="noStrike">
                <a:solidFill>
                  <a:srgbClr val="000000"/>
                </a:solidFill>
                <a:latin typeface="Franklin Gothic Book"/>
              </a:rPr>
              <a:t>U</a:t>
            </a:r>
            <a:r>
              <a:rPr b="0" lang="ru-RU" sz="1600" spc="-1" strike="noStrike" baseline="-25000">
                <a:solidFill>
                  <a:srgbClr val="000000"/>
                </a:solidFill>
                <a:latin typeface="Franklin Gothic Book"/>
              </a:rPr>
              <a:t>ш</a:t>
            </a:r>
            <a:r>
              <a:rPr b="0" lang="en-US" sz="1600" spc="-1" strike="noStrike" baseline="30000">
                <a:solidFill>
                  <a:srgbClr val="000000"/>
                </a:solidFill>
                <a:latin typeface="Franklin Gothic Book"/>
              </a:rPr>
              <a:t>s</a:t>
            </a:r>
            <a:r>
              <a:rPr b="0" i="1" lang="en-US" sz="1600" spc="-1" strike="noStrike">
                <a:solidFill>
                  <a:srgbClr val="000000"/>
                </a:solidFill>
                <a:latin typeface="Franklin Gothic Book"/>
              </a:rPr>
              <a:t> 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и косинусной </a:t>
            </a:r>
            <a:r>
              <a:rPr b="0" i="1" lang="en-US" sz="1600" spc="-1" strike="noStrike">
                <a:solidFill>
                  <a:srgbClr val="000000"/>
                </a:solidFill>
                <a:latin typeface="Franklin Gothic Book"/>
              </a:rPr>
              <a:t>U</a:t>
            </a:r>
            <a:r>
              <a:rPr b="0" lang="ru-RU" sz="1600" spc="-1" strike="noStrike" baseline="-25000">
                <a:solidFill>
                  <a:srgbClr val="000000"/>
                </a:solidFill>
                <a:latin typeface="Franklin Gothic Book"/>
              </a:rPr>
              <a:t>ш</a:t>
            </a:r>
            <a:r>
              <a:rPr b="0" lang="en-US" sz="1600" spc="-1" strike="noStrike" baseline="30000">
                <a:solidFill>
                  <a:srgbClr val="000000"/>
                </a:solidFill>
                <a:latin typeface="Franklin Gothic Book"/>
              </a:rPr>
              <a:t>c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 низкочастотных составляющих выбранной реализации шума, а также годографа комплексной огибающей . Для выбранной реализации наблюдение провести на двух интервалах времени: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600" spc="-1" strike="noStrike">
                <a:solidFill>
                  <a:srgbClr val="000000"/>
                </a:solidFill>
                <a:latin typeface="Franklin Gothic Book"/>
              </a:rPr>
              <a:t> 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на заданном по умолчанию интервале [0,  1 мс];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600" spc="-1" strike="noStrike">
                <a:solidFill>
                  <a:srgbClr val="000000"/>
                </a:solidFill>
                <a:latin typeface="Franklin Gothic Book"/>
              </a:rPr>
              <a:t> 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на интервале длительностью 0,2 – 0,3 мс, содержащем провал огибающей.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600" spc="-1" strike="noStrike" u="sng">
                <a:solidFill>
                  <a:srgbClr val="000000"/>
                </a:solidFill>
                <a:uFillTx/>
                <a:latin typeface="Franklin Gothic Book"/>
              </a:rPr>
              <a:t>Сделать выводы 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из полученных результатов.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TextShape 1"/>
          <p:cNvSpPr txBox="1"/>
          <p:nvPr/>
        </p:nvSpPr>
        <p:spPr>
          <a:xfrm>
            <a:off x="0" y="0"/>
            <a:ext cx="9144000" cy="1295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ctr">
            <a:noAutofit/>
          </a:bodyPr>
          <a:p>
            <a:pPr algn="r">
              <a:lnSpc>
                <a:spcPct val="150000"/>
              </a:lnSpc>
            </a:pPr>
            <a:r>
              <a:rPr b="1" lang="ru-RU" sz="3200" spc="-1" strike="noStrike">
                <a:solidFill>
                  <a:srgbClr val="444d26"/>
                </a:solidFill>
                <a:latin typeface="Franklin Gothic Book"/>
              </a:rPr>
              <a:t>ЛАБОРАТОРНАЯ РАБОТА</a:t>
            </a:r>
            <a:r>
              <a:rPr b="0" lang="ru-RU" sz="3200" spc="-1" strike="noStrike">
                <a:solidFill>
                  <a:srgbClr val="444d26"/>
                </a:solidFill>
                <a:latin typeface="Franklin Gothic Book"/>
              </a:rPr>
              <a:t>: </a:t>
            </a:r>
            <a:r>
              <a:rPr b="1" lang="ru-RU" sz="1600" spc="-1" strike="noStrike">
                <a:solidFill>
                  <a:srgbClr val="444d26"/>
                </a:solidFill>
                <a:latin typeface="Franklin Gothic Book"/>
              </a:rPr>
              <a:t>«ПРОХОЖДЕНИЕ СИГНАЛА И ШУМА ЧЕРЕЗ АД»</a:t>
            </a:r>
            <a:br/>
            <a:r>
              <a:rPr b="0" lang="ru-RU" sz="1400" spc="-1" strike="noStrike">
                <a:solidFill>
                  <a:srgbClr val="444d26"/>
                </a:solidFill>
                <a:latin typeface="Franklin Gothic Book"/>
              </a:rPr>
              <a:t>П.1 «ХАРАКТЕРИСТИКИ ОГИБАЮЩЕЙ КВАЗИГАРМОНИЧЕСКОГО КОЛЕБАНИЯ»,</a:t>
            </a:r>
            <a:br/>
            <a:r>
              <a:rPr b="0" lang="ru-RU" sz="1400" spc="-1" strike="noStrike">
                <a:solidFill>
                  <a:srgbClr val="444d26"/>
                </a:solidFill>
                <a:latin typeface="Franklin Gothic Book"/>
              </a:rPr>
              <a:t> П.1.1. «КОМПЛЕКСНАЯ ОГИБАЮЩАЯ»</a:t>
            </a:r>
            <a:endParaRPr b="0" lang="en-US" sz="14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587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8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9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0" name="CustomShape 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1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2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3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4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5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6" name="CustomShape 1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7" name="CustomShap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8" name="CustomShape 1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9" name="CustomShape 14"/>
          <p:cNvSpPr/>
          <p:nvPr/>
        </p:nvSpPr>
        <p:spPr>
          <a:xfrm>
            <a:off x="287280" y="1484280"/>
            <a:ext cx="8677440" cy="1067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just"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в) Для выбранной реализации шума, увеличивая амплитуду сигнала от 0 до 0,5</a:t>
            </a:r>
            <a:r>
              <a:rPr b="0" lang="en-US" sz="1600" spc="-1" strike="noStrike">
                <a:solidFill>
                  <a:srgbClr val="000000"/>
                </a:solidFill>
                <a:latin typeface="Franklin Gothic Book"/>
              </a:rPr>
              <a:t> 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В, отметить изменения в характере огибающей, синусной и косинусной составляющих шума, а также годографа комплексной огибающей шума.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1" lang="ru-RU" sz="1600" spc="-1" strike="noStrike" u="sng">
                <a:solidFill>
                  <a:srgbClr val="000000"/>
                </a:solidFill>
                <a:uFillTx/>
                <a:latin typeface="Franklin Gothic Book"/>
              </a:rPr>
              <a:t>Сделать выводы 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из полученных результатов.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extShape 1"/>
          <p:cNvSpPr txBox="1"/>
          <p:nvPr/>
        </p:nvSpPr>
        <p:spPr>
          <a:xfrm>
            <a:off x="0" y="0"/>
            <a:ext cx="9144000" cy="1295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ctr">
            <a:noAutofit/>
          </a:bodyPr>
          <a:p>
            <a:pPr algn="r">
              <a:lnSpc>
                <a:spcPct val="150000"/>
              </a:lnSpc>
            </a:pPr>
            <a:r>
              <a:rPr b="1" lang="ru-RU" sz="3200" spc="-1" strike="noStrike">
                <a:solidFill>
                  <a:srgbClr val="444d26"/>
                </a:solidFill>
                <a:latin typeface="Franklin Gothic Book"/>
              </a:rPr>
              <a:t>ЛАБОРАТОРНАЯ РАБОТА</a:t>
            </a:r>
            <a:r>
              <a:rPr b="0" lang="ru-RU" sz="3200" spc="-1" strike="noStrike">
                <a:solidFill>
                  <a:srgbClr val="444d26"/>
                </a:solidFill>
                <a:latin typeface="Franklin Gothic Book"/>
              </a:rPr>
              <a:t>: </a:t>
            </a:r>
            <a:r>
              <a:rPr b="1" lang="ru-RU" sz="1600" spc="-1" strike="noStrike">
                <a:solidFill>
                  <a:srgbClr val="444d26"/>
                </a:solidFill>
                <a:latin typeface="Franklin Gothic Book"/>
              </a:rPr>
              <a:t>«ПРОХОЖДЕНИЕ СИГНАЛА И ШУМА ЧЕРЕЗ АД»</a:t>
            </a:r>
            <a:br/>
            <a:r>
              <a:rPr b="0" lang="ru-RU" sz="1400" spc="-1" strike="noStrike">
                <a:solidFill>
                  <a:srgbClr val="444d26"/>
                </a:solidFill>
                <a:latin typeface="Franklin Gothic Book"/>
              </a:rPr>
              <a:t>П.1 «ХАРАКТЕРИСТИКИ ОГИБАЮЩЕЙ КВАЗИГАРМОНИЧЕСКОГО КОЛЕБАНИЯ»,</a:t>
            </a:r>
            <a:br/>
            <a:r>
              <a:rPr b="0" lang="ru-RU" sz="1400" spc="-1" strike="noStrike">
                <a:solidFill>
                  <a:srgbClr val="444d26"/>
                </a:solidFill>
                <a:latin typeface="Franklin Gothic Book"/>
              </a:rPr>
              <a:t>П.1.</a:t>
            </a:r>
            <a:r>
              <a:rPr b="0" lang="en-US" sz="1400" spc="-1" strike="noStrike">
                <a:solidFill>
                  <a:srgbClr val="444d26"/>
                </a:solidFill>
                <a:latin typeface="Franklin Gothic Book"/>
              </a:rPr>
              <a:t>2</a:t>
            </a:r>
            <a:r>
              <a:rPr b="0" lang="ru-RU" sz="1400" spc="-1" strike="noStrike">
                <a:solidFill>
                  <a:srgbClr val="444d26"/>
                </a:solidFill>
                <a:latin typeface="Franklin Gothic Book"/>
              </a:rPr>
              <a:t>. «СТАТИСТИЧЕСКИЕ ХАРАКТЕРИСТИКИ ОГИБАЮЩЕЙ»</a:t>
            </a:r>
            <a:endParaRPr b="0" lang="en-US" sz="1400" spc="-1" strike="noStrike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601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2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3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4" name="CustomShape 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5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6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7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8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9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0" name="CustomShape 1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1" name="CustomShap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2" name="CustomShape 1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3" name="CustomShape 14"/>
          <p:cNvSpPr/>
          <p:nvPr/>
        </p:nvSpPr>
        <p:spPr>
          <a:xfrm>
            <a:off x="179280" y="1413000"/>
            <a:ext cx="8713800" cy="2317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just">
              <a:lnSpc>
                <a:spcPct val="100000"/>
              </a:lnSpc>
            </a:pPr>
            <a:r>
              <a:rPr b="1" i="1" lang="ru-RU" sz="1600" spc="-1" strike="noStrike">
                <a:solidFill>
                  <a:srgbClr val="000000"/>
                </a:solidFill>
                <a:latin typeface="Franklin Gothic Book"/>
              </a:rPr>
              <a:t>а) 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Установить прямоугольную форму энергетического спектра шума.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Для значений отношения сигнал-шум </a:t>
            </a:r>
            <a:r>
              <a:rPr b="0" i="1" lang="ru-RU" sz="1600" spc="-1" strike="noStrike">
                <a:solidFill>
                  <a:srgbClr val="000000"/>
                </a:solidFill>
                <a:latin typeface="Franklin Gothic Book"/>
              </a:rPr>
              <a:t>a</a:t>
            </a:r>
            <a:r>
              <a:rPr b="0" i="1" lang="en-US" sz="1600" spc="-1" strike="noStrike">
                <a:solidFill>
                  <a:srgbClr val="000000"/>
                </a:solidFill>
                <a:latin typeface="Franklin Gothic Book"/>
              </a:rPr>
              <a:t> 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=</a:t>
            </a:r>
            <a:r>
              <a:rPr b="0" lang="en-US" sz="1600" spc="-1" strike="noStrike">
                <a:solidFill>
                  <a:srgbClr val="000000"/>
                </a:solidFill>
                <a:latin typeface="Franklin Gothic Book"/>
              </a:rPr>
              <a:t> </a:t>
            </a:r>
            <a:r>
              <a:rPr b="0" i="1" lang="en-US" sz="1600" spc="-1" strike="noStrike">
                <a:solidFill>
                  <a:srgbClr val="000000"/>
                </a:solidFill>
                <a:latin typeface="Franklin Gothic Book"/>
              </a:rPr>
              <a:t>U</a:t>
            </a:r>
            <a:r>
              <a:rPr b="0" lang="ru-RU" sz="1600" spc="-1" strike="noStrike" baseline="-25000">
                <a:solidFill>
                  <a:srgbClr val="000000"/>
                </a:solidFill>
                <a:latin typeface="Franklin Gothic Book"/>
              </a:rPr>
              <a:t>с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/</a:t>
            </a:r>
            <a:r>
              <a:rPr b="0" i="1" lang="en-US" sz="1600" spc="-1" strike="noStrike">
                <a:solidFill>
                  <a:srgbClr val="000000"/>
                </a:solidFill>
                <a:latin typeface="Franklin Gothic Book"/>
              </a:rPr>
              <a:t>U</a:t>
            </a:r>
            <a:r>
              <a:rPr b="0" lang="ru-RU" sz="1600" spc="-1" strike="noStrike" baseline="-25000">
                <a:solidFill>
                  <a:srgbClr val="000000"/>
                </a:solidFill>
                <a:latin typeface="Franklin Gothic Book"/>
              </a:rPr>
              <a:t>ш</a:t>
            </a:r>
            <a:r>
              <a:rPr b="0" lang="en-US" sz="1600" spc="-1" strike="noStrike">
                <a:solidFill>
                  <a:srgbClr val="000000"/>
                </a:solidFill>
                <a:latin typeface="Franklin Gothic Book"/>
              </a:rPr>
              <a:t> 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=</a:t>
            </a:r>
            <a:r>
              <a:rPr b="0" lang="en-US" sz="1600" spc="-1" strike="noStrike">
                <a:solidFill>
                  <a:srgbClr val="000000"/>
                </a:solidFill>
                <a:latin typeface="Franklin Gothic Book"/>
              </a:rPr>
              <a:t> 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0 – 5 получить: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 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гистограмму огибающей суммы сигнала и шума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 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энергетические спектры шума, его косинусной составляющей и огибающей суммы сигнала и шума.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1" lang="ru-RU" sz="1600" spc="-1" strike="noStrike" u="sng">
                <a:solidFill>
                  <a:srgbClr val="000000"/>
                </a:solidFill>
                <a:uFillTx/>
                <a:latin typeface="Franklin Gothic Book"/>
              </a:rPr>
              <a:t>Определить: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 при какой наименьшей величине отношения сигнал-шум распределение вероятностей огибающей близко к нормальному.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Для получения достаточно гладкой оценки энергетического спектра число отсчётов процесса должно быть не менее 500-1000 тыс.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CustomShape 15"/>
          <p:cNvSpPr/>
          <p:nvPr/>
        </p:nvSpPr>
        <p:spPr>
          <a:xfrm>
            <a:off x="179280" y="3718080"/>
            <a:ext cx="8785440" cy="2418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1" i="1" lang="ru-RU" sz="1600" spc="-1" strike="noStrike">
                <a:solidFill>
                  <a:srgbClr val="000000"/>
                </a:solidFill>
                <a:latin typeface="Franklin Gothic Book"/>
              </a:rPr>
              <a:t>б) </a:t>
            </a:r>
            <a:r>
              <a:rPr b="1" lang="ru-RU" sz="1600" spc="-1" strike="noStrike" u="sng">
                <a:solidFill>
                  <a:srgbClr val="000000"/>
                </a:solidFill>
                <a:uFillTx/>
                <a:latin typeface="Franklin Gothic Book"/>
              </a:rPr>
              <a:t>Получить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 энергетический спектр случайной (шумовой) составляющей огибающей при значениях амплитуды сигнала </a:t>
            </a:r>
            <a:r>
              <a:rPr b="0" i="1" lang="en-US" sz="1600" spc="-1" strike="noStrike">
                <a:solidFill>
                  <a:srgbClr val="000000"/>
                </a:solidFill>
                <a:latin typeface="Franklin Gothic Book"/>
              </a:rPr>
              <a:t>U</a:t>
            </a:r>
            <a:r>
              <a:rPr b="0" lang="ru-RU" sz="1600" spc="-1" strike="noStrike" baseline="-25000">
                <a:solidFill>
                  <a:srgbClr val="000000"/>
                </a:solidFill>
                <a:latin typeface="Franklin Gothic Book"/>
              </a:rPr>
              <a:t>с</a:t>
            </a:r>
            <a:r>
              <a:rPr b="0" i="1" lang="ru-RU" sz="1600" spc="-1" strike="noStrike">
                <a:solidFill>
                  <a:srgbClr val="000000"/>
                </a:solidFill>
                <a:latin typeface="Franklin Gothic Book"/>
              </a:rPr>
              <a:t> 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= 0; 0,1; 0,2; 0,3; 0,5 В.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600" spc="-1" strike="noStrike" u="sng">
                <a:solidFill>
                  <a:srgbClr val="000000"/>
                </a:solidFill>
                <a:uFillTx/>
                <a:latin typeface="Franklin Gothic Book"/>
              </a:rPr>
              <a:t>Построить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 на одном рисунке графики спектра при указанных значениях </a:t>
            </a:r>
            <a:r>
              <a:rPr b="0" i="1" lang="en-US" sz="1600" spc="-1" strike="noStrike">
                <a:solidFill>
                  <a:srgbClr val="000000"/>
                </a:solidFill>
                <a:latin typeface="Franklin Gothic Book"/>
              </a:rPr>
              <a:t>U</a:t>
            </a:r>
            <a:r>
              <a:rPr b="0" lang="ru-RU" sz="1600" spc="-1" strike="noStrike" baseline="-25000">
                <a:solidFill>
                  <a:srgbClr val="000000"/>
                </a:solidFill>
                <a:latin typeface="Franklin Gothic Book"/>
              </a:rPr>
              <a:t>с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600" spc="-1" strike="noStrike" u="sng">
                <a:solidFill>
                  <a:srgbClr val="000000"/>
                </a:solidFill>
                <a:uFillTx/>
                <a:latin typeface="Franklin Gothic Book"/>
              </a:rPr>
              <a:t>Оценить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 характер изменения формы спектра огибающей при увеличении отношения сигнал-шум.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При </a:t>
            </a:r>
            <a:r>
              <a:rPr b="0" i="1" lang="en-US" sz="1600" spc="-1" strike="noStrike">
                <a:solidFill>
                  <a:srgbClr val="000000"/>
                </a:solidFill>
                <a:latin typeface="Franklin Gothic Book"/>
              </a:rPr>
              <a:t>U</a:t>
            </a:r>
            <a:r>
              <a:rPr b="0" lang="ru-RU" sz="1600" spc="-1" strike="noStrike" baseline="-25000">
                <a:solidFill>
                  <a:srgbClr val="000000"/>
                </a:solidFill>
                <a:latin typeface="Franklin Gothic Book"/>
              </a:rPr>
              <a:t>с</a:t>
            </a:r>
            <a:r>
              <a:rPr b="0" i="1" lang="ru-RU" sz="1600" spc="-1" strike="noStrike">
                <a:solidFill>
                  <a:srgbClr val="000000"/>
                </a:solidFill>
                <a:latin typeface="Franklin Gothic Book"/>
              </a:rPr>
              <a:t> 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= 0,1 В измерить значение спектра в характерных точках: </a:t>
            </a:r>
            <a:r>
              <a:rPr b="0" lang="en-US" sz="1600" spc="-1" strike="noStrike">
                <a:solidFill>
                  <a:srgbClr val="000000"/>
                </a:solidFill>
                <a:latin typeface="Franklin Gothic Book"/>
              </a:rPr>
              <a:t>F=0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,</a:t>
            </a:r>
            <a:r>
              <a:rPr b="0" lang="en-US" sz="1600" spc="-1" strike="noStrike">
                <a:solidFill>
                  <a:srgbClr val="000000"/>
                </a:solidFill>
                <a:latin typeface="Franklin Gothic Book"/>
              </a:rPr>
              <a:t> F=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П</a:t>
            </a:r>
            <a:r>
              <a:rPr b="0" lang="ru-RU" sz="1600" spc="-1" strike="noStrike" baseline="-25000">
                <a:solidFill>
                  <a:srgbClr val="000000"/>
                </a:solidFill>
                <a:latin typeface="Franklin Gothic Book"/>
              </a:rPr>
              <a:t>ш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/2  (два значения) и </a:t>
            </a:r>
            <a:r>
              <a:rPr b="0" lang="en-US" sz="1600" spc="-1" strike="noStrike">
                <a:solidFill>
                  <a:srgbClr val="000000"/>
                </a:solidFill>
                <a:latin typeface="Franklin Gothic Book"/>
              </a:rPr>
              <a:t>F=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П</a:t>
            </a:r>
            <a:r>
              <a:rPr b="0" lang="ru-RU" sz="1600" spc="-1" strike="noStrike" baseline="-25000">
                <a:solidFill>
                  <a:srgbClr val="000000"/>
                </a:solidFill>
                <a:latin typeface="Franklin Gothic Book"/>
              </a:rPr>
              <a:t>ш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. (Для этого использовать кнопку «Измерение»).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600" spc="-1" strike="noStrike" u="sng">
                <a:solidFill>
                  <a:srgbClr val="000000"/>
                </a:solidFill>
                <a:uFillTx/>
                <a:latin typeface="Franklin Gothic Book"/>
              </a:rPr>
              <a:t>Сделать выводы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 из полученных результатов.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Заголовок 1" descr=""/>
          <p:cNvPicPr/>
          <p:nvPr/>
        </p:nvPicPr>
        <p:blipFill>
          <a:blip r:embed="rId1"/>
          <a:stretch/>
        </p:blipFill>
        <p:spPr>
          <a:xfrm>
            <a:off x="304920" y="189000"/>
            <a:ext cx="8839080" cy="1122120"/>
          </a:xfrm>
          <a:prstGeom prst="rect">
            <a:avLst/>
          </a:prstGeom>
          <a:ln>
            <a:noFill/>
          </a:ln>
        </p:spPr>
      </p:pic>
      <p:sp>
        <p:nvSpPr>
          <p:cNvPr id="616" name="CustomShape 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7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8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9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0" name="CustomShape 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1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2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3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4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5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6" name="CustomShape 1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7" name="CustomShap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628" name="Group 13"/>
          <p:cNvGrpSpPr/>
          <p:nvPr/>
        </p:nvGrpSpPr>
        <p:grpSpPr>
          <a:xfrm>
            <a:off x="103320" y="1054080"/>
            <a:ext cx="8937360" cy="2378160"/>
            <a:chOff x="103320" y="1054080"/>
            <a:chExt cx="8937360" cy="2378160"/>
          </a:xfrm>
        </p:grpSpPr>
        <p:pic>
          <p:nvPicPr>
            <p:cNvPr id="629" name="Прямоугольник 21" descr=""/>
            <p:cNvPicPr/>
            <p:nvPr/>
          </p:nvPicPr>
          <p:blipFill>
            <a:blip r:embed="rId2"/>
            <a:stretch/>
          </p:blipFill>
          <p:spPr>
            <a:xfrm>
              <a:off x="103320" y="1054080"/>
              <a:ext cx="8937360" cy="2378160"/>
            </a:xfrm>
            <a:prstGeom prst="rect">
              <a:avLst/>
            </a:prstGeom>
            <a:ln>
              <a:noFill/>
            </a:ln>
          </p:spPr>
        </p:pic>
        <p:sp>
          <p:nvSpPr>
            <p:cNvPr id="630" name="CustomShape 14"/>
            <p:cNvSpPr/>
            <p:nvPr/>
          </p:nvSpPr>
          <p:spPr>
            <a:xfrm>
              <a:off x="179280" y="1125360"/>
              <a:ext cx="8785440" cy="2232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31" name="CustomShape 15"/>
          <p:cNvSpPr/>
          <p:nvPr/>
        </p:nvSpPr>
        <p:spPr>
          <a:xfrm>
            <a:off x="250920" y="1197000"/>
            <a:ext cx="8748720" cy="252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just">
              <a:lnSpc>
                <a:spcPct val="100000"/>
              </a:lnSpc>
            </a:pPr>
            <a:r>
              <a:rPr b="1" i="1" lang="ru-RU" sz="1600" spc="-1" strike="noStrike" u="sng">
                <a:solidFill>
                  <a:srgbClr val="000000"/>
                </a:solidFill>
                <a:uFillTx/>
                <a:latin typeface="Franklin Gothic Book"/>
              </a:rPr>
              <a:t>Задача Д-1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На входе БВЧ приёмника, согласованного с антенной с шумовой температурой 100 К, действует АМ сигнал со 100%-й модуляцией с эффективным напряжением несущей 1,6 мкВ. БВЧ имеет следующие параметры: входное сопротивление 75 Ом, коэффициент шума 6 дБ, шумовая полоса пропускания 8 МГц. Изменится ли отношение сигнал-шум на выходе приёмника, если заменить диодный линейный амплитудный детектор синхронным амплитудным детектором (при условии идеальной синхронизации)? Если изменится, то на сколько децибел?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CustomShape 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3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4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5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6" name="CustomShape 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7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8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9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0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1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2" name="CustomShape 1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3" name="CustomShap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4" name="CustomShape 1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5" name="CustomShap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6" name="CustomShape 1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7" name="CustomShape 1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8" name="CustomShape 1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649" name="Заголовок 1" descr=""/>
          <p:cNvPicPr/>
          <p:nvPr/>
        </p:nvPicPr>
        <p:blipFill>
          <a:blip r:embed="rId1"/>
          <a:stretch/>
        </p:blipFill>
        <p:spPr>
          <a:xfrm>
            <a:off x="304920" y="189000"/>
            <a:ext cx="8839080" cy="1122120"/>
          </a:xfrm>
          <a:prstGeom prst="rect">
            <a:avLst/>
          </a:prstGeom>
          <a:ln>
            <a:noFill/>
          </a:ln>
        </p:spPr>
      </p:pic>
      <p:grpSp>
        <p:nvGrpSpPr>
          <p:cNvPr id="650" name="Group 18"/>
          <p:cNvGrpSpPr/>
          <p:nvPr/>
        </p:nvGrpSpPr>
        <p:grpSpPr>
          <a:xfrm>
            <a:off x="103320" y="1054080"/>
            <a:ext cx="9004320" cy="1079640"/>
            <a:chOff x="103320" y="1054080"/>
            <a:chExt cx="9004320" cy="1079640"/>
          </a:xfrm>
        </p:grpSpPr>
        <p:pic>
          <p:nvPicPr>
            <p:cNvPr id="651" name="Прямоугольник 33" descr=""/>
            <p:cNvPicPr/>
            <p:nvPr/>
          </p:nvPicPr>
          <p:blipFill>
            <a:blip r:embed="rId2"/>
            <a:stretch/>
          </p:blipFill>
          <p:spPr>
            <a:xfrm>
              <a:off x="103320" y="1054080"/>
              <a:ext cx="9004320" cy="1079640"/>
            </a:xfrm>
            <a:prstGeom prst="rect">
              <a:avLst/>
            </a:prstGeom>
            <a:ln>
              <a:noFill/>
            </a:ln>
          </p:spPr>
        </p:pic>
        <p:sp>
          <p:nvSpPr>
            <p:cNvPr id="652" name="CustomShape 19"/>
            <p:cNvSpPr/>
            <p:nvPr/>
          </p:nvSpPr>
          <p:spPr>
            <a:xfrm>
              <a:off x="179280" y="1125360"/>
              <a:ext cx="8856720" cy="935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53" name="CustomShape 20"/>
          <p:cNvSpPr/>
          <p:nvPr/>
        </p:nvSpPr>
        <p:spPr>
          <a:xfrm>
            <a:off x="179280" y="1197000"/>
            <a:ext cx="8713800" cy="1067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just"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При условиях задачи Д-1 рассчитать и построить график спектральной плотности шума на выходе линейного АД, считая АЧХ БВЧ прямоугольной. Коэффициент передачи АД равен 0,8, коэффициент усиления БВЧ по напряжению 10</a:t>
            </a:r>
            <a:r>
              <a:rPr b="0" lang="ru-RU" sz="1600" spc="-1" strike="noStrike" baseline="30000">
                <a:solidFill>
                  <a:srgbClr val="000000"/>
                </a:solidFill>
                <a:latin typeface="Franklin Gothic Book"/>
              </a:rPr>
              <a:t>4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54" name="Group 21"/>
          <p:cNvGrpSpPr/>
          <p:nvPr/>
        </p:nvGrpSpPr>
        <p:grpSpPr>
          <a:xfrm>
            <a:off x="103320" y="2133720"/>
            <a:ext cx="3316320" cy="579240"/>
            <a:chOff x="103320" y="2133720"/>
            <a:chExt cx="3316320" cy="579240"/>
          </a:xfrm>
        </p:grpSpPr>
        <p:pic>
          <p:nvPicPr>
            <p:cNvPr id="655" name="Прямоугольник 45" descr=""/>
            <p:cNvPicPr/>
            <p:nvPr/>
          </p:nvPicPr>
          <p:blipFill>
            <a:blip r:embed="rId3"/>
            <a:stretch/>
          </p:blipFill>
          <p:spPr>
            <a:xfrm>
              <a:off x="103320" y="2133720"/>
              <a:ext cx="3316320" cy="579240"/>
            </a:xfrm>
            <a:prstGeom prst="rect">
              <a:avLst/>
            </a:prstGeom>
            <a:ln>
              <a:noFill/>
            </a:ln>
          </p:spPr>
        </p:pic>
        <p:sp>
          <p:nvSpPr>
            <p:cNvPr id="656" name="CustomShape 22"/>
            <p:cNvSpPr/>
            <p:nvPr/>
          </p:nvSpPr>
          <p:spPr>
            <a:xfrm>
              <a:off x="179280" y="2205000"/>
              <a:ext cx="3168720" cy="43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aphicFrame>
        <p:nvGraphicFramePr>
          <p:cNvPr id="657" name="Object 23"/>
          <p:cNvGraphicFramePr/>
          <p:nvPr/>
        </p:nvGraphicFramePr>
        <p:xfrm>
          <a:off x="179280" y="2205000"/>
          <a:ext cx="3143520" cy="432000"/>
        </p:xfrm>
        <a:graphic>
          <a:graphicData uri="http://schemas.openxmlformats.org/presentationml/2006/ole">
            <p:oleObj r:id="rId4" spid="">
              <p:embed/>
              <p:pic>
                <p:nvPicPr>
                  <p:cNvPr id="658" name="Object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79280" y="2205000"/>
                    <a:ext cx="3143520" cy="432000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</p:oleObj>
          </a:graphicData>
        </a:graphic>
      </p:graphicFrame>
      <p:sp>
        <p:nvSpPr>
          <p:cNvPr id="659" name="CustomShape 24"/>
          <p:cNvSpPr/>
          <p:nvPr/>
        </p:nvSpPr>
        <p:spPr>
          <a:xfrm>
            <a:off x="3368880" y="2205000"/>
            <a:ext cx="5714280" cy="33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</a:rPr>
              <a:t>- спектральная  плотность дисперсии шума на выходе АД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60" name="Group 25"/>
          <p:cNvGrpSpPr/>
          <p:nvPr/>
        </p:nvGrpSpPr>
        <p:grpSpPr>
          <a:xfrm>
            <a:off x="103320" y="2706840"/>
            <a:ext cx="5621040" cy="1298520"/>
            <a:chOff x="103320" y="2706840"/>
            <a:chExt cx="5621040" cy="1298520"/>
          </a:xfrm>
        </p:grpSpPr>
        <p:pic>
          <p:nvPicPr>
            <p:cNvPr id="661" name="Прямоугольник 47" descr=""/>
            <p:cNvPicPr/>
            <p:nvPr/>
          </p:nvPicPr>
          <p:blipFill>
            <a:blip r:embed="rId6"/>
            <a:stretch/>
          </p:blipFill>
          <p:spPr>
            <a:xfrm>
              <a:off x="103320" y="2706840"/>
              <a:ext cx="5621040" cy="1298520"/>
            </a:xfrm>
            <a:prstGeom prst="rect">
              <a:avLst/>
            </a:prstGeom>
            <a:ln>
              <a:noFill/>
            </a:ln>
          </p:spPr>
        </p:pic>
        <p:sp>
          <p:nvSpPr>
            <p:cNvPr id="662" name="CustomShape 26"/>
            <p:cNvSpPr/>
            <p:nvPr/>
          </p:nvSpPr>
          <p:spPr>
            <a:xfrm>
              <a:off x="179280" y="2781360"/>
              <a:ext cx="5472360" cy="1152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aphicFrame>
        <p:nvGraphicFramePr>
          <p:cNvPr id="663" name="Object 27"/>
          <p:cNvGraphicFramePr/>
          <p:nvPr/>
        </p:nvGraphicFramePr>
        <p:xfrm>
          <a:off x="231840" y="2781360"/>
          <a:ext cx="5346720" cy="431640"/>
        </p:xfrm>
        <a:graphic>
          <a:graphicData uri="http://schemas.openxmlformats.org/presentationml/2006/ole">
            <p:oleObj r:id="rId7" spid="">
              <p:embed/>
              <p:pic>
                <p:nvPicPr>
                  <p:cNvPr id="664" name="Object 4" descr=""/>
                  <p:cNvPicPr/>
                  <p:nvPr/>
                </p:nvPicPr>
                <p:blipFill>
                  <a:blip r:embed="rId8"/>
                  <a:stretch/>
                </p:blipFill>
                <p:spPr>
                  <a:xfrm>
                    <a:off x="231840" y="2781360"/>
                    <a:ext cx="5346720" cy="431640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</p:oleObj>
          </a:graphicData>
        </a:graphic>
      </p:graphicFrame>
      <p:sp>
        <p:nvSpPr>
          <p:cNvPr id="665" name="CustomShape 28"/>
          <p:cNvSpPr/>
          <p:nvPr/>
        </p:nvSpPr>
        <p:spPr>
          <a:xfrm>
            <a:off x="5642280" y="2781360"/>
            <a:ext cx="3192120" cy="33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</a:rPr>
              <a:t>- прямоугольная составляющая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66" name="Object 29"/>
          <p:cNvGraphicFramePr/>
          <p:nvPr/>
        </p:nvGraphicFramePr>
        <p:xfrm>
          <a:off x="231840" y="3284640"/>
          <a:ext cx="5400720" cy="633240"/>
        </p:xfrm>
        <a:graphic>
          <a:graphicData uri="http://schemas.openxmlformats.org/presentationml/2006/ole">
            <p:oleObj r:id="rId9" spid="">
              <p:embed/>
              <p:pic>
                <p:nvPicPr>
                  <p:cNvPr id="667" name="Object 6" descr=""/>
                  <p:cNvPicPr/>
                  <p:nvPr/>
                </p:nvPicPr>
                <p:blipFill>
                  <a:blip r:embed="rId10"/>
                  <a:stretch/>
                </p:blipFill>
                <p:spPr>
                  <a:xfrm>
                    <a:off x="231840" y="3284640"/>
                    <a:ext cx="5400720" cy="633240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</p:oleObj>
          </a:graphicData>
        </a:graphic>
      </p:graphicFrame>
      <p:sp>
        <p:nvSpPr>
          <p:cNvPr id="668" name="CustomShape 30"/>
          <p:cNvSpPr/>
          <p:nvPr/>
        </p:nvSpPr>
        <p:spPr>
          <a:xfrm>
            <a:off x="5642280" y="3357720"/>
            <a:ext cx="2926800" cy="33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</a:rPr>
              <a:t>- треугольная составляющая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69" name="Group 31"/>
          <p:cNvGrpSpPr/>
          <p:nvPr/>
        </p:nvGrpSpPr>
        <p:grpSpPr>
          <a:xfrm>
            <a:off x="103320" y="3932280"/>
            <a:ext cx="2450880" cy="1011240"/>
            <a:chOff x="103320" y="3932280"/>
            <a:chExt cx="2450880" cy="1011240"/>
          </a:xfrm>
        </p:grpSpPr>
        <p:pic>
          <p:nvPicPr>
            <p:cNvPr id="670" name="Прямоугольник 48" descr=""/>
            <p:cNvPicPr/>
            <p:nvPr/>
          </p:nvPicPr>
          <p:blipFill>
            <a:blip r:embed="rId11"/>
            <a:stretch/>
          </p:blipFill>
          <p:spPr>
            <a:xfrm>
              <a:off x="103320" y="3932280"/>
              <a:ext cx="2450880" cy="1011240"/>
            </a:xfrm>
            <a:prstGeom prst="rect">
              <a:avLst/>
            </a:prstGeom>
            <a:ln>
              <a:noFill/>
            </a:ln>
          </p:spPr>
        </p:pic>
        <p:sp>
          <p:nvSpPr>
            <p:cNvPr id="671" name="CustomShape 32"/>
            <p:cNvSpPr/>
            <p:nvPr/>
          </p:nvSpPr>
          <p:spPr>
            <a:xfrm>
              <a:off x="179280" y="4005360"/>
              <a:ext cx="2305080" cy="8636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aphicFrame>
        <p:nvGraphicFramePr>
          <p:cNvPr id="672" name="Object 33"/>
          <p:cNvGraphicFramePr/>
          <p:nvPr/>
        </p:nvGraphicFramePr>
        <p:xfrm>
          <a:off x="250920" y="4076640"/>
          <a:ext cx="2143080" cy="647640"/>
        </p:xfrm>
        <a:graphic>
          <a:graphicData uri="http://schemas.openxmlformats.org/presentationml/2006/ole">
            <p:oleObj r:id="rId12" spid="">
              <p:embed/>
              <p:pic>
                <p:nvPicPr>
                  <p:cNvPr id="673" name="Object 8" descr=""/>
                  <p:cNvPicPr/>
                  <p:nvPr/>
                </p:nvPicPr>
                <p:blipFill>
                  <a:blip r:embed="rId13"/>
                  <a:stretch/>
                </p:blipFill>
                <p:spPr>
                  <a:xfrm>
                    <a:off x="250920" y="4076640"/>
                    <a:ext cx="2143080" cy="647640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</p:oleObj>
          </a:graphicData>
        </a:graphic>
      </p:graphicFrame>
      <p:sp>
        <p:nvSpPr>
          <p:cNvPr id="674" name="CustomShape 34"/>
          <p:cNvSpPr/>
          <p:nvPr/>
        </p:nvSpPr>
        <p:spPr>
          <a:xfrm>
            <a:off x="2484360" y="4076640"/>
            <a:ext cx="3259080" cy="824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</a:rPr>
              <a:t>- спектральная плотность дисперсии приведённого шума на входе БВЧ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5" name="Picture 11" descr=""/>
          <p:cNvPicPr/>
          <p:nvPr/>
        </p:nvPicPr>
        <p:blipFill>
          <a:blip r:embed="rId14"/>
          <a:stretch/>
        </p:blipFill>
        <p:spPr>
          <a:xfrm>
            <a:off x="5776920" y="3645000"/>
            <a:ext cx="2879640" cy="3011400"/>
          </a:xfrm>
          <a:prstGeom prst="rect">
            <a:avLst/>
          </a:prstGeom>
          <a:ln>
            <a:noFill/>
          </a:ln>
          <a:effectLst>
            <a:outerShdw dist="139498" dir="270000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CustomShape 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7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8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9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680" name="Заголовок 1" descr=""/>
          <p:cNvPicPr/>
          <p:nvPr/>
        </p:nvPicPr>
        <p:blipFill>
          <a:blip r:embed="rId1"/>
          <a:stretch/>
        </p:blipFill>
        <p:spPr>
          <a:xfrm>
            <a:off x="122400" y="476280"/>
            <a:ext cx="9021600" cy="907920"/>
          </a:xfrm>
          <a:prstGeom prst="rect">
            <a:avLst/>
          </a:prstGeom>
          <a:ln>
            <a:noFill/>
          </a:ln>
        </p:spPr>
      </p:pic>
      <p:grpSp>
        <p:nvGrpSpPr>
          <p:cNvPr id="681" name="Group 5"/>
          <p:cNvGrpSpPr/>
          <p:nvPr/>
        </p:nvGrpSpPr>
        <p:grpSpPr>
          <a:xfrm>
            <a:off x="536400" y="1481040"/>
            <a:ext cx="8504280" cy="2384640"/>
            <a:chOff x="536400" y="1481040"/>
            <a:chExt cx="8504280" cy="2384640"/>
          </a:xfrm>
        </p:grpSpPr>
        <p:pic>
          <p:nvPicPr>
            <p:cNvPr id="682" name="Прямоугольник 13" descr=""/>
            <p:cNvPicPr/>
            <p:nvPr/>
          </p:nvPicPr>
          <p:blipFill>
            <a:blip r:embed="rId2"/>
            <a:stretch/>
          </p:blipFill>
          <p:spPr>
            <a:xfrm>
              <a:off x="536400" y="1481040"/>
              <a:ext cx="8504280" cy="2384640"/>
            </a:xfrm>
            <a:prstGeom prst="rect">
              <a:avLst/>
            </a:prstGeom>
            <a:ln>
              <a:noFill/>
            </a:ln>
          </p:spPr>
        </p:pic>
        <p:sp>
          <p:nvSpPr>
            <p:cNvPr id="683" name="CustomShape 6"/>
            <p:cNvSpPr/>
            <p:nvPr/>
          </p:nvSpPr>
          <p:spPr>
            <a:xfrm>
              <a:off x="611280" y="1557360"/>
              <a:ext cx="8353440" cy="223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>
              <a:noAutofit/>
            </a:bodyPr>
            <a:p>
              <a:pPr algn="just"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algn="just">
                <a:lnSpc>
                  <a:spcPct val="100000"/>
                </a:lnSpc>
              </a:pPr>
              <a:r>
                <a:rPr b="0" lang="ru-RU" sz="1800" spc="-1" strike="noStrike">
                  <a:solidFill>
                    <a:srgbClr val="000000"/>
                  </a:solidFill>
                  <a:latin typeface="Franklin Gothic Book"/>
                </a:rPr>
                <a:t>При </a:t>
              </a:r>
              <a:r>
                <a:rPr b="0" i="1" lang="en-US" sz="1800" spc="-1" strike="noStrike">
                  <a:solidFill>
                    <a:srgbClr val="000000"/>
                  </a:solidFill>
                  <a:latin typeface="Franklin Gothic Book"/>
                </a:rPr>
                <a:t>a</a:t>
              </a:r>
              <a:r>
                <a:rPr b="0" lang="en-US" sz="1800" spc="-1" strike="noStrike">
                  <a:solidFill>
                    <a:srgbClr val="000000"/>
                  </a:solidFill>
                  <a:latin typeface="Franklin Gothic Book"/>
                </a:rPr>
                <a:t> </a:t>
              </a:r>
              <a:r>
                <a:rPr b="0" lang="ru-RU" sz="1800" spc="-1" strike="noStrike">
                  <a:solidFill>
                    <a:srgbClr val="000000"/>
                  </a:solidFill>
                  <a:latin typeface="Franklin Gothic Book"/>
                </a:rPr>
                <a:t>=</a:t>
              </a:r>
              <a:r>
                <a:rPr b="0" lang="en-US" sz="1800" spc="-1" strike="noStrike">
                  <a:solidFill>
                    <a:srgbClr val="000000"/>
                  </a:solidFill>
                  <a:latin typeface="Franklin Gothic Book"/>
                </a:rPr>
                <a:t> </a:t>
              </a:r>
              <a:r>
                <a:rPr b="0" lang="ru-RU" sz="1800" spc="-1" strike="noStrike">
                  <a:solidFill>
                    <a:srgbClr val="000000"/>
                  </a:solidFill>
                  <a:latin typeface="Franklin Gothic Book"/>
                </a:rPr>
                <a:t>1 сопоставить измеренные значения спектральной плотности огибающей с теоретическими.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algn="just">
                <a:lnSpc>
                  <a:spcPct val="150000"/>
                </a:lnSpc>
              </a:pPr>
              <a:r>
                <a:rPr b="0" lang="ru-RU" sz="1800" spc="-1" strike="noStrike">
                  <a:solidFill>
                    <a:srgbClr val="000000"/>
                  </a:solidFill>
                  <a:latin typeface="Franklin Gothic Book"/>
                </a:rPr>
                <a:t>При расчёте учесть, что                                  , где  </a:t>
              </a:r>
              <a:r>
                <a:rPr b="0" lang="en-US" sz="1800" spc="-1" strike="noStrike">
                  <a:solidFill>
                    <a:srgbClr val="000000"/>
                  </a:solidFill>
                  <a:latin typeface="Franklin Gothic Book"/>
                </a:rPr>
                <a:t>U</a:t>
              </a:r>
              <a:r>
                <a:rPr b="0" i="1" lang="ru-RU" sz="1800" spc="-1" strike="noStrike" baseline="-25000">
                  <a:solidFill>
                    <a:srgbClr val="000000"/>
                  </a:solidFill>
                  <a:latin typeface="Franklin Gothic Book"/>
                </a:rPr>
                <a:t>ш</a:t>
              </a:r>
              <a:r>
                <a:rPr b="0" lang="ru-RU" sz="1800" spc="-1" strike="noStrike">
                  <a:solidFill>
                    <a:srgbClr val="000000"/>
                  </a:solidFill>
                  <a:latin typeface="Franklin Gothic Book"/>
                </a:rPr>
                <a:t> = 0,1В  </a:t>
              </a:r>
              <a:r>
                <a:rPr b="0" lang="en-US" sz="1800" spc="-1" strike="noStrike">
                  <a:solidFill>
                    <a:srgbClr val="000000"/>
                  </a:solidFill>
                  <a:latin typeface="Franklin Gothic Book"/>
                </a:rPr>
                <a:t>- </a:t>
              </a:r>
              <a:r>
                <a:rPr b="0" lang="ru-RU" sz="1800" spc="-1" strike="noStrike">
                  <a:solidFill>
                    <a:srgbClr val="000000"/>
                  </a:solidFill>
                  <a:latin typeface="Franklin Gothic Book"/>
                </a:rPr>
                <a:t>заданное в модели эффективное напряжение шума на выходе БВЧ. Коэффициенты</a:t>
              </a:r>
              <a:r>
                <a:rPr b="0" lang="en-US" sz="1800" spc="-1" strike="noStrike">
                  <a:solidFill>
                    <a:srgbClr val="000000"/>
                  </a:solidFill>
                  <a:latin typeface="Franklin Gothic Book"/>
                </a:rPr>
                <a:t>  b</a:t>
              </a:r>
              <a:r>
                <a:rPr b="0" lang="en-US" sz="1800" spc="-1" strike="noStrike" baseline="-25000">
                  <a:solidFill>
                    <a:srgbClr val="000000"/>
                  </a:solidFill>
                  <a:latin typeface="Franklin Gothic Book"/>
                </a:rPr>
                <a:t>1</a:t>
              </a:r>
              <a:r>
                <a:rPr b="0" lang="en-US" sz="1800" spc="-1" strike="noStrike">
                  <a:solidFill>
                    <a:srgbClr val="000000"/>
                  </a:solidFill>
                  <a:latin typeface="Franklin Gothic Book"/>
                </a:rPr>
                <a:t>(a) </a:t>
              </a:r>
              <a:r>
                <a:rPr b="0" lang="ru-RU" sz="1800" spc="-1" strike="noStrike">
                  <a:solidFill>
                    <a:srgbClr val="000000"/>
                  </a:solidFill>
                  <a:latin typeface="Franklin Gothic Book"/>
                </a:rPr>
                <a:t>и  </a:t>
              </a:r>
              <a:r>
                <a:rPr b="0" lang="en-US" sz="1800" spc="-1" strike="noStrike">
                  <a:solidFill>
                    <a:srgbClr val="000000"/>
                  </a:solidFill>
                  <a:latin typeface="Franklin Gothic Book"/>
                </a:rPr>
                <a:t>b</a:t>
              </a:r>
              <a:r>
                <a:rPr b="0" lang="en-US" sz="1800" spc="-1" strike="noStrike" baseline="-25000">
                  <a:solidFill>
                    <a:srgbClr val="000000"/>
                  </a:solidFill>
                  <a:latin typeface="Franklin Gothic Book"/>
                </a:rPr>
                <a:t>2</a:t>
              </a:r>
              <a:r>
                <a:rPr b="0" lang="en-US" sz="1800" spc="-1" strike="noStrike">
                  <a:solidFill>
                    <a:srgbClr val="000000"/>
                  </a:solidFill>
                  <a:latin typeface="Franklin Gothic Book"/>
                </a:rPr>
                <a:t>(a) </a:t>
              </a:r>
              <a:r>
                <a:rPr b="0" lang="ru-RU" sz="1800" spc="-1" strike="noStrike">
                  <a:solidFill>
                    <a:srgbClr val="000000"/>
                  </a:solidFill>
                  <a:latin typeface="Franklin Gothic Book"/>
                </a:rPr>
                <a:t>определяются по формулам или графикам из раздаточного материала.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84" name="Group 7"/>
          <p:cNvGrpSpPr/>
          <p:nvPr/>
        </p:nvGrpSpPr>
        <p:grpSpPr>
          <a:xfrm>
            <a:off x="176040" y="1195560"/>
            <a:ext cx="4322880" cy="652320"/>
            <a:chOff x="176040" y="1195560"/>
            <a:chExt cx="4322880" cy="652320"/>
          </a:xfrm>
        </p:grpSpPr>
        <p:pic>
          <p:nvPicPr>
            <p:cNvPr id="685" name="Прямоугольник 8" descr=""/>
            <p:cNvPicPr/>
            <p:nvPr/>
          </p:nvPicPr>
          <p:blipFill>
            <a:blip r:embed="rId3"/>
            <a:stretch/>
          </p:blipFill>
          <p:spPr>
            <a:xfrm>
              <a:off x="176040" y="1195560"/>
              <a:ext cx="4322880" cy="652320"/>
            </a:xfrm>
            <a:prstGeom prst="rect">
              <a:avLst/>
            </a:prstGeom>
            <a:ln>
              <a:noFill/>
            </a:ln>
          </p:spPr>
        </p:pic>
        <p:sp>
          <p:nvSpPr>
            <p:cNvPr id="686" name="CustomShape 8"/>
            <p:cNvSpPr/>
            <p:nvPr/>
          </p:nvSpPr>
          <p:spPr>
            <a:xfrm>
              <a:off x="250920" y="1268280"/>
              <a:ext cx="4176720" cy="505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87" name="CustomShape 9"/>
          <p:cNvSpPr/>
          <p:nvPr/>
        </p:nvSpPr>
        <p:spPr>
          <a:xfrm>
            <a:off x="395280" y="1341360"/>
            <a:ext cx="3943440" cy="580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Оформить результаты моделирования.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689" name="Object 11"/>
          <p:cNvGraphicFramePr/>
          <p:nvPr/>
        </p:nvGraphicFramePr>
        <p:xfrm>
          <a:off x="3419640" y="2276640"/>
          <a:ext cx="1649160" cy="691920"/>
        </p:xfrm>
        <a:graphic>
          <a:graphicData uri="http://schemas.openxmlformats.org/presentationml/2006/ole">
            <p:oleObj r:id="rId4" spid="">
              <p:embed/>
              <p:pic>
                <p:nvPicPr>
                  <p:cNvPr id="690" name="Object 1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3419640" y="2276640"/>
                    <a:ext cx="1649160" cy="691920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3292</TotalTime>
  <Application>LibreOffice/6.1.5.2$Linux_X86_64 LibreOffice_project/10$Build-2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buuu</dc:creator>
  <dc:description/>
  <dc:language>en-US</dc:language>
  <cp:lastModifiedBy>Юлия</cp:lastModifiedBy>
  <dcterms:modified xsi:type="dcterms:W3CDTF">2020-09-23T13:52:52Z</dcterms:modified>
  <cp:revision>335</cp:revision>
  <dc:subject/>
  <dc:title>Занятие №3</dc:title>
</cp:coreProperties>
</file>