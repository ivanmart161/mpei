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9" r:id="rId3"/>
    <p:sldId id="262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-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BED99-ABB4-4FB0-A2B5-A5479286FECF}" type="datetimeFigureOut">
              <a:rPr lang="ru-RU" smtClean="0"/>
              <a:t>06.11.2020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979C4-C002-4C34-AFF4-84CE5318BC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78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979C4-C002-4C34-AFF4-84CE5318BCD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318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9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8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3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2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6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8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6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5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1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7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A9E276A-D298-4FD7-98CD-4F91EB5024E0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9678CA1-208B-4034-8DAB-D4CA2E34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1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oleObject" Target="../embeddings/oleObject5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3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3.bin"/><Relationship Id="rId1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wmf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3.png"/><Relationship Id="rId5" Type="http://schemas.openxmlformats.org/officeDocument/2006/relationships/image" Target="../media/image8.wmf"/><Relationship Id="rId10" Type="http://schemas.openxmlformats.org/officeDocument/2006/relationships/image" Target="../media/image12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9.png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0.wmf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9987" y="1696763"/>
            <a:ext cx="9966960" cy="2926080"/>
          </a:xfrm>
        </p:spPr>
        <p:txBody>
          <a:bodyPr>
            <a:normAutofit/>
          </a:bodyPr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Rectangle 2"/>
          <p:cNvSpPr/>
          <p:nvPr/>
        </p:nvSpPr>
        <p:spPr>
          <a:xfrm>
            <a:off x="1639824" y="1157231"/>
            <a:ext cx="854659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i="1" cap="all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Формирование сопряжённого сигнала</a:t>
            </a:r>
            <a:br>
              <a:rPr lang="ru-RU" sz="4000" b="1" i="1" cap="all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</a:br>
            <a:r>
              <a:rPr lang="ru-RU" sz="4000" b="1" i="1" cap="all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с помощью цифрового фильтра Гильберта</a:t>
            </a:r>
            <a:endParaRPr lang="en-US" sz="4000" b="1" i="1" cap="all" dirty="0">
              <a:solidFill>
                <a:srgbClr val="FFFFFF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3882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3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42390"/>
              </p:ext>
            </p:extLst>
          </p:nvPr>
        </p:nvGraphicFramePr>
        <p:xfrm>
          <a:off x="4785330" y="739380"/>
          <a:ext cx="2143140" cy="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Equation" r:id="rId3" imgW="1434960" imgH="253800" progId="Equation.DSMT4">
                  <p:embed/>
                </p:oleObj>
              </mc:Choice>
              <mc:Fallback>
                <p:oleObj name="Equation" r:id="rId3" imgW="1434960" imgH="253800" progId="Equation.DSMT4">
                  <p:embed/>
                  <p:pic>
                    <p:nvPicPr>
                      <p:cNvPr id="1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5330" y="739380"/>
                        <a:ext cx="2143140" cy="38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91893" y="775085"/>
            <a:ext cx="4214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alibri" pitchFamily="34" charset="0"/>
              </a:rPr>
              <a:t>Комплексный аналитический сигнал</a:t>
            </a:r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319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427612" y="1525197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alibri" pitchFamily="34" charset="0"/>
              </a:rPr>
              <a:t>Сопряжённый по Гильберту сигнал</a:t>
            </a:r>
          </a:p>
        </p:txBody>
      </p:sp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504300"/>
              </p:ext>
            </p:extLst>
          </p:nvPr>
        </p:nvGraphicFramePr>
        <p:xfrm>
          <a:off x="942944" y="2603584"/>
          <a:ext cx="62801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Equation" r:id="rId5" imgW="4686120" imgH="634680" progId="Equation.DSMT4">
                  <p:embed/>
                </p:oleObj>
              </mc:Choice>
              <mc:Fallback>
                <p:oleObj name="Equation" r:id="rId5" imgW="4686120" imgH="634680" progId="Equation.DSMT4">
                  <p:embed/>
                  <p:pic>
                    <p:nvPicPr>
                      <p:cNvPr id="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44" y="2603584"/>
                        <a:ext cx="628015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762078" y="2168139"/>
            <a:ext cx="500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alibri" pitchFamily="34" charset="0"/>
              </a:rPr>
              <a:t>Преобразование Гильберта как свёртка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99" y="3561193"/>
            <a:ext cx="3520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alibri" pitchFamily="34" charset="0"/>
              </a:rPr>
              <a:t>Импульсная характеристика преобразователя Гильберта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208206" y="3454484"/>
            <a:ext cx="6521802" cy="30995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3192" name="Picture 8"/>
          <p:cNvPicPr>
            <a:picLocks noChangeAspect="1" noChangeArrowheads="1"/>
          </p:cNvPicPr>
          <p:nvPr/>
        </p:nvPicPr>
        <p:blipFill>
          <a:blip r:embed="rId7" cstate="print">
            <a:lum bright="-10000" contrast="20000"/>
          </a:blip>
          <a:srcRect/>
          <a:stretch>
            <a:fillRect/>
          </a:stretch>
        </p:blipFill>
        <p:spPr bwMode="auto">
          <a:xfrm>
            <a:off x="4506218" y="3648823"/>
            <a:ext cx="3150638" cy="2683142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3191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71016" y="1268387"/>
            <a:ext cx="3500462" cy="864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391893" y="4269079"/>
            <a:ext cx="3413190" cy="1030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547483"/>
              </p:ext>
            </p:extLst>
          </p:nvPr>
        </p:nvGraphicFramePr>
        <p:xfrm>
          <a:off x="677025" y="4404570"/>
          <a:ext cx="2590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Equation" r:id="rId9" imgW="1917360" imgH="507960" progId="Equation.DSMT4">
                  <p:embed/>
                </p:oleObj>
              </mc:Choice>
              <mc:Fallback>
                <p:oleObj name="Equation" r:id="rId9" imgW="1917360" imgH="507960" progId="Equation.DSMT4">
                  <p:embed/>
                  <p:pic>
                    <p:nvPicPr>
                      <p:cNvPr id="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25" y="4404570"/>
                        <a:ext cx="2590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986148"/>
              </p:ext>
            </p:extLst>
          </p:nvPr>
        </p:nvGraphicFramePr>
        <p:xfrm>
          <a:off x="7894733" y="3391745"/>
          <a:ext cx="283527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r:id="rId11" imgW="2254530" imgH="1081980" progId="Visio.Drawing.11">
                  <p:embed/>
                </p:oleObj>
              </mc:Choice>
              <mc:Fallback>
                <p:oleObj r:id="rId11" imgW="2254530" imgH="1081980" progId="Visio.Drawing.11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4733" y="3391745"/>
                        <a:ext cx="2835275" cy="1355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Объект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472240"/>
              </p:ext>
            </p:extLst>
          </p:nvPr>
        </p:nvGraphicFramePr>
        <p:xfrm>
          <a:off x="8070586" y="4847492"/>
          <a:ext cx="2416175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r:id="rId13" imgW="2144315" imgH="1519920" progId="Visio.Drawing.11">
                  <p:embed/>
                </p:oleObj>
              </mc:Choice>
              <mc:Fallback>
                <p:oleObj r:id="rId13" imgW="2144315" imgH="1519920" progId="Visio.Drawing.11">
                  <p:embed/>
                  <p:pic>
                    <p:nvPicPr>
                      <p:cNvPr id="9" name="Объект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0586" y="4847492"/>
                        <a:ext cx="2416175" cy="170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333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9314" y="321077"/>
            <a:ext cx="9875520" cy="806682"/>
          </a:xfrm>
        </p:spPr>
        <p:txBody>
          <a:bodyPr/>
          <a:lstStyle/>
          <a:p>
            <a:r>
              <a:rPr lang="ru-RU" dirty="0" smtClean="0"/>
              <a:t>Цифровой фильтр Гильберта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212012"/>
              </p:ext>
            </p:extLst>
          </p:nvPr>
        </p:nvGraphicFramePr>
        <p:xfrm>
          <a:off x="922819" y="1770569"/>
          <a:ext cx="1714512" cy="666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4" imgW="2057400" imgH="799920" progId="Equation.DSMT4">
                  <p:embed/>
                </p:oleObj>
              </mc:Choice>
              <mc:Fallback>
                <p:oleObj name="Equation" r:id="rId4" imgW="2057400" imgH="799920" progId="Equation.DSMT4">
                  <p:embed/>
                  <p:pic>
                    <p:nvPicPr>
                      <p:cNvPr id="21" name="Объект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819" y="1770569"/>
                        <a:ext cx="1714512" cy="666755"/>
                      </a:xfrm>
                      <a:prstGeom prst="rect">
                        <a:avLst/>
                      </a:prstGeom>
                      <a:solidFill>
                        <a:srgbClr val="FFE0C1"/>
                      </a:solidFill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519710"/>
              </p:ext>
            </p:extLst>
          </p:nvPr>
        </p:nvGraphicFramePr>
        <p:xfrm>
          <a:off x="6671496" y="1832085"/>
          <a:ext cx="2286016" cy="684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6" imgW="2844720" imgH="850680" progId="Equation.DSMT4">
                  <p:embed/>
                </p:oleObj>
              </mc:Choice>
              <mc:Fallback>
                <p:oleObj name="Equation" r:id="rId6" imgW="2844720" imgH="850680" progId="Equation.DSMT4">
                  <p:embed/>
                  <p:pic>
                    <p:nvPicPr>
                      <p:cNvPr id="993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1496" y="1832085"/>
                        <a:ext cx="2286016" cy="684629"/>
                      </a:xfrm>
                      <a:prstGeom prst="rect">
                        <a:avLst/>
                      </a:prstGeom>
                      <a:solidFill>
                        <a:srgbClr val="FFE0C1"/>
                      </a:solidFill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23149" y="1151440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АЧХ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86140" y="1230101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АЧХ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9943" y="1114105"/>
            <a:ext cx="192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Calibri" pitchFamily="34" charset="0"/>
              </a:rPr>
              <a:t>Импульсная</a:t>
            </a:r>
            <a:br>
              <a:rPr lang="ru-RU" dirty="0" smtClean="0">
                <a:latin typeface="Calibri" pitchFamily="34" charset="0"/>
              </a:rPr>
            </a:br>
            <a:r>
              <a:rPr lang="ru-RU" dirty="0" smtClean="0">
                <a:latin typeface="Calibri" pitchFamily="34" charset="0"/>
              </a:rPr>
              <a:t> характеристика</a:t>
            </a:r>
            <a:endParaRPr lang="ru-RU" dirty="0">
              <a:latin typeface="Calibri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51711" y="3508894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ФЧХ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86140" y="3587555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Calibri" pitchFamily="34" charset="0"/>
              </a:rPr>
              <a:t>ФЧХ</a:t>
            </a:r>
            <a:endParaRPr lang="ru-RU" sz="2000" dirty="0"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85810" y="1023407"/>
            <a:ext cx="192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Calibri" pitchFamily="34" charset="0"/>
              </a:rPr>
              <a:t>Импульсная</a:t>
            </a:r>
            <a:br>
              <a:rPr lang="ru-RU" dirty="0" smtClean="0">
                <a:latin typeface="Calibri" pitchFamily="34" charset="0"/>
              </a:rPr>
            </a:br>
            <a:r>
              <a:rPr lang="ru-RU" dirty="0" smtClean="0">
                <a:latin typeface="Calibri" pitchFamily="34" charset="0"/>
              </a:rPr>
              <a:t> характеристика</a:t>
            </a:r>
            <a:endParaRPr lang="ru-RU" dirty="0">
              <a:latin typeface="Calibri" pitchFamily="34" charset="0"/>
            </a:endParaRPr>
          </a:p>
        </p:txBody>
      </p:sp>
      <p:pic>
        <p:nvPicPr>
          <p:cNvPr id="12" name="Рисунок 11" descr="ИХ ПГ без нулей.png"/>
          <p:cNvPicPr>
            <a:picLocks noChangeAspect="1"/>
          </p:cNvPicPr>
          <p:nvPr/>
        </p:nvPicPr>
        <p:blipFill>
          <a:blip r:embed="rId8" cstate="print">
            <a:lum bright="-10000" contrast="20000"/>
          </a:blip>
          <a:stretch>
            <a:fillRect/>
          </a:stretch>
        </p:blipFill>
        <p:spPr>
          <a:xfrm>
            <a:off x="708505" y="2993588"/>
            <a:ext cx="2071702" cy="1724169"/>
          </a:xfrm>
          <a:prstGeom prst="rect">
            <a:avLst/>
          </a:prstGeom>
        </p:spPr>
      </p:pic>
      <p:pic>
        <p:nvPicPr>
          <p:cNvPr id="13" name="Рисунок 12" descr="АЧХ ПГ без нулей.png"/>
          <p:cNvPicPr>
            <a:picLocks noChangeAspect="1"/>
          </p:cNvPicPr>
          <p:nvPr/>
        </p:nvPicPr>
        <p:blipFill>
          <a:blip r:embed="rId9" cstate="print">
            <a:lum bright="-10000" contrast="20000"/>
          </a:blip>
          <a:stretch>
            <a:fillRect/>
          </a:stretch>
        </p:blipFill>
        <p:spPr>
          <a:xfrm>
            <a:off x="2969346" y="1651506"/>
            <a:ext cx="1882563" cy="1643074"/>
          </a:xfrm>
          <a:prstGeom prst="rect">
            <a:avLst/>
          </a:prstGeom>
        </p:spPr>
      </p:pic>
      <p:pic>
        <p:nvPicPr>
          <p:cNvPr id="14" name="Рисунок 13" descr="ФЧХ ПГ без нулей.png"/>
          <p:cNvPicPr>
            <a:picLocks noChangeAspect="1"/>
          </p:cNvPicPr>
          <p:nvPr/>
        </p:nvPicPr>
        <p:blipFill>
          <a:blip r:embed="rId10" cstate="print">
            <a:lum bright="-10000" contrast="20000"/>
          </a:blip>
          <a:stretch>
            <a:fillRect/>
          </a:stretch>
        </p:blipFill>
        <p:spPr>
          <a:xfrm>
            <a:off x="2920768" y="3924549"/>
            <a:ext cx="1923304" cy="1584609"/>
          </a:xfrm>
          <a:prstGeom prst="rect">
            <a:avLst/>
          </a:prstGeom>
        </p:spPr>
      </p:pic>
      <p:pic>
        <p:nvPicPr>
          <p:cNvPr id="15" name="Рисунок 14" descr="ИХ ПГ с нулями.png"/>
          <p:cNvPicPr>
            <a:picLocks noChangeAspect="1"/>
          </p:cNvPicPr>
          <p:nvPr/>
        </p:nvPicPr>
        <p:blipFill>
          <a:blip r:embed="rId11" cstate="print">
            <a:lum bright="-10000" contrast="20000"/>
          </a:blip>
          <a:stretch>
            <a:fillRect/>
          </a:stretch>
        </p:blipFill>
        <p:spPr>
          <a:xfrm>
            <a:off x="6742934" y="3055272"/>
            <a:ext cx="2071702" cy="1746729"/>
          </a:xfrm>
          <a:prstGeom prst="rect">
            <a:avLst/>
          </a:prstGeom>
        </p:spPr>
      </p:pic>
      <p:pic>
        <p:nvPicPr>
          <p:cNvPr id="16" name="Рисунок 15" descr="АЧХ ПГ с нулями.png"/>
          <p:cNvPicPr>
            <a:picLocks noChangeAspect="1"/>
          </p:cNvPicPr>
          <p:nvPr/>
        </p:nvPicPr>
        <p:blipFill>
          <a:blip r:embed="rId12" cstate="print">
            <a:lum bright="-10000" contrast="20000"/>
          </a:blip>
          <a:stretch>
            <a:fillRect/>
          </a:stretch>
        </p:blipFill>
        <p:spPr>
          <a:xfrm>
            <a:off x="9028951" y="1730168"/>
            <a:ext cx="1857387" cy="1688808"/>
          </a:xfrm>
          <a:prstGeom prst="rect">
            <a:avLst/>
          </a:prstGeom>
        </p:spPr>
      </p:pic>
      <p:pic>
        <p:nvPicPr>
          <p:cNvPr id="17" name="Рисунок 16" descr="ФЧХ ПГ без нулей.png"/>
          <p:cNvPicPr>
            <a:picLocks noChangeAspect="1"/>
          </p:cNvPicPr>
          <p:nvPr/>
        </p:nvPicPr>
        <p:blipFill>
          <a:blip r:embed="rId10" cstate="print">
            <a:lum bright="-10000" contrast="20000"/>
          </a:blip>
          <a:stretch>
            <a:fillRect/>
          </a:stretch>
        </p:blipFill>
        <p:spPr>
          <a:xfrm>
            <a:off x="8993072" y="4005705"/>
            <a:ext cx="1923304" cy="1584609"/>
          </a:xfrm>
          <a:prstGeom prst="rect">
            <a:avLst/>
          </a:prstGeom>
        </p:spPr>
      </p:pic>
      <p:cxnSp>
        <p:nvCxnSpPr>
          <p:cNvPr id="18" name="Прямая соединительная линия 17"/>
          <p:cNvCxnSpPr/>
          <p:nvPr/>
        </p:nvCxnSpPr>
        <p:spPr>
          <a:xfrm rot="5400000" flipH="1" flipV="1">
            <a:off x="3489531" y="3394517"/>
            <a:ext cx="4500594" cy="0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3626" y="5978013"/>
            <a:ext cx="11356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Рассчитать: </a:t>
            </a:r>
            <a:r>
              <a:rPr lang="ru-RU" dirty="0" smtClean="0"/>
              <a:t>коэффициенты цифрового КИХ фильтра Гильберта </a:t>
            </a:r>
            <a:r>
              <a:rPr lang="ru-RU" b="1" dirty="0" smtClean="0"/>
              <a:t>10</a:t>
            </a:r>
            <a:r>
              <a:rPr lang="ru-RU" dirty="0" smtClean="0"/>
              <a:t>го порядка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74371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3537155" cy="63909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Схема модели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93" y="1569013"/>
            <a:ext cx="7524750" cy="3857625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249264" y="14420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097866"/>
              </p:ext>
            </p:extLst>
          </p:nvPr>
        </p:nvGraphicFramePr>
        <p:xfrm>
          <a:off x="8249264" y="1442013"/>
          <a:ext cx="850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2" r:id="rId4" imgW="850531" imgH="253890" progId="Equation.DSMT4">
                  <p:embed/>
                </p:oleObj>
              </mc:Choice>
              <mc:Fallback>
                <p:oleObj r:id="rId4" imgW="850531" imgH="25389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9264" y="1442013"/>
                        <a:ext cx="8509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 flipH="1">
            <a:off x="9189716" y="1332365"/>
            <a:ext cx="2795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 частота дискретизации</a:t>
            </a:r>
            <a:endParaRPr lang="ru-RU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249264" y="18091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939360"/>
              </p:ext>
            </p:extLst>
          </p:nvPr>
        </p:nvGraphicFramePr>
        <p:xfrm>
          <a:off x="8249264" y="1809136"/>
          <a:ext cx="850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" r:id="rId6" imgW="850531" imgH="253890" progId="Equation.DSMT4">
                  <p:embed/>
                </p:oleObj>
              </mc:Choice>
              <mc:Fallback>
                <p:oleObj r:id="rId6" imgW="850531" imgH="2538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9264" y="1809136"/>
                        <a:ext cx="8509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 flipH="1">
            <a:off x="9189716" y="1644031"/>
            <a:ext cx="2795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 интервал дискретизации</a:t>
            </a:r>
            <a:endParaRPr lang="ru-RU" dirty="0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964795"/>
              </p:ext>
            </p:extLst>
          </p:nvPr>
        </p:nvGraphicFramePr>
        <p:xfrm>
          <a:off x="10064299" y="3219085"/>
          <a:ext cx="393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" r:id="rId8" imgW="393529" imgH="253890" progId="Equation.DSMT4">
                  <p:embed/>
                </p:oleObj>
              </mc:Choice>
              <mc:Fallback>
                <p:oleObj r:id="rId8" imgW="393529" imgH="25389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299" y="3219085"/>
                        <a:ext cx="393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743627"/>
              </p:ext>
            </p:extLst>
          </p:nvPr>
        </p:nvGraphicFramePr>
        <p:xfrm>
          <a:off x="9048299" y="4240075"/>
          <a:ext cx="1409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r:id="rId10" imgW="1409088" imgH="266584" progId="Equation.DSMT4">
                  <p:embed/>
                </p:oleObj>
              </mc:Choice>
              <mc:Fallback>
                <p:oleObj r:id="rId10" imgW="1409088" imgH="26658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299" y="4240075"/>
                        <a:ext cx="14097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818635" y="2241979"/>
            <a:ext cx="407884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Модели элемента задержки (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Delay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), масштабного элемента (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Amp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), сумматора (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), сумматора с тремя входами (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Sum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) находятся в группе макросов.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Частота сигнала равна           </a:t>
            </a:r>
            <a:r>
              <a:rPr lang="ru-RU" altLang="ru-RU" sz="1400" b="1" dirty="0">
                <a:latin typeface="Arial" panose="020B0604020202020204" pitchFamily="34" charset="0"/>
                <a:ea typeface="Times New Roman" panose="02020603050405020304" pitchFamily="18" charset="0"/>
              </a:rPr>
              <a:t>амплитуда 1 В.</a:t>
            </a: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ru-RU" altLang="ru-RU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7970050" y="3774849"/>
            <a:ext cx="39111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Замечание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элемент задержки 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на время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8019743" y="4585567"/>
            <a:ext cx="38615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 не входит в схему фильтра Гильберта; он необходим для выравнивания задержек входного сигнала и выходного сигнала фильтра.</a:t>
            </a:r>
          </a:p>
        </p:txBody>
      </p:sp>
    </p:spTree>
    <p:extLst>
      <p:ext uri="{BB962C8B-B14F-4D97-AF65-F5344CB8AC3E}">
        <p14:creationId xmlns:p14="http://schemas.microsoft.com/office/powerpoint/2010/main" val="595158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492304"/>
              </p:ext>
            </p:extLst>
          </p:nvPr>
        </p:nvGraphicFramePr>
        <p:xfrm>
          <a:off x="3582685" y="546303"/>
          <a:ext cx="1041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r:id="rId3" imgW="1040948" imgH="291973" progId="Equation.DSMT4">
                  <p:embed/>
                </p:oleObj>
              </mc:Choice>
              <mc:Fallback>
                <p:oleObj r:id="rId3" imgW="1040948" imgH="291973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2685" y="546303"/>
                        <a:ext cx="10414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89668" y="519947"/>
            <a:ext cx="3312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Построить</a:t>
            </a:r>
            <a:r>
              <a:rPr kumimoji="0" lang="ru-RU" altLang="ru-RU" sz="1400" i="0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интервале частот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394026" y="533579"/>
            <a:ext cx="1186190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графики АЧХ и ФЧХ фильтра Гильберта и элемента задержки на 5 </a:t>
            </a:r>
            <a:r>
              <a:rPr kumimoji="0" lang="ru-RU" alt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мкс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80102" y="1119948"/>
            <a:ext cx="32222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286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Определить</a:t>
            </a:r>
            <a:r>
              <a:rPr kumimoji="0" lang="ru-RU" altLang="ru-R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altLang="ru-RU" sz="14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на частоте сигнала: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82228" y="810548"/>
            <a:ext cx="110714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286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Построить два графика АЧХ на одном рисунке, два графика ФЧХ – на другом рисунке.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849330" y="1564208"/>
            <a:ext cx="10904306" cy="56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по графикам АЧХ: отклонение характеристики фильтра от равномерной характеристики элемента задержки;</a:t>
            </a: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по графикам ФЧХ: разность фаз сигналов на выходе фильтра и на выходе элемента задержки.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89668" y="2267449"/>
            <a:ext cx="11263968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sz="1400" b="1" u="sng" dirty="0">
                <a:latin typeface="Arial" panose="020B0604020202020204" pitchFamily="34" charset="0"/>
                <a:ea typeface="Times New Roman" panose="02020603050405020304" pitchFamily="18" charset="0"/>
              </a:rPr>
              <a:t>Изменить</a:t>
            </a:r>
            <a:r>
              <a:rPr 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latin typeface="Arial" panose="020B0604020202020204" pitchFamily="34" charset="0"/>
                <a:ea typeface="Times New Roman" panose="02020603050405020304" pitchFamily="18" charset="0"/>
              </a:rPr>
              <a:t>коэффициенты фильтра в соответствии с весовой обработкой функцией Хэмминга. Весовая (оконная) функция Хэмминга определяется выражением</a:t>
            </a:r>
          </a:p>
        </p:txBody>
      </p:sp>
      <p:sp>
        <p:nvSpPr>
          <p:cNvPr id="12" name="Rectangle 25"/>
          <p:cNvSpPr>
            <a:spLocks noChangeArrowheads="1"/>
          </p:cNvSpPr>
          <p:nvPr/>
        </p:nvSpPr>
        <p:spPr bwMode="auto">
          <a:xfrm>
            <a:off x="3582685" y="29260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605485"/>
              </p:ext>
            </p:extLst>
          </p:nvPr>
        </p:nvGraphicFramePr>
        <p:xfrm>
          <a:off x="4476532" y="2926091"/>
          <a:ext cx="3213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r:id="rId5" imgW="3213100" imgH="495300" progId="Equation.DSMT4">
                  <p:embed/>
                </p:oleObj>
              </mc:Choice>
              <mc:Fallback>
                <p:oleObj r:id="rId5" imgW="3213100" imgH="4953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532" y="2926091"/>
                        <a:ext cx="32131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4394026" y="3458694"/>
            <a:ext cx="74931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где </a:t>
            </a:r>
            <a:r>
              <a:rPr kumimoji="0" lang="en-US" altLang="ru-RU" sz="1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</a:t>
            </a:r>
            <a:r>
              <a:rPr kumimoji="0" lang="en-US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– количество отсчётов, равное длине импульсной характеристики фильтра. Эта функция симметрична относительно отсчёта с номером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212439"/>
              </p:ext>
            </p:extLst>
          </p:nvPr>
        </p:nvGraphicFramePr>
        <p:xfrm>
          <a:off x="9205646" y="3722876"/>
          <a:ext cx="115262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r:id="rId7" imgW="190417" imgH="241195" progId="Equation.DSMT4">
                  <p:embed/>
                </p:oleObj>
              </mc:Choice>
              <mc:Fallback>
                <p:oleObj r:id="rId7" imgW="190417" imgH="241195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5646" y="3722876"/>
                        <a:ext cx="115262" cy="241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30"/>
          <p:cNvSpPr>
            <a:spLocks noChangeArrowheads="1"/>
          </p:cNvSpPr>
          <p:nvPr/>
        </p:nvSpPr>
        <p:spPr bwMode="auto">
          <a:xfrm>
            <a:off x="9263277" y="3689637"/>
            <a:ext cx="3434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её максимальное значение 1.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36" name="Picture 40"/>
          <p:cNvPicPr>
            <a:picLocks noChangeAspect="1" noChangeArrowheads="1"/>
          </p:cNvPicPr>
          <p:nvPr/>
        </p:nvPicPr>
        <p:blipFill>
          <a:blip r:embed="rId9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09" y="2912459"/>
            <a:ext cx="3403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109653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243</TotalTime>
  <Words>222</Words>
  <Application>Microsoft Office PowerPoint</Application>
  <PresentationFormat>Широкоэкранный</PresentationFormat>
  <Paragraphs>32</Paragraphs>
  <Slides>5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Arial</vt:lpstr>
      <vt:lpstr>Calibri</vt:lpstr>
      <vt:lpstr>Corbel</vt:lpstr>
      <vt:lpstr>Symbol</vt:lpstr>
      <vt:lpstr>Times New Roman</vt:lpstr>
      <vt:lpstr>Basis</vt:lpstr>
      <vt:lpstr>Equation</vt:lpstr>
      <vt:lpstr>Equation.DSMT4</vt:lpstr>
      <vt:lpstr>Visio.Drawing.11</vt:lpstr>
      <vt:lpstr> </vt:lpstr>
      <vt:lpstr>Презентация PowerPoint</vt:lpstr>
      <vt:lpstr>Цифровой фильтр Гильберта</vt:lpstr>
      <vt:lpstr>Схема модели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buuu</dc:creator>
  <cp:lastModifiedBy>Юлия</cp:lastModifiedBy>
  <cp:revision>19</cp:revision>
  <dcterms:created xsi:type="dcterms:W3CDTF">2020-11-06T08:22:51Z</dcterms:created>
  <dcterms:modified xsi:type="dcterms:W3CDTF">2020-11-06T12:31:34Z</dcterms:modified>
</cp:coreProperties>
</file>