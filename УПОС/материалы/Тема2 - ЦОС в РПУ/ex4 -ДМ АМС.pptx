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emf"/><Relationship Id="rId5" Type="http://schemas.openxmlformats.org/officeDocument/2006/relationships/image" Target="../media/image5.e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5" Type="http://schemas.openxmlformats.org/officeDocument/2006/relationships/image" Target="../media/image11.e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w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13.wmf"/><Relationship Id="rId1" Type="http://schemas.openxmlformats.org/officeDocument/2006/relationships/image" Target="../media/image3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43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0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55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13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91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29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17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27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82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66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19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3068820-15AE-49C7-B2A2-8B89744C9530}" type="datetimeFigureOut">
              <a:rPr lang="ru-RU" smtClean="0"/>
              <a:t>28.10.2020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C18DBB1-B484-41F6-9C2E-4712C21FA7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98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6.emf"/><Relationship Id="rId3" Type="http://schemas.openxmlformats.org/officeDocument/2006/relationships/oleObject" Target="../embeddings/oleObject11.bin"/><Relationship Id="rId7" Type="http://schemas.openxmlformats.org/officeDocument/2006/relationships/image" Target="../media/image18.png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image" Target="../media/image15.emf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2.wmf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2.png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8.emf"/><Relationship Id="rId3" Type="http://schemas.openxmlformats.org/officeDocument/2006/relationships/oleObject" Target="../embeddings/oleObject21.bin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7.emf"/><Relationship Id="rId5" Type="http://schemas.openxmlformats.org/officeDocument/2006/relationships/image" Target="../media/image29.png"/><Relationship Id="rId10" Type="http://schemas.openxmlformats.org/officeDocument/2006/relationships/oleObject" Target="../embeddings/oleObject24.bin"/><Relationship Id="rId4" Type="http://schemas.openxmlformats.org/officeDocument/2006/relationships/image" Target="../media/image24.wmf"/><Relationship Id="rId9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2.png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9987" y="1696763"/>
            <a:ext cx="9966960" cy="2926080"/>
          </a:xfrm>
        </p:spPr>
        <p:txBody>
          <a:bodyPr>
            <a:normAutofit fontScale="90000"/>
          </a:bodyPr>
          <a:lstStyle/>
          <a:p>
            <a:r>
              <a:rPr lang="ru-RU" sz="4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низкочастотных квадратурных составляющих</a:t>
            </a:r>
            <a:br>
              <a:rPr lang="ru-RU" sz="4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4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демодуляция АМ сигнала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783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</a:t>
            </a:r>
            <a:r>
              <a:rPr lang="ru-RU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НЧ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составляющих</a:t>
            </a:r>
            <a:endParaRPr lang="ru-RU" dirty="0"/>
          </a:p>
        </p:txBody>
      </p:sp>
      <p:pic>
        <p:nvPicPr>
          <p:cNvPr id="1026" name="Picture 2" descr="Структурная схем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9" y="1965960"/>
            <a:ext cx="5393531" cy="349917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530485"/>
              </p:ext>
            </p:extLst>
          </p:nvPr>
        </p:nvGraphicFramePr>
        <p:xfrm>
          <a:off x="6536531" y="1965960"/>
          <a:ext cx="19034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" name="Equation" r:id="rId4" imgW="1903342" imgH="304671" progId="Equation.DSMT4">
                  <p:embed/>
                </p:oleObj>
              </mc:Choice>
              <mc:Fallback>
                <p:oleObj name="Equation" r:id="rId4" imgW="1903342" imgH="304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36531" y="1965960"/>
                        <a:ext cx="1903413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895715" y="190142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сигнал</a:t>
            </a:r>
            <a:endParaRPr lang="ru-RU" dirty="0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488325"/>
              </p:ext>
            </p:extLst>
          </p:nvPr>
        </p:nvGraphicFramePr>
        <p:xfrm>
          <a:off x="6536531" y="2500312"/>
          <a:ext cx="15700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" name="Equation" r:id="rId6" imgW="1497950" imgH="266584" progId="Equation.DSMT4">
                  <p:embed/>
                </p:oleObj>
              </mc:Choice>
              <mc:Fallback>
                <p:oleObj name="Equation" r:id="rId6" imgW="1497950" imgH="26658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6531" y="2500312"/>
                        <a:ext cx="1570038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47093"/>
              </p:ext>
            </p:extLst>
          </p:nvPr>
        </p:nvGraphicFramePr>
        <p:xfrm>
          <a:off x="6536531" y="2782887"/>
          <a:ext cx="15541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" name="Equation" r:id="rId8" imgW="1447172" imgH="266584" progId="Equation.DSMT4">
                  <p:embed/>
                </p:oleObj>
              </mc:Choice>
              <mc:Fallback>
                <p:oleObj name="Equation" r:id="rId8" imgW="1447172" imgH="26658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6531" y="2782887"/>
                        <a:ext cx="1554163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6536531" y="20431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6536531" y="27828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21431" y="2598221"/>
            <a:ext cx="212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НЧ составляющие</a:t>
            </a:r>
            <a:endParaRPr lang="ru-RU" dirty="0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105822"/>
              </p:ext>
            </p:extLst>
          </p:nvPr>
        </p:nvGraphicFramePr>
        <p:xfrm>
          <a:off x="6536531" y="3562588"/>
          <a:ext cx="372268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" name="Equation" r:id="rId10" imgW="4190760" imgH="1015920" progId="Equation.DSMT4">
                  <p:embed/>
                </p:oleObj>
              </mc:Choice>
              <mc:Fallback>
                <p:oleObj name="Equation" r:id="rId10" imgW="419076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36531" y="3562588"/>
                        <a:ext cx="3722687" cy="90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85163" y="3137654"/>
            <a:ext cx="330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 выходе 1го </a:t>
            </a:r>
            <a:r>
              <a:rPr lang="ru-RU" dirty="0" err="1" smtClean="0"/>
              <a:t>перемножителя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6485163" y="4494014"/>
            <a:ext cx="330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 выходе 2го </a:t>
            </a:r>
            <a:r>
              <a:rPr lang="ru-RU" dirty="0" err="1" smtClean="0"/>
              <a:t>перемножителя</a:t>
            </a:r>
            <a:r>
              <a:rPr lang="ru-RU" dirty="0" smtClean="0"/>
              <a:t>:</a:t>
            </a:r>
            <a:endParaRPr lang="ru-RU" dirty="0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177826"/>
              </p:ext>
            </p:extLst>
          </p:nvPr>
        </p:nvGraphicFramePr>
        <p:xfrm>
          <a:off x="6484029" y="4819804"/>
          <a:ext cx="5195887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name="Equation" r:id="rId12" imgW="5195706" imgH="1846373" progId="Equation.DSMT4">
                  <p:embed/>
                </p:oleObj>
              </mc:Choice>
              <mc:Fallback>
                <p:oleObj name="Equation" r:id="rId12" imgW="5195706" imgH="184637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84029" y="4819804"/>
                        <a:ext cx="5195887" cy="184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085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Демодуляция АМ сигнала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327362"/>
              </p:ext>
            </p:extLst>
          </p:nvPr>
        </p:nvGraphicFramePr>
        <p:xfrm>
          <a:off x="1143000" y="1893888"/>
          <a:ext cx="19034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" name="Equation" r:id="rId3" imgW="1903342" imgH="266543" progId="Equation.DSMT4">
                  <p:embed/>
                </p:oleObj>
              </mc:Choice>
              <mc:Fallback>
                <p:oleObj name="Equation" r:id="rId3" imgW="1903342" imgH="2665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1893888"/>
                        <a:ext cx="1903413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5021" y="1791256"/>
            <a:ext cx="278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сигнал с АМ модуляцией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828021"/>
              </p:ext>
            </p:extLst>
          </p:nvPr>
        </p:nvGraphicFramePr>
        <p:xfrm>
          <a:off x="1123950" y="2301082"/>
          <a:ext cx="192246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2" name="Equation" r:id="rId5" imgW="1922404" imgH="266543" progId="Equation.DSMT4">
                  <p:embed/>
                </p:oleObj>
              </mc:Choice>
              <mc:Fallback>
                <p:oleObj name="Equation" r:id="rId5" imgW="1922404" imgH="2665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3950" y="2301082"/>
                        <a:ext cx="1922463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45021" y="2192100"/>
            <a:ext cx="2034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закон модуляции</a:t>
            </a:r>
            <a:endParaRPr lang="ru-RU" dirty="0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428761"/>
              </p:ext>
            </p:extLst>
          </p:nvPr>
        </p:nvGraphicFramePr>
        <p:xfrm>
          <a:off x="1123950" y="2761616"/>
          <a:ext cx="1439863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" name="Equation" r:id="rId7" imgW="1371600" imgH="266700" progId="Equation.DSMT4">
                  <p:embed/>
                </p:oleObj>
              </mc:Choice>
              <mc:Fallback>
                <p:oleObj name="Equation" r:id="rId7" imgW="1371600" imgH="266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2761616"/>
                        <a:ext cx="1439863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751686"/>
              </p:ext>
            </p:extLst>
          </p:nvPr>
        </p:nvGraphicFramePr>
        <p:xfrm>
          <a:off x="1123950" y="3044191"/>
          <a:ext cx="1431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" name="Equation" r:id="rId9" imgW="1332921" imgH="266584" progId="Equation.DSMT4">
                  <p:embed/>
                </p:oleObj>
              </mc:Choice>
              <mc:Fallback>
                <p:oleObj name="Equation" r:id="rId9" imgW="1332921" imgH="26658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3044191"/>
                        <a:ext cx="1431925" cy="28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123950" y="27616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123950" y="30441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      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021" y="2807657"/>
            <a:ext cx="212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НЧ составляющие</a:t>
            </a:r>
            <a:endParaRPr lang="ru-RU" dirty="0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911617"/>
              </p:ext>
            </p:extLst>
          </p:nvPr>
        </p:nvGraphicFramePr>
        <p:xfrm>
          <a:off x="1133475" y="3753644"/>
          <a:ext cx="17510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" name="Equation" r:id="rId11" imgW="1750844" imgH="304671" progId="Equation.DSMT4">
                  <p:embed/>
                </p:oleObj>
              </mc:Choice>
              <mc:Fallback>
                <p:oleObj name="Equation" r:id="rId11" imgW="1750844" imgH="3046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33475" y="3753644"/>
                        <a:ext cx="1751013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52152" y="3689112"/>
            <a:ext cx="266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</a:t>
            </a:r>
            <a:r>
              <a:rPr lang="ru-RU" dirty="0"/>
              <a:t>а</a:t>
            </a:r>
            <a:r>
              <a:rPr lang="ru-RU" dirty="0" smtClean="0"/>
              <a:t>лгоритм демодуляции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55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Расчёт ФНЧ квадратурного </a:t>
            </a:r>
            <a:r>
              <a:rPr lang="ru-RU" dirty="0" smtClean="0"/>
              <a:t>смесителя</a:t>
            </a:r>
            <a:endParaRPr lang="ru-RU" dirty="0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212384"/>
              </p:ext>
            </p:extLst>
          </p:nvPr>
        </p:nvGraphicFramePr>
        <p:xfrm>
          <a:off x="1143000" y="1935797"/>
          <a:ext cx="8604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Equation" r:id="rId3" imgW="863280" imgH="241200" progId="Equation.DSMT4">
                  <p:embed/>
                </p:oleObj>
              </mc:Choice>
              <mc:Fallback>
                <p:oleObj name="Equation" r:id="rId3" imgW="86328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35797"/>
                        <a:ext cx="860425" cy="24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971529"/>
              </p:ext>
            </p:extLst>
          </p:nvPr>
        </p:nvGraphicFramePr>
        <p:xfrm>
          <a:off x="1143000" y="2347276"/>
          <a:ext cx="8921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Equation" r:id="rId5" imgW="888614" imgH="241195" progId="Equation.DSMT4">
                  <p:embed/>
                </p:oleObj>
              </mc:Choice>
              <mc:Fallback>
                <p:oleObj name="Equation" r:id="rId5" imgW="888614" imgH="24119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47276"/>
                        <a:ext cx="892175" cy="24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77925" y="946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254250" y="1841102"/>
            <a:ext cx="2206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- частота </a:t>
            </a: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несущей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254250" y="2302510"/>
            <a:ext cx="24884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- частота </a:t>
            </a: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модуляции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094" y="1625348"/>
            <a:ext cx="2311399" cy="117017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307935"/>
              </p:ext>
            </p:extLst>
          </p:nvPr>
        </p:nvGraphicFramePr>
        <p:xfrm>
          <a:off x="1143000" y="3053158"/>
          <a:ext cx="15986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Equation" r:id="rId8" imgW="1598706" imgH="589919" progId="Equation.DSMT4">
                  <p:embed/>
                </p:oleObj>
              </mc:Choice>
              <mc:Fallback>
                <p:oleObj name="Equation" r:id="rId8" imgW="1598706" imgH="58991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43000" y="3053158"/>
                        <a:ext cx="1598613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114674" y="3105385"/>
            <a:ext cx="121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АЧХ ФНЧ</a:t>
            </a:r>
            <a:endParaRPr lang="ru-RU" dirty="0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990989"/>
              </p:ext>
            </p:extLst>
          </p:nvPr>
        </p:nvGraphicFramePr>
        <p:xfrm>
          <a:off x="1177925" y="3782532"/>
          <a:ext cx="989013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Equation" r:id="rId10" imgW="989795" imgH="247478" progId="Equation.DSMT4">
                  <p:embed/>
                </p:oleObj>
              </mc:Choice>
              <mc:Fallback>
                <p:oleObj name="Equation" r:id="rId10" imgW="989795" imgH="2474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77925" y="3782532"/>
                        <a:ext cx="989013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341721"/>
              </p:ext>
            </p:extLst>
          </p:nvPr>
        </p:nvGraphicFramePr>
        <p:xfrm>
          <a:off x="7263605" y="3167536"/>
          <a:ext cx="2492375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r:id="rId12" imgW="5132526" imgH="4107600" progId="Visio.Drawing.11">
                  <p:embed/>
                </p:oleObj>
              </mc:Choice>
              <mc:Fallback>
                <p:oleObj r:id="rId12" imgW="5132526" imgH="410760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3605" y="3167536"/>
                        <a:ext cx="2492375" cy="201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10043358" y="16564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 = 1</a:t>
            </a:r>
            <a:r>
              <a:rPr lang="ru-RU" dirty="0" smtClean="0"/>
              <a:t>кОм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322716" y="5120028"/>
            <a:ext cx="115465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u="sng" dirty="0">
                <a:latin typeface="Arial" panose="020B0604020202020204" pitchFamily="34" charset="0"/>
                <a:ea typeface="Times New Roman" panose="02020603050405020304" pitchFamily="18" charset="0"/>
              </a:rPr>
              <a:t>Оценить</a:t>
            </a:r>
            <a:r>
              <a:rPr lang="ru-RU" sz="1600" dirty="0">
                <a:latin typeface="Arial" panose="020B0604020202020204" pitchFamily="34" charset="0"/>
                <a:ea typeface="Times New Roman" panose="02020603050405020304" pitchFamily="18" charset="0"/>
              </a:rPr>
              <a:t> уровень </a:t>
            </a:r>
            <a:r>
              <a:rPr lang="ru-RU" altLang="ru-RU" sz="1600" dirty="0">
                <a:latin typeface="Arial" panose="020B0604020202020204" pitchFamily="34" charset="0"/>
                <a:ea typeface="Times New Roman" panose="02020603050405020304" pitchFamily="18" charset="0"/>
              </a:rPr>
              <a:t>подавления паразитной составляющей колебания на выходе </a:t>
            </a:r>
            <a:r>
              <a:rPr lang="ru-RU" altLang="ru-RU" sz="1600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перемножителя</a:t>
            </a:r>
            <a:r>
              <a:rPr lang="ru-RU" altLang="ru-RU" sz="16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ru-RU" altLang="ru-RU" sz="1600" dirty="0">
                <a:latin typeface="Arial" panose="020B0604020202020204" pitchFamily="34" charset="0"/>
                <a:ea typeface="Times New Roman" panose="02020603050405020304" pitchFamily="18" charset="0"/>
              </a:rPr>
              <a:t>рассчитать коэффициент передачи </a:t>
            </a:r>
            <a:r>
              <a:rPr lang="en-US" altLang="ru-RU" sz="1600" i="1" dirty="0">
                <a:latin typeface="Arial" panose="020B0604020202020204" pitchFamily="34" charset="0"/>
                <a:ea typeface="Times New Roman" panose="02020603050405020304" pitchFamily="18" charset="0"/>
              </a:rPr>
              <a:t>RC</a:t>
            </a:r>
            <a:r>
              <a:rPr lang="ru-RU" altLang="ru-RU" sz="1600" dirty="0">
                <a:latin typeface="Arial" panose="020B0604020202020204" pitchFamily="34" charset="0"/>
                <a:ea typeface="Times New Roman" panose="02020603050405020304" pitchFamily="18" charset="0"/>
              </a:rPr>
              <a:t>-цепи на частоте </a:t>
            </a:r>
            <a:endParaRPr lang="ru-RU" altLang="ru-RU" sz="1600" dirty="0">
              <a:latin typeface="Arial" panose="020B0604020202020204" pitchFamily="34" charset="0"/>
            </a:endParaRPr>
          </a:p>
          <a:p>
            <a:r>
              <a:rPr lang="ru-RU" dirty="0" smtClean="0"/>
              <a:t>  </a:t>
            </a:r>
            <a:endParaRPr lang="ru-RU" dirty="0"/>
          </a:p>
        </p:txBody>
      </p:sp>
      <p:graphicFrame>
        <p:nvGraphicFramePr>
          <p:cNvPr id="33" name="Объект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798651"/>
              </p:ext>
            </p:extLst>
          </p:nvPr>
        </p:nvGraphicFramePr>
        <p:xfrm>
          <a:off x="4671216" y="5432646"/>
          <a:ext cx="274637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Equation" r:id="rId14" imgW="274320" imgH="236228" progId="Equation.DSMT4">
                  <p:embed/>
                </p:oleObj>
              </mc:Choice>
              <mc:Fallback>
                <p:oleObj name="Equation" r:id="rId14" imgW="274320" imgH="23622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71216" y="5432646"/>
                        <a:ext cx="274637" cy="236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256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Модель АД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32" y="1808800"/>
            <a:ext cx="2027237" cy="141763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4321638" y="1620581"/>
            <a:ext cx="3911455" cy="1943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Моделирование АМ сигнала:</a:t>
            </a:r>
          </a:p>
          <a:p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модулирующее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напряжение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U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</a:rPr>
              <a:t>_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mod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несущее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колебание –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U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_0 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1400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4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define f0 5meg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define FM</a:t>
            </a: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 10</a:t>
            </a:r>
            <a:r>
              <a:rPr lang="en-US" sz="14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k</a:t>
            </a:r>
            <a:endParaRPr lang="ru-RU" sz="1400" dirty="0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482753"/>
              </p:ext>
            </p:extLst>
          </p:nvPr>
        </p:nvGraphicFramePr>
        <p:xfrm>
          <a:off x="8252457" y="2411094"/>
          <a:ext cx="19034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Equation" r:id="rId4" imgW="1903342" imgH="533085" progId="Equation.DSMT4">
                  <p:embed/>
                </p:oleObj>
              </mc:Choice>
              <mc:Fallback>
                <p:oleObj name="Equation" r:id="rId4" imgW="1903342" imgH="53308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52457" y="2411094"/>
                        <a:ext cx="1903413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518626"/>
              </p:ext>
            </p:extLst>
          </p:nvPr>
        </p:nvGraphicFramePr>
        <p:xfrm>
          <a:off x="8298575" y="1877694"/>
          <a:ext cx="3654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tion" r:id="rId6" imgW="3654186" imgH="533085" progId="Equation.DSMT4">
                  <p:embed/>
                </p:oleObj>
              </mc:Choice>
              <mc:Fallback>
                <p:oleObj name="Equation" r:id="rId6" imgW="3654186" imgH="53308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98575" y="1877694"/>
                        <a:ext cx="3654425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21481" y="415592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90494"/>
              </p:ext>
            </p:extLst>
          </p:nvPr>
        </p:nvGraphicFramePr>
        <p:xfrm>
          <a:off x="217896" y="3873920"/>
          <a:ext cx="4216786" cy="2032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r:id="rId8" imgW="4523826" imgH="2188800" progId="Visio.Drawing.11">
                  <p:embed/>
                </p:oleObj>
              </mc:Choice>
              <mc:Fallback>
                <p:oleObj r:id="rId8" imgW="4523826" imgH="218880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40000" contrast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96" y="3873920"/>
                        <a:ext cx="4216786" cy="20325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Прямоугольник 22"/>
          <p:cNvSpPr/>
          <p:nvPr/>
        </p:nvSpPr>
        <p:spPr>
          <a:xfrm>
            <a:off x="4321638" y="3536890"/>
            <a:ext cx="68766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Параметры моделирования: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время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моделирования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0.5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максимальный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шаг по времени 10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нс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34682" y="4520871"/>
            <a:ext cx="4285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ru-RU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Получить</a:t>
            </a:r>
            <a:r>
              <a:rPr lang="ru-RU" alt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эпюры следующих колебаний</a:t>
            </a:r>
            <a:r>
              <a:rPr lang="ru-RU" alt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4682785" y="5015739"/>
            <a:ext cx="73611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</a:t>
            </a:r>
            <a:r>
              <a:rPr lang="ru-RU" alt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лирующее напряжение и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АМ сигнал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напряжения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выходе ФНЧ двух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каналов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повторить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моделирование, задав начальную фазу несущего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колебания</a:t>
            </a:r>
          </a:p>
          <a:p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</a:rPr>
              <a:t>{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</a:rPr>
              <a:t>pi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</a:rPr>
              <a:t>/2+pi/4}. 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сравнить результаты,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сделать выводы.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254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Демодуляция АМС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166970"/>
              </p:ext>
            </p:extLst>
          </p:nvPr>
        </p:nvGraphicFramePr>
        <p:xfrm>
          <a:off x="1233487" y="1661160"/>
          <a:ext cx="17510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3" imgW="1750844" imgH="304671" progId="Equation.DSMT4">
                  <p:embed/>
                </p:oleObj>
              </mc:Choice>
              <mc:Fallback>
                <p:oleObj name="Equation" r:id="rId3" imgW="1750844" imgH="304671" progId="Equation.DSMT4">
                  <p:embed/>
                  <p:pic>
                    <p:nvPicPr>
                      <p:cNvPr id="14" name="Объект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3487" y="1661160"/>
                        <a:ext cx="1751013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52164" y="1596628"/>
            <a:ext cx="266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</a:t>
            </a:r>
            <a:r>
              <a:rPr lang="ru-RU" dirty="0"/>
              <a:t>а</a:t>
            </a:r>
            <a:r>
              <a:rPr lang="ru-RU" dirty="0" smtClean="0"/>
              <a:t>лгоритм демодуляции</a:t>
            </a:r>
            <a:endParaRPr lang="ru-RU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5763" y="20038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436774"/>
              </p:ext>
            </p:extLst>
          </p:nvPr>
        </p:nvGraphicFramePr>
        <p:xfrm>
          <a:off x="385763" y="2003862"/>
          <a:ext cx="5699125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r:id="rId5" imgW="7136912" imgH="2186820" progId="Visio.Drawing.11">
                  <p:embed/>
                </p:oleObj>
              </mc:Choice>
              <mc:Fallback>
                <p:oleObj r:id="rId5" imgW="7136912" imgH="21868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30000" contrast="4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2003862"/>
                        <a:ext cx="5699125" cy="174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6283325" y="1965960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b="1" u="sng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Извлечение корня компонентом </a:t>
            </a:r>
            <a:r>
              <a:rPr lang="en-US" sz="1400" b="1" u="sng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NFV: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Component 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→ Analog Primitives → Function Sources → 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NFV 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(Analog Behavioral Voltage Source</a:t>
            </a:r>
            <a:r>
              <a:rPr lang="en-US" sz="12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VALUE</a:t>
            </a:r>
            <a:r>
              <a:rPr lang="ru-RU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как </a:t>
            </a:r>
            <a:r>
              <a:rPr lang="en-US" sz="1200" dirty="0" err="1">
                <a:latin typeface="Arial" panose="020B0604020202020204" pitchFamily="34" charset="0"/>
                <a:ea typeface="Times New Roman" panose="02020603050405020304" pitchFamily="18" charset="0"/>
              </a:rPr>
              <a:t>sqrt</a:t>
            </a:r>
            <a:r>
              <a:rPr lang="ru-RU" sz="1200" dirty="0"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ru-RU" sz="1200" dirty="0">
                <a:latin typeface="Arial" panose="020B0604020202020204" pitchFamily="34" charset="0"/>
                <a:ea typeface="Times New Roman" panose="02020603050405020304" pitchFamily="18" charset="0"/>
              </a:rPr>
              <a:t>(12))</a:t>
            </a:r>
            <a:endParaRPr lang="ru-RU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5763" y="3856502"/>
            <a:ext cx="4285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ru-RU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Получить</a:t>
            </a:r>
            <a:r>
              <a:rPr lang="ru-RU" alt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эпюры следующих колебаний</a:t>
            </a:r>
            <a:r>
              <a:rPr lang="ru-RU" alt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33866" y="4351370"/>
            <a:ext cx="983981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</a:t>
            </a:r>
            <a:r>
              <a:rPr lang="ru-RU" alt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лирующее напряжение и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АМ сигнал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напряжения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выходе ФНЧ двух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каналов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повторить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моделирование, задав начальную фазу несущего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колебания</a:t>
            </a:r>
          </a:p>
          <a:p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</a:rPr>
              <a:t>{</a:t>
            </a:r>
            <a:r>
              <a:rPr lang="ru-RU" dirty="0" err="1">
                <a:latin typeface="Arial" panose="020B0604020202020204" pitchFamily="34" charset="0"/>
                <a:ea typeface="Times New Roman" panose="02020603050405020304" pitchFamily="18" charset="0"/>
              </a:rPr>
              <a:t>pi</a:t>
            </a: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</a:rPr>
              <a:t>/2+pi/4</a:t>
            </a:r>
            <a:r>
              <a:rPr 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оценить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искажения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демодулированного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сигнала по сравнению с модулирующим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напряжением</a:t>
            </a:r>
            <a:endParaRPr lang="ru-RU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сравнить результаты,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сделать выводы.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915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Фазорасщепляющая цепь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0" y="16644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044157"/>
              </p:ext>
            </p:extLst>
          </p:nvPr>
        </p:nvGraphicFramePr>
        <p:xfrm>
          <a:off x="4222750" y="1762125"/>
          <a:ext cx="1346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3" imgW="1346040" imgH="495000" progId="Equation.DSMT4">
                  <p:embed/>
                </p:oleObj>
              </mc:Choice>
              <mc:Fallback>
                <p:oleObj name="Equation" r:id="rId3" imgW="13460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2750" y="1762125"/>
                        <a:ext cx="13462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1654"/>
            <a:ext cx="2514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4116309" y="2411254"/>
            <a:ext cx="47887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u="sng" spc="-1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Параметры трансформатора</a:t>
            </a:r>
            <a:r>
              <a:rPr lang="ru-RU" sz="1400" spc="-1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en-US" sz="1400" spc="-1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VALUE </a:t>
            </a:r>
            <a:r>
              <a:rPr lang="ru-RU" sz="1400" spc="-1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-</a:t>
            </a:r>
            <a:r>
              <a:rPr lang="ru-RU" sz="1400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10 </a:t>
            </a:r>
            <a:r>
              <a:rPr lang="ru-RU" sz="1400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мкГн</a:t>
            </a: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10 </a:t>
            </a:r>
            <a:r>
              <a:rPr lang="ru-RU" sz="1400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мкГн</a:t>
            </a: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1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116309" y="278159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Параметры моделирования:</a:t>
            </a: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время моделирования 1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мкс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максимальный шаг по времени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нс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400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166812" y="37361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968788"/>
              </p:ext>
            </p:extLst>
          </p:nvPr>
        </p:nvGraphicFramePr>
        <p:xfrm>
          <a:off x="898292" y="3736181"/>
          <a:ext cx="3055938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r:id="rId6" imgW="2368346" imgH="1156500" progId="Visio.Drawing.11">
                  <p:embed/>
                </p:oleObj>
              </mc:Choice>
              <mc:Fallback>
                <p:oleObj r:id="rId6" imgW="2368346" imgH="115650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92" y="3736181"/>
                        <a:ext cx="3055938" cy="149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116309" y="3247076"/>
            <a:ext cx="755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Амплитуда опорного колебания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выбирается,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исходя из того, что амплитуда на вторичной обмотке больше,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чем           и          в 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331247"/>
              </p:ext>
            </p:extLst>
          </p:nvPr>
        </p:nvGraphicFramePr>
        <p:xfrm>
          <a:off x="5956935" y="3522646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Equation" r:id="rId8" imgW="247449" imgH="247478" progId="Equation.DSMT4">
                  <p:embed/>
                </p:oleObj>
              </mc:Choice>
              <mc:Fallback>
                <p:oleObj name="Equation" r:id="rId8" imgW="247449" imgH="2474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56935" y="3522646"/>
                        <a:ext cx="24765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451739"/>
              </p:ext>
            </p:extLst>
          </p:nvPr>
        </p:nvGraphicFramePr>
        <p:xfrm>
          <a:off x="6488185" y="3508686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Equation" r:id="rId10" imgW="247449" imgH="247478" progId="Equation.DSMT4">
                  <p:embed/>
                </p:oleObj>
              </mc:Choice>
              <mc:Fallback>
                <p:oleObj name="Equation" r:id="rId10" imgW="247449" imgH="2474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88185" y="3508686"/>
                        <a:ext cx="24765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977489"/>
              </p:ext>
            </p:extLst>
          </p:nvPr>
        </p:nvGraphicFramePr>
        <p:xfrm>
          <a:off x="6996112" y="3478295"/>
          <a:ext cx="2667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Equation" r:id="rId12" imgW="266511" imgH="247478" progId="Equation.DSMT4">
                  <p:embed/>
                </p:oleObj>
              </mc:Choice>
              <mc:Fallback>
                <p:oleObj name="Equation" r:id="rId12" imgW="266511" imgH="24747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96112" y="3478295"/>
                        <a:ext cx="26670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Прямоугольник 19"/>
          <p:cNvSpPr/>
          <p:nvPr/>
        </p:nvSpPr>
        <p:spPr>
          <a:xfrm>
            <a:off x="3200399" y="3765476"/>
            <a:ext cx="7818121" cy="1331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just">
              <a:lnSpc>
                <a:spcPct val="115000"/>
              </a:lnSpc>
              <a:spcAft>
                <a:spcPts val="0"/>
              </a:spcAft>
            </a:pPr>
            <a:r>
              <a:rPr lang="ru-RU" sz="1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Получить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 эпюры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напряжения на резисторе и конденсаторе. </a:t>
            </a:r>
            <a:endParaRPr lang="ru-RU" sz="1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 algn="just">
              <a:lnSpc>
                <a:spcPct val="115000"/>
              </a:lnSpc>
              <a:spcAft>
                <a:spcPts val="0"/>
              </a:spcAft>
            </a:pPr>
            <a:r>
              <a:rPr lang="ru-RU" sz="1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Определить: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амплитуду и разность фаз колебаний на выходе цепи, сравнить с требуемыми значениями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lvl="2" algn="just">
              <a:lnSpc>
                <a:spcPct val="115000"/>
              </a:lnSpc>
              <a:spcAft>
                <a:spcPts val="0"/>
              </a:spcAft>
            </a:pP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 algn="just">
              <a:lnSpc>
                <a:spcPct val="115000"/>
              </a:lnSpc>
              <a:spcAft>
                <a:spcPts val="0"/>
              </a:spcAft>
            </a:pPr>
            <a:r>
              <a:rPr lang="ru-RU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Используя фазорасщепляющую цепь в модели АД получить эпюры колебаний: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4222750" y="504920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</a:t>
            </a:r>
            <a:r>
              <a:rPr lang="ru-RU" alt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лирующее </a:t>
            </a:r>
            <a:r>
              <a:rPr lang="ru-RU" alt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напряжение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напряжения на выходе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АД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116309" y="5508615"/>
            <a:ext cx="75568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Оценить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искажения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демодулированного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сигнала по сравнению с модулирующим напряжением</a:t>
            </a:r>
          </a:p>
          <a:p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Сравнить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результаты, сделать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выводы.</a:t>
            </a:r>
          </a:p>
          <a:p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Повторить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моделирование, задав начальную фазу несущего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колебания  </a:t>
            </a: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{</a:t>
            </a:r>
            <a:r>
              <a:rPr lang="ru-RU" sz="1400" dirty="0" err="1">
                <a:latin typeface="Arial" panose="020B0604020202020204" pitchFamily="34" charset="0"/>
                <a:ea typeface="Times New Roman" panose="02020603050405020304" pitchFamily="18" charset="0"/>
              </a:rPr>
              <a:t>pi</a:t>
            </a: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/2+pi/4}</a:t>
            </a:r>
            <a:endParaRPr 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90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900" y="403839"/>
            <a:ext cx="11544300" cy="1356360"/>
          </a:xfrm>
        </p:spPr>
        <p:txBody>
          <a:bodyPr>
            <a:noAutofit/>
          </a:bodyPr>
          <a:lstStyle/>
          <a:p>
            <a:r>
              <a:rPr lang="ru-RU" sz="3600" dirty="0"/>
              <a:t>Моделирование демодулятора при действии двух </a:t>
            </a:r>
            <a:r>
              <a:rPr lang="ru-RU" sz="3600" dirty="0" smtClean="0"/>
              <a:t>сигналов. </a:t>
            </a:r>
            <a:r>
              <a:rPr lang="ru-RU" sz="3600" dirty="0"/>
              <a:t>Схема с ФНЧ в виде интегрирующей </a:t>
            </a:r>
            <a:r>
              <a:rPr lang="en-US" sz="3600" dirty="0"/>
              <a:t>RC</a:t>
            </a:r>
            <a:r>
              <a:rPr lang="ru-RU" sz="3600" dirty="0"/>
              <a:t>-цепи</a:t>
            </a:r>
            <a:r>
              <a:rPr lang="ru-RU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7" y="1658779"/>
            <a:ext cx="2493168" cy="2440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236833"/>
              </p:ext>
            </p:extLst>
          </p:nvPr>
        </p:nvGraphicFramePr>
        <p:xfrm>
          <a:off x="4289425" y="1857375"/>
          <a:ext cx="9112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4" imgW="914400" imgH="241200" progId="Equation.DSMT4">
                  <p:embed/>
                </p:oleObj>
              </mc:Choice>
              <mc:Fallback>
                <p:oleObj name="Equation" r:id="rId4" imgW="914400" imgH="241200" progId="Equation.DSMT4">
                  <p:embed/>
                  <p:pic>
                    <p:nvPicPr>
                      <p:cNvPr id="7" name="Объект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425" y="1857375"/>
                        <a:ext cx="911225" cy="24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634594"/>
              </p:ext>
            </p:extLst>
          </p:nvPr>
        </p:nvGraphicFramePr>
        <p:xfrm>
          <a:off x="4314825" y="2630326"/>
          <a:ext cx="8921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6" imgW="888614" imgH="241195" progId="Equation.DSMT4">
                  <p:embed/>
                </p:oleObj>
              </mc:Choice>
              <mc:Fallback>
                <p:oleObj name="Equation" r:id="rId6" imgW="888614" imgH="241195" progId="Equation.DSMT4">
                  <p:embed/>
                  <p:pic>
                    <p:nvPicPr>
                      <p:cNvPr id="8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825" y="2630326"/>
                        <a:ext cx="892175" cy="24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5426075" y="1794946"/>
            <a:ext cx="3310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- частота </a:t>
            </a: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несущей 1 сигнала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426075" y="2585560"/>
            <a:ext cx="24884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- частота </a:t>
            </a: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модуляции 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007527"/>
              </p:ext>
            </p:extLst>
          </p:nvPr>
        </p:nvGraphicFramePr>
        <p:xfrm>
          <a:off x="4240213" y="2243138"/>
          <a:ext cx="1011237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Equation" r:id="rId8" imgW="1015920" imgH="241200" progId="Equation.DSMT4">
                  <p:embed/>
                </p:oleObj>
              </mc:Choice>
              <mc:Fallback>
                <p:oleObj name="Equation" r:id="rId8" imgW="1015920" imgH="241200" progId="Equation.DSMT4">
                  <p:embed/>
                  <p:pic>
                    <p:nvPicPr>
                      <p:cNvPr id="8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2243138"/>
                        <a:ext cx="1011237" cy="24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5426075" y="2151498"/>
            <a:ext cx="3310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- частота </a:t>
            </a: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несущей </a:t>
            </a:r>
            <a:r>
              <a:rPr lang="ru-RU" altLang="ru-RU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2 сигнала</a:t>
            </a:r>
            <a:endParaRPr lang="ru-RU" altLang="ru-RU" sz="2400" dirty="0">
              <a:latin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705224" y="3024387"/>
            <a:ext cx="7660481" cy="278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ru-RU" sz="1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Построить: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пюры двух АМС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эпюру суммарного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сигнала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Спектр суммарного колебания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линейном масштабе в интервале частот 4,9 МГц – 5,1 МГц. </a:t>
            </a:r>
            <a:endParaRPr lang="ru-RU" sz="1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ru-RU" sz="1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Параметры моделирования: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время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моделирования 1 </a:t>
            </a:r>
            <a:r>
              <a:rPr lang="ru-RU" sz="1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мс</a:t>
            </a:r>
            <a:endParaRPr lang="ru-RU" sz="1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максимальный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шаг по времени 20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нс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ru-RU" sz="1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роверить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правильность моделирования суммарного сигнала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5000"/>
              </a:lnSpc>
            </a:pP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Установить начальную фазу несущего колебания {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pi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/2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}. </a:t>
            </a:r>
            <a:r>
              <a:rPr lang="ru-RU" sz="1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Построить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эпюры колебаний:</a:t>
            </a:r>
          </a:p>
          <a:p>
            <a:pPr algn="just">
              <a:lnSpc>
                <a:spcPct val="115000"/>
              </a:lnSpc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705224" y="548470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</a:t>
            </a:r>
            <a:r>
              <a:rPr lang="ru-RU" alt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лирующее </a:t>
            </a:r>
            <a:r>
              <a:rPr lang="ru-RU" alt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напряжение 1го источника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напряжения на выходе АД</a:t>
            </a:r>
            <a:endParaRPr lang="ru-RU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705223" y="5917864"/>
            <a:ext cx="7803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Оценить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искажения </a:t>
            </a:r>
            <a:r>
              <a:rPr lang="ru-RU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демодулированного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сигнала по сравнению с модулирующим напряжением</a:t>
            </a:r>
          </a:p>
          <a:p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Сравнить результаты, сделать выводы.</a:t>
            </a:r>
          </a:p>
        </p:txBody>
      </p:sp>
    </p:spTree>
    <p:extLst>
      <p:ext uri="{BB962C8B-B14F-4D97-AF65-F5344CB8AC3E}">
        <p14:creationId xmlns:p14="http://schemas.microsoft.com/office/powerpoint/2010/main" val="61247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259</TotalTime>
  <Words>410</Words>
  <Application>Microsoft Office PowerPoint</Application>
  <PresentationFormat>Широкоэкранный</PresentationFormat>
  <Paragraphs>81</Paragraphs>
  <Slides>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Corbel</vt:lpstr>
      <vt:lpstr>Times New Roman</vt:lpstr>
      <vt:lpstr>Базис</vt:lpstr>
      <vt:lpstr>Equation</vt:lpstr>
      <vt:lpstr>Visio.Drawing.11</vt:lpstr>
      <vt:lpstr>MathType 7.0 Equation</vt:lpstr>
      <vt:lpstr>Формирование низкочастотных квадратурных составляющих  и демодуляция АМ сигнала </vt:lpstr>
      <vt:lpstr>Формирование НЧ составляющих</vt:lpstr>
      <vt:lpstr>Демодуляция АМ сигнала</vt:lpstr>
      <vt:lpstr>Расчёт ФНЧ квадратурного смесителя</vt:lpstr>
      <vt:lpstr>Модель АД</vt:lpstr>
      <vt:lpstr>Демодуляция АМС</vt:lpstr>
      <vt:lpstr>Фазорасщепляющая цепь</vt:lpstr>
      <vt:lpstr>Моделирование демодулятора при действии двух сигналов. Схема с ФНЧ в виде интегрирующей RC-цепи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низкочастотных квадратурных составляющих  и демодуляция АМ сигнала </dc:title>
  <dc:creator>Юлия</dc:creator>
  <cp:lastModifiedBy>Юлия</cp:lastModifiedBy>
  <cp:revision>42</cp:revision>
  <dcterms:created xsi:type="dcterms:W3CDTF">2020-10-21T10:26:53Z</dcterms:created>
  <dcterms:modified xsi:type="dcterms:W3CDTF">2020-10-28T11:53:51Z</dcterms:modified>
</cp:coreProperties>
</file>