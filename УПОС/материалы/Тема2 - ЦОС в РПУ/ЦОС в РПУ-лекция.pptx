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</p:sldMasterIdLst>
  <p:notesMasterIdLst>
    <p:notesMasterId r:id="rId31"/>
  </p:notesMasterIdLst>
  <p:handoutMasterIdLst>
    <p:handoutMasterId r:id="rId32"/>
  </p:handoutMasterIdLst>
  <p:sldIdLst>
    <p:sldId id="344" r:id="rId2"/>
    <p:sldId id="345" r:id="rId3"/>
    <p:sldId id="346" r:id="rId4"/>
    <p:sldId id="342" r:id="rId5"/>
    <p:sldId id="294" r:id="rId6"/>
    <p:sldId id="347" r:id="rId7"/>
    <p:sldId id="348" r:id="rId8"/>
    <p:sldId id="271" r:id="rId9"/>
    <p:sldId id="280" r:id="rId10"/>
    <p:sldId id="349" r:id="rId11"/>
    <p:sldId id="350" r:id="rId12"/>
    <p:sldId id="284" r:id="rId13"/>
    <p:sldId id="354" r:id="rId14"/>
    <p:sldId id="355" r:id="rId15"/>
    <p:sldId id="353" r:id="rId16"/>
    <p:sldId id="335" r:id="rId17"/>
    <p:sldId id="351" r:id="rId18"/>
    <p:sldId id="352" r:id="rId19"/>
    <p:sldId id="336" r:id="rId20"/>
    <p:sldId id="337" r:id="rId21"/>
    <p:sldId id="338" r:id="rId22"/>
    <p:sldId id="356" r:id="rId23"/>
    <p:sldId id="357" r:id="rId24"/>
    <p:sldId id="339" r:id="rId25"/>
    <p:sldId id="358" r:id="rId26"/>
    <p:sldId id="359" r:id="rId27"/>
    <p:sldId id="340" r:id="rId28"/>
    <p:sldId id="343" r:id="rId29"/>
    <p:sldId id="341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A2196C3-4009-4C2C-B4DF-83CBEB86A316}">
          <p14:sldIdLst>
            <p14:sldId id="344"/>
          </p14:sldIdLst>
        </p14:section>
        <p14:section name="Формирование комплексной огибающей" id="{88704821-1109-4FA2-B1E6-F1FDC75DA4F6}">
          <p14:sldIdLst>
            <p14:sldId id="345"/>
            <p14:sldId id="346"/>
            <p14:sldId id="342"/>
            <p14:sldId id="294"/>
            <p14:sldId id="347"/>
            <p14:sldId id="348"/>
            <p14:sldId id="271"/>
            <p14:sldId id="280"/>
            <p14:sldId id="349"/>
            <p14:sldId id="350"/>
          </p14:sldIdLst>
        </p14:section>
        <p14:section name="Использование комплексной огибающей" id="{87414A57-E8BB-441E-BAC9-EA7EEE0471B7}">
          <p14:sldIdLst/>
        </p14:section>
        <p14:section name="Цифровые демодуляторы сигналов" id="{5BCE49C3-02B8-4772-8E53-070B6E26A655}">
          <p14:sldIdLst>
            <p14:sldId id="284"/>
            <p14:sldId id="354"/>
            <p14:sldId id="355"/>
            <p14:sldId id="353"/>
            <p14:sldId id="335"/>
            <p14:sldId id="351"/>
            <p14:sldId id="352"/>
            <p14:sldId id="336"/>
            <p14:sldId id="337"/>
            <p14:sldId id="338"/>
            <p14:sldId id="356"/>
            <p14:sldId id="357"/>
            <p14:sldId id="339"/>
            <p14:sldId id="358"/>
            <p14:sldId id="359"/>
            <p14:sldId id="340"/>
            <p14:sldId id="343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BD"/>
    <a:srgbClr val="FFECAF"/>
    <a:srgbClr val="CCFFCC"/>
    <a:srgbClr val="3BCCFF"/>
    <a:srgbClr val="81F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>
      <p:cViewPr varScale="1">
        <p:scale>
          <a:sx n="117" d="100"/>
          <a:sy n="117" d="100"/>
        </p:scale>
        <p:origin x="127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wmf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image" Target="../media/image6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wmf"/><Relationship Id="rId1" Type="http://schemas.openxmlformats.org/officeDocument/2006/relationships/image" Target="../media/image69.emf"/><Relationship Id="rId4" Type="http://schemas.openxmlformats.org/officeDocument/2006/relationships/image" Target="../media/image72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96592-094F-47BF-90F9-2A4C9D0C01CF}" type="datetimeFigureOut">
              <a:rPr lang="ru-RU" smtClean="0"/>
              <a:pPr/>
              <a:t>30.10.2024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CC360-CF55-4E38-B418-1A6E66B4CDC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DC1A1-6CF5-40C4-B13B-809A345D586F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40A2B-7C65-4C25-93E0-189A09FFD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464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24" tIns="47416" rIns="94824" bIns="47416" anchor="b"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B4F8B-8E92-4BCA-85EF-27AF2A0CDA3D}" type="slidenum">
              <a:rPr lang="en-GB" altLang="zh-CN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</a:t>
            </a:fld>
            <a:endParaRPr lang="en-GB" altLang="zh-CN" sz="1300"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3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 altLang="zh-CN" smtClean="0"/>
          </a:p>
        </p:txBody>
      </p:sp>
    </p:spTree>
    <p:extLst>
      <p:ext uri="{BB962C8B-B14F-4D97-AF65-F5344CB8AC3E}">
        <p14:creationId xmlns:p14="http://schemas.microsoft.com/office/powerpoint/2010/main" val="1280746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620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06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9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06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874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46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239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82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117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60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31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8047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171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902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217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770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48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DA73F36-832E-45D4-8C1C-A3FCEB1F0B2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9097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4.e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6.wmf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oleObject" Target="../embeddings/oleObject27.bin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wmf"/><Relationship Id="rId11" Type="http://schemas.openxmlformats.org/officeDocument/2006/relationships/image" Target="../media/image39.png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8.png"/><Relationship Id="rId4" Type="http://schemas.openxmlformats.org/officeDocument/2006/relationships/image" Target="../media/image33.wmf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4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1.e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43.e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5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52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7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60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62.wmf"/><Relationship Id="rId4" Type="http://schemas.openxmlformats.org/officeDocument/2006/relationships/oleObject" Target="../embeddings/oleObject4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6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65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8.e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6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72.emf"/><Relationship Id="rId4" Type="http://schemas.openxmlformats.org/officeDocument/2006/relationships/image" Target="../media/image69.emf"/><Relationship Id="rId9" Type="http://schemas.openxmlformats.org/officeDocument/2006/relationships/oleObject" Target="../embeddings/oleObject5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73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1115616" y="1371600"/>
            <a:ext cx="7848872" cy="4865712"/>
          </a:xfrm>
          <a:extLst/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altLang="zh-CN" dirty="0" smtClean="0">
                <a:ea typeface="宋体" charset="-122"/>
              </a:rPr>
              <a:t>Тема 2. Цифровая обработка сигналов в РПУ</a:t>
            </a:r>
            <a:r>
              <a:rPr lang="ru-RU" sz="6000" dirty="0" smtClean="0"/>
              <a:t/>
            </a:r>
            <a:br>
              <a:rPr lang="ru-RU" sz="6000" dirty="0" smtClean="0"/>
            </a:br>
            <a:r>
              <a:rPr lang="ru-RU" altLang="zh-CN" dirty="0" smtClean="0">
                <a:ea typeface="宋体" charset="-122"/>
              </a:rPr>
              <a:t> </a:t>
            </a:r>
            <a:endParaRPr lang="de-DE" altLang="zh-CN" dirty="0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31746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 bwMode="auto">
          <a:xfrm>
            <a:off x="1763688" y="3550146"/>
            <a:ext cx="5760640" cy="201622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904" y="227584"/>
            <a:ext cx="7429499" cy="686032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2.1 </a:t>
            </a:r>
            <a:r>
              <a:rPr lang="ru-RU" sz="3200" dirty="0" smtClean="0"/>
              <a:t>Комплексная </a:t>
            </a:r>
            <a:r>
              <a:rPr lang="ru-RU" sz="3200" dirty="0"/>
              <a:t>огибающая сигнала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55576" y="1052736"/>
            <a:ext cx="3672408" cy="9953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974889"/>
              </p:ext>
            </p:extLst>
          </p:nvPr>
        </p:nvGraphicFramePr>
        <p:xfrm>
          <a:off x="975705" y="1227377"/>
          <a:ext cx="2116138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31" name="Equation" r:id="rId3" imgW="1854000" imgH="241200" progId="Equation.DSMT4">
                  <p:embed/>
                </p:oleObj>
              </mc:Choice>
              <mc:Fallback>
                <p:oleObj name="Equation" r:id="rId3" imgW="1854000" imgH="241200" progId="Equation.DSMT4">
                  <p:embed/>
                  <p:pic>
                    <p:nvPicPr>
                      <p:cNvPr id="4" name="Содержимое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705" y="1227377"/>
                        <a:ext cx="2116138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32888" y="1180029"/>
            <a:ext cx="983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- сигнал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88024" y="1124744"/>
            <a:ext cx="37776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U(t) – амплитудная огибающая</a:t>
            </a:r>
          </a:p>
          <a:p>
            <a:r>
              <a:rPr lang="ru-RU" dirty="0" smtClean="0">
                <a:sym typeface="Symbol"/>
              </a:rPr>
              <a:t>(t) -  фазовая функция</a:t>
            </a:r>
          </a:p>
          <a:p>
            <a:r>
              <a:rPr lang="ru-RU" dirty="0" smtClean="0">
                <a:sym typeface="Symbol"/>
              </a:rPr>
              <a:t>(t)=</a:t>
            </a:r>
            <a:r>
              <a:rPr lang="ru-RU" baseline="-25000" dirty="0" smtClean="0">
                <a:sym typeface="Symbol"/>
              </a:rPr>
              <a:t>0</a:t>
            </a:r>
            <a:r>
              <a:rPr lang="ru-RU" dirty="0" smtClean="0">
                <a:sym typeface="Symbol"/>
              </a:rPr>
              <a:t>t+</a:t>
            </a:r>
            <a:r>
              <a:rPr lang="ru-RU" dirty="0">
                <a:sym typeface="Symbol"/>
              </a:rPr>
              <a:t> (t</a:t>
            </a:r>
            <a:r>
              <a:rPr lang="ru-RU" dirty="0" smtClean="0">
                <a:sym typeface="Symbol"/>
              </a:rPr>
              <a:t>) – полная фаза сигнала</a:t>
            </a:r>
            <a:endParaRPr lang="ru-RU" dirty="0"/>
          </a:p>
        </p:txBody>
      </p:sp>
      <p:graphicFrame>
        <p:nvGraphicFramePr>
          <p:cNvPr id="7" name="Объект 6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70699539"/>
              </p:ext>
            </p:extLst>
          </p:nvPr>
        </p:nvGraphicFramePr>
        <p:xfrm>
          <a:off x="2368550" y="2605357"/>
          <a:ext cx="44069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32" name="Equation" r:id="rId5" imgW="3860640" imgH="672840" progId="Equation.DSMT4">
                  <p:embed/>
                </p:oleObj>
              </mc:Choice>
              <mc:Fallback>
                <p:oleObj name="Equation" r:id="rId5" imgW="3860640" imgH="672840" progId="Equation.DSMT4">
                  <p:embed/>
                  <p:pic>
                    <p:nvPicPr>
                      <p:cNvPr id="7" name="Объект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50" y="2605357"/>
                        <a:ext cx="4406900" cy="769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844434"/>
              </p:ext>
            </p:extLst>
          </p:nvPr>
        </p:nvGraphicFramePr>
        <p:xfrm>
          <a:off x="933172" y="1586409"/>
          <a:ext cx="1371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33" name="Equation" r:id="rId7" imgW="1371600" imgH="279360" progId="Equation.DSMT4">
                  <p:embed/>
                </p:oleObj>
              </mc:Choice>
              <mc:Fallback>
                <p:oleObj name="Equation" r:id="rId7" imgW="1371600" imgH="279360" progId="Equation.DSMT4">
                  <p:embed/>
                  <p:pic>
                    <p:nvPicPr>
                      <p:cNvPr id="8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172" y="1586409"/>
                        <a:ext cx="1371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446591" y="1549361"/>
            <a:ext cx="1972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- </a:t>
            </a:r>
            <a:r>
              <a:rPr lang="ru-RU" dirty="0">
                <a:solidFill>
                  <a:schemeClr val="bg1"/>
                </a:solidFill>
              </a:rPr>
              <a:t>ф</a:t>
            </a:r>
            <a:r>
              <a:rPr lang="ru-RU" dirty="0" smtClean="0">
                <a:solidFill>
                  <a:schemeClr val="bg1"/>
                </a:solidFill>
              </a:rPr>
              <a:t>ормула Эйлера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703098"/>
              </p:ext>
            </p:extLst>
          </p:nvPr>
        </p:nvGraphicFramePr>
        <p:xfrm>
          <a:off x="4508500" y="3429000"/>
          <a:ext cx="1270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34" name="Equation" r:id="rId9" imgW="126720" imgH="190440" progId="Equation.DSMT4">
                  <p:embed/>
                </p:oleObj>
              </mc:Choice>
              <mc:Fallback>
                <p:oleObj name="Equation" r:id="rId9" imgW="126720" imgH="190440" progId="Equation.DSMT4">
                  <p:embed/>
                  <p:pic>
                    <p:nvPicPr>
                      <p:cNvPr id="10" name="Объект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3429000"/>
                        <a:ext cx="12700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525112901"/>
              </p:ext>
            </p:extLst>
          </p:nvPr>
        </p:nvGraphicFramePr>
        <p:xfrm>
          <a:off x="2019300" y="3613150"/>
          <a:ext cx="5259388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35" name="Equation" r:id="rId11" imgW="4609800" imgH="1498320" progId="Equation.DSMT4">
                  <p:embed/>
                </p:oleObj>
              </mc:Choice>
              <mc:Fallback>
                <p:oleObj name="Equation" r:id="rId11" imgW="4609800" imgH="1498320" progId="Equation.DSMT4">
                  <p:embed/>
                  <p:pic>
                    <p:nvPicPr>
                      <p:cNvPr id="12" name="Объект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300" y="3613150"/>
                        <a:ext cx="5259388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83568" y="2173021"/>
            <a:ext cx="8101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Сигнал – </a:t>
            </a:r>
            <a:r>
              <a:rPr lang="ru-RU" dirty="0" smtClean="0"/>
              <a:t>действительная </a:t>
            </a:r>
            <a:r>
              <a:rPr lang="ru-RU" dirty="0" smtClean="0"/>
              <a:t>часть </a:t>
            </a:r>
            <a:r>
              <a:rPr lang="ru-RU" u="sng" dirty="0" smtClean="0"/>
              <a:t>аналитического сигнала </a:t>
            </a:r>
            <a:r>
              <a:rPr lang="ru-RU" dirty="0" smtClean="0"/>
              <a:t>(комплексной функции)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1344884" y="5949280"/>
            <a:ext cx="5933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 ЦОС используется цифровая комплексная огибающа</a:t>
            </a:r>
            <a:r>
              <a:rPr lang="ru-RU" dirty="0"/>
              <a:t>я</a:t>
            </a:r>
          </a:p>
        </p:txBody>
      </p:sp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167933"/>
              </p:ext>
            </p:extLst>
          </p:nvPr>
        </p:nvGraphicFramePr>
        <p:xfrm>
          <a:off x="7327900" y="6000750"/>
          <a:ext cx="393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36" name="Equation" r:id="rId13" imgW="393480" imgH="266400" progId="Equation.DSMT4">
                  <p:embed/>
                </p:oleObj>
              </mc:Choice>
              <mc:Fallback>
                <p:oleObj name="Equation" r:id="rId13" imgW="39348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327900" y="6000750"/>
                        <a:ext cx="393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949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Формирование цифровой комплексной огибающей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 smtClean="0"/>
              <a:t>Формирование аналоговых НЧ составляющих сигнала и их преобразование с помощью АЦП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Оцифровка ВЧ сигнала, формирование комплексной огибающей из цифрового сигнала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431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467544" y="44625"/>
            <a:ext cx="850112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1" kern="0" dirty="0" smtClean="0">
                <a:latin typeface="+mj-lt"/>
                <a:ea typeface="+mj-ea"/>
                <a:cs typeface="+mj-cs"/>
              </a:rPr>
              <a:t>1. Формирование комплексной огибающей из аналоговых НЧ составляющих</a:t>
            </a:r>
            <a:endParaRPr kumimoji="0" lang="ru-RU" sz="2800" b="1" i="0" u="none" strike="noStrike" kern="0" cap="none" spc="0" normalizeH="0" baseline="0" noProof="0" dirty="0" smtClean="0">
              <a:ln>
                <a:noFill/>
              </a:ln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772816"/>
            <a:ext cx="8215370" cy="4119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78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850074"/>
              </p:ext>
            </p:extLst>
          </p:nvPr>
        </p:nvGraphicFramePr>
        <p:xfrm>
          <a:off x="2116137" y="1220813"/>
          <a:ext cx="49117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62" name="Equation" r:id="rId4" imgW="3517560" imgH="291960" progId="Equation.DSMT4">
                  <p:embed/>
                </p:oleObj>
              </mc:Choice>
              <mc:Fallback>
                <p:oleObj name="Equation" r:id="rId4" imgW="3517560" imgH="2919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137" y="1220813"/>
                        <a:ext cx="4911725" cy="40798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357158" y="357166"/>
            <a:ext cx="8501122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 dirty="0" smtClean="0">
                <a:ln>
                  <a:noFill/>
                </a:ln>
                <a:uLnTx/>
                <a:uFillTx/>
                <a:latin typeface="+mj-lt"/>
                <a:ea typeface="+mj-ea"/>
                <a:cs typeface="+mj-cs"/>
              </a:rPr>
              <a:t>Формирование цифровых НЧ квадратурных составляющих сигнала</a:t>
            </a:r>
          </a:p>
        </p:txBody>
      </p:sp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971600" y="2060848"/>
            <a:ext cx="7128792" cy="3654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Схема формирования цифровых квадратурных составляющих.w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9534" y="2010113"/>
            <a:ext cx="6282366" cy="3717248"/>
          </a:xfrm>
          <a:prstGeom prst="rect">
            <a:avLst/>
          </a:prstGeom>
        </p:spPr>
      </p:pic>
      <p:graphicFrame>
        <p:nvGraphicFramePr>
          <p:cNvPr id="778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341506"/>
              </p:ext>
            </p:extLst>
          </p:nvPr>
        </p:nvGraphicFramePr>
        <p:xfrm>
          <a:off x="1647329" y="1299250"/>
          <a:ext cx="59563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3" name="Equation" r:id="rId4" imgW="4267080" imgH="291960" progId="Equation.DSMT4">
                  <p:embed/>
                </p:oleObj>
              </mc:Choice>
              <mc:Fallback>
                <p:oleObj name="Equation" r:id="rId4" imgW="4267080" imgH="2919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329" y="1299250"/>
                        <a:ext cx="5956300" cy="4079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78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166138"/>
              </p:ext>
            </p:extLst>
          </p:nvPr>
        </p:nvGraphicFramePr>
        <p:xfrm>
          <a:off x="1155700" y="5891213"/>
          <a:ext cx="69199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4" name="Equation" r:id="rId6" imgW="5333760" imgH="304560" progId="Equation.DSMT4">
                  <p:embed/>
                </p:oleObj>
              </mc:Choice>
              <mc:Fallback>
                <p:oleObj name="Equation" r:id="rId6" imgW="5333760" imgH="30456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5891213"/>
                        <a:ext cx="6919913" cy="395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ru-RU" b="1" kern="0" cap="none" dirty="0"/>
              <a:t>Формирование цифровых НЧ квадратурных составляющих сигнала</a:t>
            </a:r>
          </a:p>
        </p:txBody>
      </p:sp>
      <p:graphicFrame>
        <p:nvGraphicFramePr>
          <p:cNvPr id="4" name="Содержимое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5435105"/>
              </p:ext>
            </p:extLst>
          </p:nvPr>
        </p:nvGraphicFramePr>
        <p:xfrm>
          <a:off x="971600" y="1959769"/>
          <a:ext cx="2116138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94" name="Equation" r:id="rId3" imgW="1854000" imgH="241200" progId="Equation.DSMT4">
                  <p:embed/>
                </p:oleObj>
              </mc:Choice>
              <mc:Fallback>
                <p:oleObj name="Equation" r:id="rId3" imgW="1854000" imgH="241200" progId="Equation.DSMT4">
                  <p:embed/>
                  <p:pic>
                    <p:nvPicPr>
                      <p:cNvPr id="4" name="Содержимое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959769"/>
                        <a:ext cx="2116138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08442621"/>
              </p:ext>
            </p:extLst>
          </p:nvPr>
        </p:nvGraphicFramePr>
        <p:xfrm>
          <a:off x="971600" y="2220416"/>
          <a:ext cx="6796088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95" name="Equation" r:id="rId5" imgW="5956200" imgH="914400" progId="Equation.DSMT4">
                  <p:embed/>
                </p:oleObj>
              </mc:Choice>
              <mc:Fallback>
                <p:oleObj name="Equation" r:id="rId5" imgW="5956200" imgH="914400" progId="Equation.DSMT4">
                  <p:embed/>
                  <p:pic>
                    <p:nvPicPr>
                      <p:cNvPr id="12" name="Объект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220416"/>
                        <a:ext cx="6796088" cy="1038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23554" y="3258641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 выходе </a:t>
            </a:r>
            <a:r>
              <a:rPr lang="ru-RU" dirty="0" err="1" smtClean="0"/>
              <a:t>перемножителей</a:t>
            </a:r>
            <a:r>
              <a:rPr lang="ru-RU" dirty="0" smtClean="0"/>
              <a:t>:</a:t>
            </a:r>
            <a:endParaRPr lang="ru-RU" dirty="0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779276"/>
              </p:ext>
            </p:extLst>
          </p:nvPr>
        </p:nvGraphicFramePr>
        <p:xfrm>
          <a:off x="978744" y="3653185"/>
          <a:ext cx="6977632" cy="1498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96" name="Equation" r:id="rId7" imgW="6210000" imgH="1333440" progId="Equation.DSMT4">
                  <p:embed/>
                </p:oleObj>
              </mc:Choice>
              <mc:Fallback>
                <p:oleObj name="Equation" r:id="rId7" imgW="6210000" imgH="1333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8744" y="3653185"/>
                        <a:ext cx="6977632" cy="1498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991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476672"/>
            <a:ext cx="7748388" cy="1478570"/>
          </a:xfrm>
        </p:spPr>
        <p:txBody>
          <a:bodyPr>
            <a:noAutofit/>
          </a:bodyPr>
          <a:lstStyle/>
          <a:p>
            <a:r>
              <a:rPr lang="ru-RU" sz="2800" b="1" kern="0" dirty="0"/>
              <a:t>Формирование комплексной огибающей из аналоговых НЧ составляющих</a:t>
            </a:r>
            <a:r>
              <a:rPr lang="ru-RU" sz="2800" b="1" kern="0" cap="none" dirty="0"/>
              <a:t/>
            </a:r>
            <a:br>
              <a:rPr lang="ru-RU" sz="2800" b="1" kern="0" cap="none" dirty="0"/>
            </a:b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Достоинство:</a:t>
            </a:r>
          </a:p>
          <a:p>
            <a:r>
              <a:rPr lang="ru-RU" dirty="0" smtClean="0"/>
              <a:t>Оцифровка на низких частотах, низкая частота дискретизации (т. Котельникова)</a:t>
            </a:r>
          </a:p>
          <a:p>
            <a:pPr marL="0" indent="0">
              <a:buNone/>
            </a:pPr>
            <a:r>
              <a:rPr lang="ru-RU" dirty="0" smtClean="0"/>
              <a:t>Недостатки:</a:t>
            </a:r>
          </a:p>
          <a:p>
            <a:r>
              <a:rPr lang="ru-RU" dirty="0" smtClean="0"/>
              <a:t>2 синхронных АЦП</a:t>
            </a:r>
          </a:p>
          <a:p>
            <a:r>
              <a:rPr lang="ru-RU" dirty="0" smtClean="0"/>
              <a:t>погрешности формирования аналоговых НЧ составляющих</a:t>
            </a:r>
          </a:p>
        </p:txBody>
      </p:sp>
    </p:spTree>
    <p:extLst>
      <p:ext uri="{BB962C8B-B14F-4D97-AF65-F5344CB8AC3E}">
        <p14:creationId xmlns:p14="http://schemas.microsoft.com/office/powerpoint/2010/main" val="399304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572528" y="6495727"/>
            <a:ext cx="28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kern="0" dirty="0" smtClean="0"/>
              <a:t>3</a:t>
            </a:r>
            <a:endParaRPr lang="ru-RU" sz="2400" dirty="0"/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188588"/>
              </p:ext>
            </p:extLst>
          </p:nvPr>
        </p:nvGraphicFramePr>
        <p:xfrm>
          <a:off x="4786314" y="1780819"/>
          <a:ext cx="2143140" cy="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39" name="Equation" r:id="rId3" imgW="1434960" imgH="253800" progId="Equation.DSMT4">
                  <p:embed/>
                </p:oleObj>
              </mc:Choice>
              <mc:Fallback>
                <p:oleObj name="Equation" r:id="rId3" imgW="1434960" imgH="2538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4" y="1780819"/>
                        <a:ext cx="2143140" cy="381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92877" y="1816525"/>
            <a:ext cx="4214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Комплексный аналитический сигнал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319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428596" y="2566637"/>
            <a:ext cx="4143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Сопряжённый по Гильберту сигнал</a:t>
            </a:r>
            <a:endParaRPr lang="ru-RU" sz="2000" dirty="0">
              <a:latin typeface="Calibri" pitchFamily="34" charset="0"/>
            </a:endParaRPr>
          </a:p>
        </p:txBody>
      </p:sp>
      <p:graphicFrame>
        <p:nvGraphicFramePr>
          <p:cNvPr id="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211201"/>
              </p:ext>
            </p:extLst>
          </p:nvPr>
        </p:nvGraphicFramePr>
        <p:xfrm>
          <a:off x="1538288" y="3645024"/>
          <a:ext cx="62801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40" name="Equation" r:id="rId5" imgW="4686120" imgH="634680" progId="Equation.DSMT4">
                  <p:embed/>
                </p:oleObj>
              </mc:Choice>
              <mc:Fallback>
                <p:oleObj name="Equation" r:id="rId5" imgW="4686120" imgH="6346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288" y="3645024"/>
                        <a:ext cx="628015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357422" y="3209579"/>
            <a:ext cx="500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Преобразование Гильберта как свёртка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9243" y="4602633"/>
            <a:ext cx="4000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Импульсная характеристика преобразователя Гильберта</a:t>
            </a:r>
            <a:endParaRPr lang="ru-RU" sz="2000" dirty="0">
              <a:latin typeface="Calibri" pitchFamily="34" charset="0"/>
            </a:endParaRPr>
          </a:p>
        </p:txBody>
      </p:sp>
      <p:pic>
        <p:nvPicPr>
          <p:cNvPr id="93192" name="Picture 8"/>
          <p:cNvPicPr>
            <a:picLocks noChangeAspect="1" noChangeArrowheads="1"/>
          </p:cNvPicPr>
          <p:nvPr/>
        </p:nvPicPr>
        <p:blipFill>
          <a:blip r:embed="rId7" cstate="print">
            <a:lum bright="-10000" contrast="20000"/>
          </a:blip>
          <a:srcRect/>
          <a:stretch>
            <a:fillRect/>
          </a:stretch>
        </p:blipFill>
        <p:spPr bwMode="auto">
          <a:xfrm>
            <a:off x="5072066" y="4434625"/>
            <a:ext cx="2786082" cy="2372679"/>
          </a:xfrm>
          <a:prstGeom prst="rect">
            <a:avLst/>
          </a:prstGeom>
          <a:noFill/>
          <a:ln w="1587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93191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572001" y="2352323"/>
            <a:ext cx="3500462" cy="864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312695"/>
              </p:ext>
            </p:extLst>
          </p:nvPr>
        </p:nvGraphicFramePr>
        <p:xfrm>
          <a:off x="1419225" y="5530850"/>
          <a:ext cx="2590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41" name="Equation" r:id="rId9" imgW="1917360" imgH="507960" progId="Equation.DSMT4">
                  <p:embed/>
                </p:oleObj>
              </mc:Choice>
              <mc:Fallback>
                <p:oleObj name="Equation" r:id="rId9" imgW="1917360" imgH="50796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5530850"/>
                        <a:ext cx="2590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357728" y="438344"/>
            <a:ext cx="8534752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100" b="1" dirty="0" smtClean="0"/>
              <a:t>2. Формирование </a:t>
            </a:r>
            <a:r>
              <a:rPr lang="ru-RU" sz="3100" b="1" dirty="0"/>
              <a:t>комплексной огибающей из цифрового </a:t>
            </a:r>
            <a:r>
              <a:rPr lang="ru-RU" sz="3100" b="1" dirty="0" smtClean="0"/>
              <a:t>сигнала. Преобразование Гильберта</a:t>
            </a:r>
            <a:endParaRPr lang="ru-RU" sz="3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572528" y="6286520"/>
            <a:ext cx="28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kern="0" dirty="0" smtClean="0"/>
              <a:t>4</a:t>
            </a:r>
            <a:endParaRPr lang="ru-RU" sz="2400" dirty="0"/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216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217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217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217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 bwMode="auto">
          <a:xfrm>
            <a:off x="1071538" y="237772"/>
            <a:ext cx="7310046" cy="769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1" kern="0" dirty="0" smtClean="0">
                <a:latin typeface="Calibri" pitchFamily="34" charset="0"/>
                <a:ea typeface="+mj-ea"/>
                <a:cs typeface="+mj-cs"/>
              </a:rPr>
              <a:t>ЧАСТОТНЫЕ ХАРАКТЕРИСТИКИ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1" kern="0" dirty="0" smtClean="0">
                <a:latin typeface="Calibri" pitchFamily="34" charset="0"/>
                <a:ea typeface="+mj-ea"/>
                <a:cs typeface="+mj-cs"/>
              </a:rPr>
              <a:t>ПРЕОБРАЗОВАТЕЛЯ ГИЛЬБЕРТА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282" y="1069269"/>
            <a:ext cx="5584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Комплексная частотная характеристика</a:t>
            </a:r>
            <a:endParaRPr lang="ru-RU" sz="2000" dirty="0">
              <a:latin typeface="Calibri" pitchFamily="34" charset="0"/>
            </a:endParaRP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980021"/>
              </p:ext>
            </p:extLst>
          </p:nvPr>
        </p:nvGraphicFramePr>
        <p:xfrm>
          <a:off x="1577181" y="1450842"/>
          <a:ext cx="606107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0" name="Equation" r:id="rId3" imgW="5117760" imgH="914400" progId="Equation.DSMT4">
                  <p:embed/>
                </p:oleObj>
              </mc:Choice>
              <mc:Fallback>
                <p:oleObj name="Equation" r:id="rId3" imgW="5117760" imgH="914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181" y="1450842"/>
                        <a:ext cx="606107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14282" y="3117164"/>
            <a:ext cx="1714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АЧХ</a:t>
            </a:r>
            <a:endParaRPr lang="ru-RU" sz="2000" dirty="0">
              <a:latin typeface="Calibri" pitchFamily="34" charset="0"/>
            </a:endParaRPr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 rot="10800000">
            <a:off x="285720" y="2714620"/>
            <a:ext cx="850112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1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615480"/>
              </p:ext>
            </p:extLst>
          </p:nvPr>
        </p:nvGraphicFramePr>
        <p:xfrm>
          <a:off x="1892992" y="3034749"/>
          <a:ext cx="3000396" cy="663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1" name="Equation" r:id="rId5" imgW="2755800" imgH="609480" progId="Equation.DSMT4">
                  <p:embed/>
                </p:oleObj>
              </mc:Choice>
              <mc:Fallback>
                <p:oleObj name="Equation" r:id="rId5" imgW="2755800" imgH="60948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992" y="3034749"/>
                        <a:ext cx="3000396" cy="663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214282" y="4973106"/>
            <a:ext cx="1714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ФЧХ</a:t>
            </a:r>
            <a:endParaRPr lang="ru-RU" sz="2000" dirty="0">
              <a:latin typeface="Calibri" pitchFamily="34" charset="0"/>
            </a:endParaRPr>
          </a:p>
        </p:txBody>
      </p:sp>
      <p:graphicFrame>
        <p:nvGraphicFramePr>
          <p:cNvPr id="4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003235"/>
              </p:ext>
            </p:extLst>
          </p:nvPr>
        </p:nvGraphicFramePr>
        <p:xfrm>
          <a:off x="1691680" y="4615721"/>
          <a:ext cx="3279878" cy="1081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2" name="Equation" r:id="rId7" imgW="3238200" imgH="1066680" progId="Equation.DSMT4">
                  <p:embed/>
                </p:oleObj>
              </mc:Choice>
              <mc:Fallback>
                <p:oleObj name="Equation" r:id="rId7" imgW="3238200" imgH="10666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615721"/>
                        <a:ext cx="3279878" cy="1081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2"/>
          <p:cNvSpPr>
            <a:spLocks noChangeArrowheads="1"/>
          </p:cNvSpPr>
          <p:nvPr/>
        </p:nvSpPr>
        <p:spPr bwMode="auto">
          <a:xfrm>
            <a:off x="5364088" y="28745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364088" y="2780928"/>
            <a:ext cx="2880320" cy="1449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657195"/>
              </p:ext>
            </p:extLst>
          </p:nvPr>
        </p:nvGraphicFramePr>
        <p:xfrm>
          <a:off x="5364088" y="2874516"/>
          <a:ext cx="2835275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3" r:id="rId9" imgW="2254530" imgH="1081980" progId="Visio.Drawing.11">
                  <p:embed/>
                </p:oleObj>
              </mc:Choice>
              <mc:Fallback>
                <p:oleObj r:id="rId9" imgW="2254530" imgH="1081980" progId="Visio.Drawing.11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2874516"/>
                        <a:ext cx="2835275" cy="1355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4"/>
          <p:cNvSpPr>
            <a:spLocks noChangeArrowheads="1"/>
          </p:cNvSpPr>
          <p:nvPr/>
        </p:nvSpPr>
        <p:spPr bwMode="auto">
          <a:xfrm>
            <a:off x="5508104" y="423024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8" name="Прямоугольник 37"/>
          <p:cNvSpPr/>
          <p:nvPr/>
        </p:nvSpPr>
        <p:spPr>
          <a:xfrm>
            <a:off x="5364088" y="4390136"/>
            <a:ext cx="2880320" cy="1631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827069"/>
              </p:ext>
            </p:extLst>
          </p:nvPr>
        </p:nvGraphicFramePr>
        <p:xfrm>
          <a:off x="5508104" y="4369250"/>
          <a:ext cx="2416175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4" r:id="rId11" imgW="2144315" imgH="1519920" progId="Visio.Drawing.11">
                  <p:embed/>
                </p:oleObj>
              </mc:Choice>
              <mc:Fallback>
                <p:oleObj r:id="rId11" imgW="2144315" imgH="1519920" progId="Visio.Drawing.11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4369250"/>
                        <a:ext cx="2416175" cy="170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5696" y="234824"/>
            <a:ext cx="6264696" cy="650652"/>
          </a:xfrm>
        </p:spPr>
        <p:txBody>
          <a:bodyPr>
            <a:normAutofit/>
          </a:bodyPr>
          <a:lstStyle/>
          <a:p>
            <a:r>
              <a:rPr lang="ru-RU" sz="2800" b="1" dirty="0" smtClean="0"/>
              <a:t>Спектр </a:t>
            </a:r>
            <a:r>
              <a:rPr lang="ru-RU" sz="2800" b="1" dirty="0" smtClean="0"/>
              <a:t>аналитического сигнала</a:t>
            </a:r>
            <a:endParaRPr lang="ru-RU" sz="2800" b="1" dirty="0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354842"/>
              </p:ext>
            </p:extLst>
          </p:nvPr>
        </p:nvGraphicFramePr>
        <p:xfrm>
          <a:off x="1187624" y="1124744"/>
          <a:ext cx="60071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49" name="Equation" r:id="rId3" imgW="6006960" imgH="1396800" progId="Equation.DSMT4">
                  <p:embed/>
                </p:oleObj>
              </mc:Choice>
              <mc:Fallback>
                <p:oleObj name="Equation" r:id="rId3" imgW="6006960" imgH="1396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1124744"/>
                        <a:ext cx="6007100" cy="139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960742"/>
              </p:ext>
            </p:extLst>
          </p:nvPr>
        </p:nvGraphicFramePr>
        <p:xfrm>
          <a:off x="1187624" y="2586447"/>
          <a:ext cx="2857177" cy="870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50" name="Equation" r:id="rId5" imgW="3009600" imgH="914400" progId="Equation.DSMT4">
                  <p:embed/>
                </p:oleObj>
              </mc:Choice>
              <mc:Fallback>
                <p:oleObj name="Equation" r:id="rId5" imgW="3009600" imgH="914400" progId="Equation.DSMT4">
                  <p:embed/>
                  <p:pic>
                    <p:nvPicPr>
                      <p:cNvPr id="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586447"/>
                        <a:ext cx="2857177" cy="870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090720"/>
              </p:ext>
            </p:extLst>
          </p:nvPr>
        </p:nvGraphicFramePr>
        <p:xfrm>
          <a:off x="1191617" y="3676452"/>
          <a:ext cx="33909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51" name="Equation" r:id="rId7" imgW="3390840" imgH="1346040" progId="Equation.DSMT4">
                  <p:embed/>
                </p:oleObj>
              </mc:Choice>
              <mc:Fallback>
                <p:oleObj name="Equation" r:id="rId7" imgW="339084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1617" y="3676452"/>
                        <a:ext cx="3390900" cy="134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0531" name="Picture 3" descr="Спектры вещественного и комплексного сигналов"/>
          <p:cNvPicPr>
            <a:picLocks noChangeAspect="1" noChangeArrowheads="1"/>
          </p:cNvPicPr>
          <p:nvPr/>
        </p:nvPicPr>
        <p:blipFill>
          <a:blip r:embed="rId9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916" y="2636912"/>
            <a:ext cx="3372109" cy="277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598975" y="5157192"/>
            <a:ext cx="2600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всегда односторонний!!!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43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4472" y="85938"/>
            <a:ext cx="7429499" cy="1038806"/>
          </a:xfrm>
        </p:spPr>
        <p:txBody>
          <a:bodyPr>
            <a:normAutofit/>
          </a:bodyPr>
          <a:lstStyle/>
          <a:p>
            <a:r>
              <a:rPr lang="ru-RU" sz="2800" b="1" dirty="0" smtClean="0"/>
              <a:t>Формирование комплексной огибающей аналитического сигнала</a:t>
            </a:r>
            <a:endParaRPr lang="ru-RU" sz="2800" b="1" dirty="0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920019"/>
              </p:ext>
            </p:extLst>
          </p:nvPr>
        </p:nvGraphicFramePr>
        <p:xfrm>
          <a:off x="1184472" y="1412776"/>
          <a:ext cx="59690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65" name="Equation" r:id="rId3" imgW="5968800" imgH="1295280" progId="Equation.DSMT4">
                  <p:embed/>
                </p:oleObj>
              </mc:Choice>
              <mc:Fallback>
                <p:oleObj name="Equation" r:id="rId3" imgW="5968800" imgH="1295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4472" y="1412776"/>
                        <a:ext cx="5969000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128297"/>
              </p:ext>
            </p:extLst>
          </p:nvPr>
        </p:nvGraphicFramePr>
        <p:xfrm>
          <a:off x="1178767" y="2708163"/>
          <a:ext cx="34258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66" name="Equation" r:id="rId5" imgW="3425800" imgH="304671" progId="Equation.DSMT4">
                  <p:embed/>
                </p:oleObj>
              </mc:Choice>
              <mc:Fallback>
                <p:oleObj name="Equation" r:id="rId5" imgW="3425800" imgH="3046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78767" y="2708163"/>
                        <a:ext cx="3425825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012062"/>
              </p:ext>
            </p:extLst>
          </p:nvPr>
        </p:nvGraphicFramePr>
        <p:xfrm>
          <a:off x="1178767" y="3412405"/>
          <a:ext cx="34258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67" name="Equation" r:id="rId7" imgW="3425800" imgH="304671" progId="Equation.DSMT4">
                  <p:embed/>
                </p:oleObj>
              </mc:Choice>
              <mc:Fallback>
                <p:oleObj name="Equation" r:id="rId7" imgW="3425800" imgH="3046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78767" y="3412405"/>
                        <a:ext cx="3425825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6081" y="3317751"/>
            <a:ext cx="4129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синусная НЧ составляющая аналитического сигнала</a:t>
            </a:r>
            <a:endParaRPr lang="ru-RU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4936081" y="2581742"/>
            <a:ext cx="4129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косинусная НЧ составляющая аналитического сигнала</a:t>
            </a:r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282769" y="4046542"/>
            <a:ext cx="458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Использование комплексной огибающей: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 flipH="1">
            <a:off x="1364232" y="4302640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bg1"/>
                </a:solidFill>
              </a:rPr>
              <a:t>Фильтрация – выделение сигнала из смеси с помехой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bg1"/>
                </a:solidFill>
              </a:rPr>
              <a:t>Демодуляция – извлечение полезной информации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93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572528" y="6286520"/>
            <a:ext cx="28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kern="0" dirty="0" smtClean="0"/>
              <a:t>5</a:t>
            </a:r>
            <a:endParaRPr lang="ru-RU" sz="2400" dirty="0"/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142844" y="357166"/>
            <a:ext cx="8858312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1" kern="0" dirty="0" smtClean="0">
                <a:latin typeface="Calibri" pitchFamily="34" charset="0"/>
                <a:ea typeface="+mj-ea"/>
                <a:cs typeface="+mj-cs"/>
              </a:rPr>
              <a:t>Характеристики цифрового фильтра Гильберта</a:t>
            </a:r>
            <a:r>
              <a:rPr lang="en-US" sz="2800" b="1" kern="0" dirty="0" smtClean="0">
                <a:latin typeface="Calibri" pitchFamily="34" charset="0"/>
                <a:ea typeface="+mj-ea"/>
                <a:cs typeface="+mj-cs"/>
              </a:rPr>
              <a:t/>
            </a:r>
            <a:br>
              <a:rPr lang="en-US" sz="2800" b="1" kern="0" dirty="0" smtClean="0">
                <a:latin typeface="Calibri" pitchFamily="34" charset="0"/>
                <a:ea typeface="+mj-ea"/>
                <a:cs typeface="+mj-cs"/>
              </a:rPr>
            </a:br>
            <a:r>
              <a:rPr lang="ru-RU" sz="2800" b="1" kern="0" dirty="0" smtClean="0">
                <a:latin typeface="Calibri" pitchFamily="34" charset="0"/>
                <a:ea typeface="+mj-ea"/>
                <a:cs typeface="+mj-cs"/>
              </a:rPr>
              <a:t> (</a:t>
            </a:r>
            <a:r>
              <a:rPr lang="en-US" sz="2800" b="1" i="1" kern="0" dirty="0" smtClean="0">
                <a:latin typeface="Calibri" pitchFamily="34" charset="0"/>
                <a:ea typeface="+mj-ea"/>
                <a:cs typeface="+mj-cs"/>
              </a:rPr>
              <a:t>N</a:t>
            </a:r>
            <a:r>
              <a:rPr lang="ru-RU" sz="2800" b="1" kern="0" baseline="-25000" dirty="0" smtClean="0">
                <a:latin typeface="Calibri" pitchFamily="34" charset="0"/>
                <a:ea typeface="+mj-ea"/>
                <a:cs typeface="+mj-cs"/>
              </a:rPr>
              <a:t>Г</a:t>
            </a:r>
            <a:r>
              <a:rPr lang="ru-RU" sz="2800" b="1" kern="0" dirty="0" smtClean="0">
                <a:latin typeface="Calibri" pitchFamily="34" charset="0"/>
                <a:ea typeface="+mj-ea"/>
                <a:cs typeface="+mj-cs"/>
              </a:rPr>
              <a:t> = 21</a:t>
            </a:r>
            <a:r>
              <a:rPr lang="en-US" sz="2800" b="1" kern="0" dirty="0" smtClean="0">
                <a:latin typeface="Calibri" pitchFamily="34" charset="0"/>
                <a:ea typeface="+mj-ea"/>
                <a:cs typeface="+mj-cs"/>
              </a:rPr>
              <a:t>, </a:t>
            </a:r>
            <a:r>
              <a:rPr lang="en-US" sz="2800" b="1" i="1" kern="0" dirty="0" smtClean="0">
                <a:latin typeface="Calibri" pitchFamily="34" charset="0"/>
                <a:ea typeface="+mj-ea"/>
                <a:cs typeface="+mj-cs"/>
              </a:rPr>
              <a:t>n</a:t>
            </a:r>
            <a:r>
              <a:rPr lang="en-US" sz="2800" b="1" kern="0" baseline="-25000" dirty="0" smtClean="0">
                <a:latin typeface="Calibri" pitchFamily="34" charset="0"/>
                <a:ea typeface="+mj-ea"/>
                <a:cs typeface="+mj-cs"/>
              </a:rPr>
              <a:t>0</a:t>
            </a:r>
            <a:r>
              <a:rPr lang="en-US" sz="2800" b="1" kern="0" dirty="0" smtClean="0">
                <a:latin typeface="Calibri" pitchFamily="34" charset="0"/>
                <a:ea typeface="+mj-ea"/>
                <a:cs typeface="+mj-cs"/>
              </a:rPr>
              <a:t>=11</a:t>
            </a:r>
            <a:r>
              <a:rPr lang="ru-RU" sz="2800" b="1" kern="0" dirty="0" smtClean="0">
                <a:latin typeface="Calibri" pitchFamily="34" charset="0"/>
                <a:ea typeface="+mj-ea"/>
                <a:cs typeface="+mj-cs"/>
              </a:rPr>
              <a:t>)</a:t>
            </a:r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18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1" name="Объект 20"/>
          <p:cNvGraphicFramePr>
            <a:graphicFrameLocks noChangeAspect="1"/>
          </p:cNvGraphicFramePr>
          <p:nvPr/>
        </p:nvGraphicFramePr>
        <p:xfrm>
          <a:off x="500034" y="2262179"/>
          <a:ext cx="1714512" cy="666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29" name="Equation" r:id="rId3" imgW="2057400" imgH="799920" progId="Equation.DSMT4">
                  <p:embed/>
                </p:oleObj>
              </mc:Choice>
              <mc:Fallback>
                <p:oleObj name="Equation" r:id="rId3" imgW="2057400" imgH="7999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2262179"/>
                        <a:ext cx="1714512" cy="666755"/>
                      </a:xfrm>
                      <a:prstGeom prst="rect">
                        <a:avLst/>
                      </a:prstGeom>
                      <a:solidFill>
                        <a:srgbClr val="FFE0C1"/>
                      </a:solidFill>
                      <a:ln w="158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2" name="Object 4"/>
          <p:cNvGraphicFramePr>
            <a:graphicFrameLocks noChangeAspect="1"/>
          </p:cNvGraphicFramePr>
          <p:nvPr/>
        </p:nvGraphicFramePr>
        <p:xfrm>
          <a:off x="4714876" y="2245034"/>
          <a:ext cx="2286016" cy="684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0" name="Equation" r:id="rId5" imgW="2844720" imgH="850680" progId="Equation.DSMT4">
                  <p:embed/>
                </p:oleObj>
              </mc:Choice>
              <mc:Fallback>
                <p:oleObj name="Equation" r:id="rId5" imgW="2844720" imgH="8506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6" y="2245034"/>
                        <a:ext cx="2286016" cy="684629"/>
                      </a:xfrm>
                      <a:prstGeom prst="rect">
                        <a:avLst/>
                      </a:prstGeom>
                      <a:solidFill>
                        <a:srgbClr val="FFE0C1"/>
                      </a:solidFill>
                      <a:ln w="158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000364" y="1643050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АЧХ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29520" y="1643050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АЧХ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7158" y="1428736"/>
            <a:ext cx="1928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Calibri" pitchFamily="34" charset="0"/>
              </a:rPr>
              <a:t>Импульсная</a:t>
            </a:r>
            <a:br>
              <a:rPr lang="ru-RU" dirty="0" smtClean="0">
                <a:latin typeface="Calibri" pitchFamily="34" charset="0"/>
              </a:rPr>
            </a:br>
            <a:r>
              <a:rPr lang="ru-RU" dirty="0" smtClean="0">
                <a:latin typeface="Calibri" pitchFamily="34" charset="0"/>
              </a:rPr>
              <a:t> характеристика</a:t>
            </a:r>
            <a:endParaRPr lang="ru-RU" dirty="0">
              <a:latin typeface="Calibri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28926" y="4000504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ФЧХ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29520" y="4000504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ФЧХ</a:t>
            </a:r>
            <a:endParaRPr lang="ru-RU" sz="2000" dirty="0">
              <a:latin typeface="Calibri" pitchFamily="34" charset="0"/>
            </a:endParaRP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 rot="5400000" flipH="1" flipV="1">
            <a:off x="2329323" y="3964785"/>
            <a:ext cx="4500594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929190" y="1436356"/>
            <a:ext cx="1928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Calibri" pitchFamily="34" charset="0"/>
              </a:rPr>
              <a:t>Импульсная</a:t>
            </a:r>
            <a:br>
              <a:rPr lang="ru-RU" dirty="0" smtClean="0">
                <a:latin typeface="Calibri" pitchFamily="34" charset="0"/>
              </a:rPr>
            </a:br>
            <a:r>
              <a:rPr lang="ru-RU" dirty="0" smtClean="0">
                <a:latin typeface="Calibri" pitchFamily="34" charset="0"/>
              </a:rPr>
              <a:t> характеристика</a:t>
            </a:r>
            <a:endParaRPr lang="ru-RU" dirty="0">
              <a:latin typeface="Calibri" pitchFamily="34" charset="0"/>
            </a:endParaRPr>
          </a:p>
        </p:txBody>
      </p:sp>
      <p:pic>
        <p:nvPicPr>
          <p:cNvPr id="33" name="Рисунок 32" descr="ИХ ПГ без нулей.png"/>
          <p:cNvPicPr>
            <a:picLocks noChangeAspect="1"/>
          </p:cNvPicPr>
          <p:nvPr/>
        </p:nvPicPr>
        <p:blipFill>
          <a:blip r:embed="rId7" cstate="print">
            <a:lum bright="-10000" contrast="20000"/>
          </a:blip>
          <a:stretch>
            <a:fillRect/>
          </a:stretch>
        </p:blipFill>
        <p:spPr>
          <a:xfrm>
            <a:off x="285720" y="3485198"/>
            <a:ext cx="2071702" cy="1724169"/>
          </a:xfrm>
          <a:prstGeom prst="rect">
            <a:avLst/>
          </a:prstGeom>
        </p:spPr>
      </p:pic>
      <p:pic>
        <p:nvPicPr>
          <p:cNvPr id="34" name="Рисунок 33" descr="АЧХ ПГ без нулей.png"/>
          <p:cNvPicPr>
            <a:picLocks noChangeAspect="1"/>
          </p:cNvPicPr>
          <p:nvPr/>
        </p:nvPicPr>
        <p:blipFill>
          <a:blip r:embed="rId8" cstate="print">
            <a:lum bright="-10000" contrast="20000"/>
          </a:blip>
          <a:stretch>
            <a:fillRect/>
          </a:stretch>
        </p:blipFill>
        <p:spPr>
          <a:xfrm>
            <a:off x="2546561" y="2143116"/>
            <a:ext cx="1882563" cy="1643074"/>
          </a:xfrm>
          <a:prstGeom prst="rect">
            <a:avLst/>
          </a:prstGeom>
        </p:spPr>
      </p:pic>
      <p:pic>
        <p:nvPicPr>
          <p:cNvPr id="35" name="Рисунок 34" descr="ФЧХ ПГ без нулей.png"/>
          <p:cNvPicPr>
            <a:picLocks noChangeAspect="1"/>
          </p:cNvPicPr>
          <p:nvPr/>
        </p:nvPicPr>
        <p:blipFill>
          <a:blip r:embed="rId9" cstate="print">
            <a:lum bright="-10000" contrast="20000"/>
          </a:blip>
          <a:stretch>
            <a:fillRect/>
          </a:stretch>
        </p:blipFill>
        <p:spPr>
          <a:xfrm>
            <a:off x="2497983" y="4416159"/>
            <a:ext cx="1923304" cy="1584609"/>
          </a:xfrm>
          <a:prstGeom prst="rect">
            <a:avLst/>
          </a:prstGeom>
        </p:spPr>
      </p:pic>
      <p:pic>
        <p:nvPicPr>
          <p:cNvPr id="36" name="Рисунок 35" descr="ИХ ПГ с нулями.png"/>
          <p:cNvPicPr>
            <a:picLocks noChangeAspect="1"/>
          </p:cNvPicPr>
          <p:nvPr/>
        </p:nvPicPr>
        <p:blipFill>
          <a:blip r:embed="rId10" cstate="print">
            <a:lum bright="-10000" contrast="20000"/>
          </a:blip>
          <a:stretch>
            <a:fillRect/>
          </a:stretch>
        </p:blipFill>
        <p:spPr>
          <a:xfrm>
            <a:off x="4786314" y="3468221"/>
            <a:ext cx="2071702" cy="1746729"/>
          </a:xfrm>
          <a:prstGeom prst="rect">
            <a:avLst/>
          </a:prstGeom>
        </p:spPr>
      </p:pic>
      <p:pic>
        <p:nvPicPr>
          <p:cNvPr id="37" name="Рисунок 36" descr="АЧХ ПГ с нулями.png"/>
          <p:cNvPicPr>
            <a:picLocks noChangeAspect="1"/>
          </p:cNvPicPr>
          <p:nvPr/>
        </p:nvPicPr>
        <p:blipFill>
          <a:blip r:embed="rId11" cstate="print">
            <a:lum bright="-10000" contrast="20000"/>
          </a:blip>
          <a:stretch>
            <a:fillRect/>
          </a:stretch>
        </p:blipFill>
        <p:spPr>
          <a:xfrm>
            <a:off x="7072331" y="2143117"/>
            <a:ext cx="1857387" cy="1688808"/>
          </a:xfrm>
          <a:prstGeom prst="rect">
            <a:avLst/>
          </a:prstGeom>
        </p:spPr>
      </p:pic>
      <p:pic>
        <p:nvPicPr>
          <p:cNvPr id="39" name="Рисунок 38" descr="ФЧХ ПГ без нулей.png"/>
          <p:cNvPicPr>
            <a:picLocks noChangeAspect="1"/>
          </p:cNvPicPr>
          <p:nvPr/>
        </p:nvPicPr>
        <p:blipFill>
          <a:blip r:embed="rId9" cstate="print">
            <a:lum bright="-10000" contrast="20000"/>
          </a:blip>
          <a:stretch>
            <a:fillRect/>
          </a:stretch>
        </p:blipFill>
        <p:spPr>
          <a:xfrm>
            <a:off x="7036452" y="4418654"/>
            <a:ext cx="1923304" cy="15846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7429499" cy="1012923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 smtClean="0"/>
              <a:t>Уменьшение колебаний АЧХ фильтра Гильберта</a:t>
            </a:r>
            <a:endParaRPr lang="ru-RU" sz="28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89856" y="1344044"/>
            <a:ext cx="72545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коррекция </a:t>
            </a:r>
            <a:r>
              <a:rPr lang="ru-RU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величины ненулевых отсчётов импульсной </a:t>
            </a:r>
            <a:r>
              <a:rPr lang="ru-RU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характеристики путем </a:t>
            </a:r>
            <a:r>
              <a:rPr lang="ru-RU" dirty="0" smtClean="0"/>
              <a:t>умножения </a:t>
            </a:r>
            <a:r>
              <a:rPr lang="ru-RU" dirty="0"/>
              <a:t>на отсчёты весовой (оконной) функции</a:t>
            </a:r>
            <a:r>
              <a:rPr lang="ru-RU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989856" y="213285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070390"/>
              </p:ext>
            </p:extLst>
          </p:nvPr>
        </p:nvGraphicFramePr>
        <p:xfrm>
          <a:off x="989856" y="2132856"/>
          <a:ext cx="3924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60" r:id="rId3" imgW="3924300" imgH="558800" progId="Equation.DSMT4">
                  <p:embed/>
                </p:oleObj>
              </mc:Choice>
              <mc:Fallback>
                <p:oleObj r:id="rId3" imgW="3924300" imgH="558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856" y="2132856"/>
                        <a:ext cx="39243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220072" y="224115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Функция Хэмминга</a:t>
            </a:r>
            <a:endParaRPr lang="ru-RU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11560" y="282261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1763688" y="2691656"/>
            <a:ext cx="6192688" cy="40497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707904" y="287958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9467559" y="289777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562496" y="279345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536635"/>
              </p:ext>
            </p:extLst>
          </p:nvPr>
        </p:nvGraphicFramePr>
        <p:xfrm>
          <a:off x="2002656" y="2793459"/>
          <a:ext cx="2426344" cy="1774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61" r:id="rId5" imgW="4744435" imgH="3477960" progId="Visio.Drawing.11">
                  <p:embed/>
                </p:oleObj>
              </mc:Choice>
              <mc:Fallback>
                <p:oleObj r:id="rId5" imgW="4744435" imgH="3477960" progId="Visio.Drawing.11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2656" y="2793459"/>
                        <a:ext cx="2426344" cy="17746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183305"/>
              </p:ext>
            </p:extLst>
          </p:nvPr>
        </p:nvGraphicFramePr>
        <p:xfrm>
          <a:off x="5481907" y="2751293"/>
          <a:ext cx="2159241" cy="1816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62" r:id="rId7" imgW="4307000" imgH="3628620" progId="Visio.Drawing.11">
                  <p:embed/>
                </p:oleObj>
              </mc:Choice>
              <mc:Fallback>
                <p:oleObj r:id="rId7" imgW="4307000" imgH="3628620" progId="Visio.Drawing.11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907" y="2751293"/>
                        <a:ext cx="2159241" cy="18168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1" name="Объект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254583"/>
              </p:ext>
            </p:extLst>
          </p:nvPr>
        </p:nvGraphicFramePr>
        <p:xfrm>
          <a:off x="2096798" y="4640623"/>
          <a:ext cx="2441446" cy="202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63" r:id="rId9" imgW="5582567" imgH="4622220" progId="Visio.Drawing.11">
                  <p:embed/>
                </p:oleObj>
              </mc:Choice>
              <mc:Fallback>
                <p:oleObj r:id="rId9" imgW="5582567" imgH="4622220" progId="Visio.Drawing.11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6798" y="4640623"/>
                        <a:ext cx="2441446" cy="20287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4041747" y="4566176"/>
            <a:ext cx="711232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3" name="Объект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902951"/>
              </p:ext>
            </p:extLst>
          </p:nvPr>
        </p:nvGraphicFramePr>
        <p:xfrm>
          <a:off x="5481907" y="4566177"/>
          <a:ext cx="2217663" cy="1881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64" r:id="rId11" imgW="3579081" imgH="3035880" progId="Visio.Drawing.11">
                  <p:embed/>
                </p:oleObj>
              </mc:Choice>
              <mc:Fallback>
                <p:oleObj r:id="rId11" imgW="3579081" imgH="3035880" progId="Visio.Drawing.11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907" y="4566177"/>
                        <a:ext cx="2217663" cy="18818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006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548680"/>
            <a:ext cx="7429499" cy="722250"/>
          </a:xfrm>
        </p:spPr>
        <p:txBody>
          <a:bodyPr>
            <a:normAutofit/>
          </a:bodyPr>
          <a:lstStyle/>
          <a:p>
            <a:r>
              <a:rPr lang="ru-RU" sz="2400" b="1" dirty="0"/>
              <a:t>АЧХ фильтра Гильберта с окном Хэмминга</a:t>
            </a:r>
            <a:endParaRPr lang="ru-RU" sz="24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411760" y="227687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27584" y="1340768"/>
            <a:ext cx="7789539" cy="33843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391196"/>
              </p:ext>
            </p:extLst>
          </p:nvPr>
        </p:nvGraphicFramePr>
        <p:xfrm>
          <a:off x="1187625" y="1529979"/>
          <a:ext cx="3240360" cy="2979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07" r:id="rId3" imgW="4380836" imgH="4030200" progId="Visio.Drawing.11">
                  <p:embed/>
                </p:oleObj>
              </mc:Choice>
              <mc:Fallback>
                <p:oleObj r:id="rId3" imgW="4380836" imgH="40302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5" y="1529979"/>
                        <a:ext cx="3240360" cy="29791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499784"/>
              </p:ext>
            </p:extLst>
          </p:nvPr>
        </p:nvGraphicFramePr>
        <p:xfrm>
          <a:off x="4434881" y="1588364"/>
          <a:ext cx="3879850" cy="294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08" r:id="rId5" imgW="5119019" imgH="3879000" progId="Visio.Drawing.11">
                  <p:embed/>
                </p:oleObj>
              </mc:Choice>
              <mc:Fallback>
                <p:oleObj r:id="rId5" imgW="5119019" imgH="387900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4881" y="1588364"/>
                        <a:ext cx="3879850" cy="294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253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692696"/>
            <a:ext cx="8064896" cy="1154298"/>
          </a:xfrm>
        </p:spPr>
        <p:txBody>
          <a:bodyPr>
            <a:normAutofit fontScale="90000"/>
          </a:bodyPr>
          <a:lstStyle/>
          <a:p>
            <a:r>
              <a:rPr lang="ru-RU" sz="3300" b="1" dirty="0"/>
              <a:t>Формирование сопряжённого сигнала с </a:t>
            </a:r>
            <a:r>
              <a:rPr lang="ru-RU" sz="3300" b="1" dirty="0" smtClean="0"/>
              <a:t>помощью цифрового </a:t>
            </a:r>
            <a:r>
              <a:rPr lang="ru-RU" sz="3300" b="1" dirty="0"/>
              <a:t>фильтра Гильберта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89358" y="1628800"/>
            <a:ext cx="80311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Нерекурсивный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цифровой КИХ-фильтр, приближённо выполняющий преобразование Гильберта оцифрованного сигнала промежуточной частоты, </a:t>
            </a:r>
            <a:r>
              <a:rPr lang="ru-RU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фильтр </a:t>
            </a:r>
            <a:r>
              <a:rPr lang="ru-RU" b="1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Гильберта.</a:t>
            </a:r>
          </a:p>
          <a:p>
            <a:r>
              <a:rPr lang="ru-RU" b="1" i="1" dirty="0" smtClean="0">
                <a:latin typeface="Times New Roman" panose="02020603050405020304" pitchFamily="18" charset="0"/>
              </a:rPr>
              <a:t>Задача – определение коэффициентов фильтра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08471" y="2829129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1. Дискретизация импульсной характеристики. Коэффициенты фильтра совпадают с отсчетами ИХ:</a:t>
            </a:r>
            <a:endParaRPr lang="ru-RU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18343" y="3398685"/>
            <a:ext cx="76844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6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одинаковым образом усекается слева и справа импульсная характеристика  идеального преобразователя Гильберта 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802551" y="4037308"/>
            <a:ext cx="758587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сдвиг усечённой импульсной характеристики вправо так 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828827" y="4495301"/>
            <a:ext cx="75595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отсчёты сдвинутой импульсной характеристики берутся с частотой дискретизации сигнала.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66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572528" y="6286520"/>
            <a:ext cx="28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kern="0" dirty="0" smtClean="0"/>
              <a:t>6</a:t>
            </a:r>
            <a:endParaRPr lang="ru-RU" sz="2400" dirty="0"/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593226" y="277798"/>
            <a:ext cx="7957548" cy="1016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 dirty="0" smtClean="0">
                <a:ln>
                  <a:noFill/>
                </a:ln>
                <a:uLnTx/>
                <a:uFillTx/>
                <a:latin typeface="+mj-lt"/>
                <a:ea typeface="+mj-ea"/>
                <a:cs typeface="+mj-cs"/>
              </a:rPr>
              <a:t>ЦИФРОВОЕ</a:t>
            </a:r>
            <a:r>
              <a:rPr kumimoji="0" lang="ru-RU" sz="2800" i="0" u="none" strike="noStrike" kern="0" cap="none" spc="0" normalizeH="0" baseline="0" noProof="0" dirty="0" smtClean="0">
                <a:ln>
                  <a:noFill/>
                </a:ln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1" i="0" u="none" strike="noStrike" kern="0" cap="none" spc="0" normalizeH="0" baseline="0" noProof="0" dirty="0" smtClean="0">
                <a:ln>
                  <a:noFill/>
                </a:ln>
                <a:uLnTx/>
                <a:uFillTx/>
                <a:latin typeface="+mj-lt"/>
                <a:ea typeface="+mj-ea"/>
                <a:cs typeface="+mj-cs"/>
              </a:rPr>
              <a:t>ФОРМИРОВАНИЕ КОМПЛЕКСНОЙ ОГИБАЮЩЕЙ</a:t>
            </a:r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18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3" name="Object 1"/>
          <p:cNvGraphicFramePr>
            <a:graphicFrameLocks noChangeAspect="1"/>
          </p:cNvGraphicFramePr>
          <p:nvPr/>
        </p:nvGraphicFramePr>
        <p:xfrm>
          <a:off x="4664075" y="1571625"/>
          <a:ext cx="23891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38" name="Equation" r:id="rId3" imgW="1600200" imgH="253800" progId="Equation.DSMT4">
                  <p:embed/>
                </p:oleObj>
              </mc:Choice>
              <mc:Fallback>
                <p:oleObj name="Equation" r:id="rId3" imgW="1600200" imgH="253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1571625"/>
                        <a:ext cx="2389188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5720" y="1571612"/>
            <a:ext cx="4214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Цифровой аналитический сигнал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85720" y="2214554"/>
            <a:ext cx="4214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Цифровая комплексная огибающая</a:t>
            </a:r>
            <a:endParaRPr lang="ru-RU" sz="2000" dirty="0">
              <a:latin typeface="Calibri" pitchFamily="34" charset="0"/>
            </a:endParaRPr>
          </a:p>
        </p:txBody>
      </p:sp>
      <p:graphicFrame>
        <p:nvGraphicFramePr>
          <p:cNvPr id="138245" name="Object 5"/>
          <p:cNvGraphicFramePr>
            <a:graphicFrameLocks noChangeAspect="1"/>
          </p:cNvGraphicFramePr>
          <p:nvPr/>
        </p:nvGraphicFramePr>
        <p:xfrm>
          <a:off x="4600575" y="2214563"/>
          <a:ext cx="389413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39" name="Equation" r:id="rId5" imgW="2831760" imgH="291960" progId="Equation.DSMT4">
                  <p:embed/>
                </p:oleObj>
              </mc:Choice>
              <mc:Fallback>
                <p:oleObj name="Equation" r:id="rId5" imgW="2831760" imgH="2919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0575" y="2214563"/>
                        <a:ext cx="3894138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Прямоугольник 35"/>
          <p:cNvSpPr/>
          <p:nvPr/>
        </p:nvSpPr>
        <p:spPr>
          <a:xfrm>
            <a:off x="500034" y="2786058"/>
            <a:ext cx="495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Calibri" pitchFamily="34" charset="0"/>
              </a:rPr>
              <a:t>где</a:t>
            </a:r>
            <a:endParaRPr lang="ru-RU" dirty="0"/>
          </a:p>
        </p:txBody>
      </p:sp>
      <p:graphicFrame>
        <p:nvGraphicFramePr>
          <p:cNvPr id="37" name="Object 5"/>
          <p:cNvGraphicFramePr>
            <a:graphicFrameLocks noChangeAspect="1"/>
          </p:cNvGraphicFramePr>
          <p:nvPr/>
        </p:nvGraphicFramePr>
        <p:xfrm>
          <a:off x="1071538" y="2786058"/>
          <a:ext cx="305593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0" name="Equation" r:id="rId7" imgW="2222280" imgH="291960" progId="Equation.DSMT4">
                  <p:embed/>
                </p:oleObj>
              </mc:Choice>
              <mc:Fallback>
                <p:oleObj name="Equation" r:id="rId7" imgW="2222280" imgH="2919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38" y="2786058"/>
                        <a:ext cx="3055937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5"/>
          <p:cNvGraphicFramePr>
            <a:graphicFrameLocks noChangeAspect="1"/>
          </p:cNvGraphicFramePr>
          <p:nvPr/>
        </p:nvGraphicFramePr>
        <p:xfrm>
          <a:off x="571472" y="3286124"/>
          <a:ext cx="7735888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1" name="Equation" r:id="rId9" imgW="5626080" imgH="634680" progId="Equation.DSMT4">
                  <p:embed/>
                </p:oleObj>
              </mc:Choice>
              <mc:Fallback>
                <p:oleObj name="Equation" r:id="rId9" imgW="5626080" imgH="6346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2" y="3286124"/>
                        <a:ext cx="7735888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507964"/>
              </p:ext>
            </p:extLst>
          </p:nvPr>
        </p:nvGraphicFramePr>
        <p:xfrm>
          <a:off x="2549506" y="4714884"/>
          <a:ext cx="3821113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2" name="Equation" r:id="rId11" imgW="3124080" imgH="304560" progId="Equation.DSMT4">
                  <p:embed/>
                </p:oleObj>
              </mc:Choice>
              <mc:Fallback>
                <p:oleObj name="Equation" r:id="rId11" imgW="3124080" imgH="30456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9506" y="4714884"/>
                        <a:ext cx="3821113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090325"/>
              </p:ext>
            </p:extLst>
          </p:nvPr>
        </p:nvGraphicFramePr>
        <p:xfrm>
          <a:off x="2572366" y="5286388"/>
          <a:ext cx="3851698" cy="363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3" name="Equation" r:id="rId13" imgW="3225600" imgH="304560" progId="Equation.DSMT4">
                  <p:embed/>
                </p:oleObj>
              </mc:Choice>
              <mc:Fallback>
                <p:oleObj name="Equation" r:id="rId13" imgW="3225600" imgH="30456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366" y="5286388"/>
                        <a:ext cx="3851698" cy="363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763688" y="4286256"/>
            <a:ext cx="5286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Цифровые квадратурные составляющие</a:t>
            </a:r>
            <a:endParaRPr lang="ru-RU" sz="20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7624" y="188640"/>
            <a:ext cx="7128792" cy="84528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 smtClean="0"/>
              <a:t>Фильтрация с использованием комплексной огибающей</a:t>
            </a:r>
            <a:endParaRPr lang="ru-RU" sz="2800" b="1" dirty="0"/>
          </a:p>
        </p:txBody>
      </p:sp>
      <p:pic>
        <p:nvPicPr>
          <p:cNvPr id="152578" name="Picture 2" descr="Спектры полезного и мешающего сигналов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665" y="1196752"/>
            <a:ext cx="5094287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524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7624" y="188640"/>
            <a:ext cx="7429499" cy="98930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 smtClean="0"/>
              <a:t>Фильтрация с использованием комплексной огибающей</a:t>
            </a:r>
            <a:endParaRPr lang="ru-RU" sz="2800" b="1" dirty="0"/>
          </a:p>
        </p:txBody>
      </p:sp>
      <p:pic>
        <p:nvPicPr>
          <p:cNvPr id="153602" name="Picture 2" descr="Спектры комплексной огибающей сигнала и помехи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69993"/>
            <a:ext cx="4964113" cy="235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03" name="Picture 3" descr="Спектры комплексной огибающей сигнала и помехи и АЧХ ФНЧ"/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8669" y="1469993"/>
            <a:ext cx="399415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71600" y="5589240"/>
            <a:ext cx="605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Техническая реализация с помощью двух идентичных ФНЧ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376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572528" y="6286520"/>
            <a:ext cx="28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kern="0" dirty="0" smtClean="0"/>
              <a:t>7</a:t>
            </a:r>
            <a:endParaRPr lang="ru-RU" sz="2400" dirty="0"/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1100716" y="188640"/>
            <a:ext cx="7453492" cy="983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1" kern="0" dirty="0" smtClean="0">
                <a:latin typeface="Calibri" pitchFamily="34" charset="0"/>
                <a:ea typeface="+mj-ea"/>
                <a:cs typeface="+mj-cs"/>
              </a:rPr>
              <a:t>Схема цифрового формирования комплексной огибающей</a:t>
            </a:r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18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6" name="Рисунок 15" descr="Схема формирования цифровой комплексной огибающей.w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472" y="1714488"/>
            <a:ext cx="8237953" cy="33083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37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" name="Rectangle 22"/>
          <p:cNvSpPr/>
          <p:nvPr/>
        </p:nvSpPr>
        <p:spPr>
          <a:xfrm>
            <a:off x="2915816" y="920154"/>
            <a:ext cx="30718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kern="0" dirty="0" smtClean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Цифровой АД</a:t>
            </a:r>
            <a:endParaRPr lang="ru-RU" sz="2800" b="1" kern="0" dirty="0">
              <a:solidFill>
                <a:srgbClr val="002060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577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957137"/>
              </p:ext>
            </p:extLst>
          </p:nvPr>
        </p:nvGraphicFramePr>
        <p:xfrm>
          <a:off x="1359693" y="1604329"/>
          <a:ext cx="64246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66" name="Equation" r:id="rId3" imgW="4978080" imgH="380880" progId="Equation.DSMT4">
                  <p:embed/>
                </p:oleObj>
              </mc:Choice>
              <mc:Fallback>
                <p:oleObj name="Equation" r:id="rId3" imgW="4978080" imgH="3808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9693" y="1604329"/>
                        <a:ext cx="6424613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57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010545"/>
              </p:ext>
            </p:extLst>
          </p:nvPr>
        </p:nvGraphicFramePr>
        <p:xfrm>
          <a:off x="1955769" y="2430948"/>
          <a:ext cx="5715040" cy="630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67" name="Equation" r:id="rId5" imgW="4572000" imgH="507960" progId="Equation.DSMT4">
                  <p:embed/>
                </p:oleObj>
              </mc:Choice>
              <mc:Fallback>
                <p:oleObj name="Equation" r:id="rId5" imgW="4572000" imgH="5079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769" y="2430948"/>
                        <a:ext cx="5715040" cy="630724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535753" y="349218"/>
            <a:ext cx="8501122" cy="551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900" cap="all" dirty="0" smtClean="0">
                <a:latin typeface="+mj-lt"/>
                <a:ea typeface="+mj-ea"/>
                <a:cs typeface="+mj-cs"/>
              </a:rPr>
              <a:t>2</a:t>
            </a:r>
            <a:r>
              <a:rPr lang="ru-RU" sz="2900" cap="all" dirty="0" smtClean="0">
                <a:latin typeface="+mj-lt"/>
                <a:ea typeface="+mj-ea"/>
                <a:cs typeface="+mj-cs"/>
              </a:rPr>
              <a:t>.2</a:t>
            </a:r>
            <a:r>
              <a:rPr lang="ru-RU" sz="2900" cap="all" dirty="0">
                <a:latin typeface="+mj-lt"/>
                <a:ea typeface="+mj-ea"/>
                <a:cs typeface="+mj-cs"/>
              </a:rPr>
              <a:t>. Цифровые демодуляторы сигналов</a:t>
            </a:r>
          </a:p>
        </p:txBody>
      </p:sp>
      <p:pic>
        <p:nvPicPr>
          <p:cNvPr id="28" name="Рисунок 27" descr="Цифровой АД.wm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14546" y="3714752"/>
            <a:ext cx="5197486" cy="23029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1600" y="2348880"/>
            <a:ext cx="7344816" cy="2880320"/>
          </a:xfrm>
          <a:prstGeom prst="rect">
            <a:avLst/>
          </a:prstGeom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37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" name="Rectangle 22"/>
          <p:cNvSpPr/>
          <p:nvPr/>
        </p:nvSpPr>
        <p:spPr>
          <a:xfrm>
            <a:off x="2857488" y="357166"/>
            <a:ext cx="30718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kern="0" dirty="0" smtClean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Цифровой ФД</a:t>
            </a:r>
            <a:endParaRPr lang="ru-RU" sz="2800" b="1" kern="0" dirty="0">
              <a:solidFill>
                <a:srgbClr val="002060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577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26382"/>
              </p:ext>
            </p:extLst>
          </p:nvPr>
        </p:nvGraphicFramePr>
        <p:xfrm>
          <a:off x="2817763" y="1018258"/>
          <a:ext cx="3525837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77" name="Equation" r:id="rId3" imgW="2857320" imgH="914400" progId="Equation.DSMT4">
                  <p:embed/>
                </p:oleObj>
              </mc:Choice>
              <mc:Fallback>
                <p:oleObj name="Equation" r:id="rId3" imgW="2857320" imgH="914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763" y="1018258"/>
                        <a:ext cx="3525837" cy="11303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Rectangle 44"/>
          <p:cNvSpPr>
            <a:spLocks noChangeArrowheads="1"/>
          </p:cNvSpPr>
          <p:nvPr/>
        </p:nvSpPr>
        <p:spPr bwMode="auto">
          <a:xfrm>
            <a:off x="1259632" y="2564903"/>
            <a:ext cx="1026013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000516"/>
              </p:ext>
            </p:extLst>
          </p:nvPr>
        </p:nvGraphicFramePr>
        <p:xfrm>
          <a:off x="1259632" y="2564904"/>
          <a:ext cx="6749967" cy="25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78" r:id="rId5" imgW="6514166" imgH="2502720" progId="Visio.Drawing.11">
                  <p:embed/>
                </p:oleObj>
              </mc:Choice>
              <mc:Fallback>
                <p:oleObj r:id="rId5" imgW="6514166" imgH="2502720" progId="Visio.Drawing.11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564904"/>
                        <a:ext cx="6749967" cy="2592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19672" y="836712"/>
            <a:ext cx="5904656" cy="30963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28" descr="Векторные диаграммы к ЦФД.w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79712" y="1052736"/>
            <a:ext cx="5359136" cy="2895533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520114"/>
              </p:ext>
            </p:extLst>
          </p:nvPr>
        </p:nvGraphicFramePr>
        <p:xfrm>
          <a:off x="2557463" y="3940175"/>
          <a:ext cx="3886200" cy="284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17" name="Equation" r:id="rId4" imgW="4444920" imgH="3251160" progId="Equation.DSMT4">
                  <p:embed/>
                </p:oleObj>
              </mc:Choice>
              <mc:Fallback>
                <p:oleObj name="Equation" r:id="rId4" imgW="4444920" imgH="3251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57463" y="3940175"/>
                        <a:ext cx="3886200" cy="2841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2"/>
          <p:cNvSpPr/>
          <p:nvPr/>
        </p:nvSpPr>
        <p:spPr>
          <a:xfrm>
            <a:off x="2411760" y="205480"/>
            <a:ext cx="46805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kern="0" dirty="0" smtClean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Алгоритм цифрового ФД</a:t>
            </a:r>
            <a:endParaRPr lang="ru-RU" sz="2800" b="1" kern="0" dirty="0">
              <a:solidFill>
                <a:srgbClr val="002060"/>
              </a:solidFill>
              <a:latin typeface="Calibri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6380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19672" y="1412776"/>
            <a:ext cx="5616624" cy="26642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22"/>
          <p:cNvSpPr/>
          <p:nvPr/>
        </p:nvSpPr>
        <p:spPr>
          <a:xfrm>
            <a:off x="1979712" y="548680"/>
            <a:ext cx="52565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kern="0" dirty="0" smtClean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Характеристика цифрового ФД</a:t>
            </a:r>
            <a:endParaRPr lang="ru-RU" sz="2800" b="1" kern="0" dirty="0">
              <a:solidFill>
                <a:srgbClr val="002060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059832" y="234888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276778"/>
              </p:ext>
            </p:extLst>
          </p:nvPr>
        </p:nvGraphicFramePr>
        <p:xfrm>
          <a:off x="2195736" y="1700808"/>
          <a:ext cx="4495403" cy="193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41" r:id="rId3" imgW="5176467" imgH="2212920" progId="Visio.Drawing.11">
                  <p:embed/>
                </p:oleObj>
              </mc:Choice>
              <mc:Fallback>
                <p:oleObj r:id="rId3" imgW="5176467" imgH="221292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1700808"/>
                        <a:ext cx="4495403" cy="19339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043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358214" y="6286520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kern="0" dirty="0" smtClean="0"/>
              <a:t>10</a:t>
            </a:r>
            <a:endParaRPr lang="ru-RU" sz="2400" dirty="0"/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37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" name="Rectangle 22"/>
          <p:cNvSpPr/>
          <p:nvPr/>
        </p:nvSpPr>
        <p:spPr>
          <a:xfrm>
            <a:off x="2857488" y="357166"/>
            <a:ext cx="30718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kern="0" dirty="0" smtClean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Цифровой ЧД </a:t>
            </a:r>
            <a:endParaRPr lang="ru-RU" sz="2800" b="1" kern="0" dirty="0">
              <a:solidFill>
                <a:srgbClr val="002060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577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597152"/>
              </p:ext>
            </p:extLst>
          </p:nvPr>
        </p:nvGraphicFramePr>
        <p:xfrm>
          <a:off x="642909" y="2215014"/>
          <a:ext cx="7858181" cy="785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42" name="Equation" r:id="rId3" imgW="5854680" imgH="583920" progId="Equation.DSMT4">
                  <p:embed/>
                </p:oleObj>
              </mc:Choice>
              <mc:Fallback>
                <p:oleObj name="Equation" r:id="rId3" imgW="5854680" imgH="58392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09" y="2215014"/>
                        <a:ext cx="7858181" cy="78535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" name="Rectangle 22"/>
          <p:cNvSpPr/>
          <p:nvPr/>
        </p:nvSpPr>
        <p:spPr>
          <a:xfrm>
            <a:off x="500034" y="1546199"/>
            <a:ext cx="83582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libri" pitchFamily="34" charset="0"/>
              </a:rPr>
              <a:t>Алгоритм 1 - с вычислением полной фазы</a:t>
            </a:r>
          </a:p>
        </p:txBody>
      </p:sp>
      <p:sp>
        <p:nvSpPr>
          <p:cNvPr id="2" name="Rectangle 97"/>
          <p:cNvSpPr>
            <a:spLocks noChangeArrowheads="1"/>
          </p:cNvSpPr>
          <p:nvPr/>
        </p:nvSpPr>
        <p:spPr bwMode="auto">
          <a:xfrm>
            <a:off x="1233497" y="354807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180162"/>
              </p:ext>
            </p:extLst>
          </p:nvPr>
        </p:nvGraphicFramePr>
        <p:xfrm>
          <a:off x="1335880" y="3548070"/>
          <a:ext cx="647223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43" name="Equation" r:id="rId5" imgW="6476760" imgH="520560" progId="Equation.DSMT4">
                  <p:embed/>
                </p:oleObj>
              </mc:Choice>
              <mc:Fallback>
                <p:oleObj name="Equation" r:id="rId5" imgW="6476760" imgH="520560" progId="Equation.DSMT4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880" y="3548070"/>
                        <a:ext cx="6472238" cy="520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/>
          <p:nvPr/>
        </p:nvSpPr>
        <p:spPr>
          <a:xfrm>
            <a:off x="1331640" y="620688"/>
            <a:ext cx="61436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libri" pitchFamily="34" charset="0"/>
              </a:rPr>
              <a:t>Алгоритм 2 - без вычисления полной фазы</a:t>
            </a: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247278"/>
              </p:ext>
            </p:extLst>
          </p:nvPr>
        </p:nvGraphicFramePr>
        <p:xfrm>
          <a:off x="1403648" y="2132856"/>
          <a:ext cx="6242050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7" name="Equation" r:id="rId3" imgW="4686120" imgH="1244520" progId="Equation.DSMT4">
                  <p:embed/>
                </p:oleObj>
              </mc:Choice>
              <mc:Fallback>
                <p:oleObj name="Equation" r:id="rId3" imgW="4686120" imgH="1244520" progId="Equation.DSMT4">
                  <p:embed/>
                  <p:pic>
                    <p:nvPicPr>
                      <p:cNvPr id="7885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132856"/>
                        <a:ext cx="6242050" cy="16557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489567"/>
              </p:ext>
            </p:extLst>
          </p:nvPr>
        </p:nvGraphicFramePr>
        <p:xfrm>
          <a:off x="1187624" y="1268760"/>
          <a:ext cx="6867013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8" name="Equation" r:id="rId5" imgW="5812823" imgH="304845" progId="Equation.DSMT4">
                  <p:embed/>
                </p:oleObj>
              </mc:Choice>
              <mc:Fallback>
                <p:oleObj name="Equation" r:id="rId5" imgW="5812823" imgH="30484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624" y="1268760"/>
                        <a:ext cx="6867013" cy="360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093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/>
          <p:nvPr/>
        </p:nvSpPr>
        <p:spPr>
          <a:xfrm>
            <a:off x="1907704" y="404664"/>
            <a:ext cx="59293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libri" pitchFamily="34" charset="0"/>
              </a:rPr>
              <a:t>Алгоритм 3 – без нелинейных операций</a:t>
            </a:r>
            <a:endParaRPr lang="ru-RU" sz="2400" dirty="0">
              <a:latin typeface="Calibri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53119"/>
              </p:ext>
            </p:extLst>
          </p:nvPr>
        </p:nvGraphicFramePr>
        <p:xfrm>
          <a:off x="1619672" y="1210345"/>
          <a:ext cx="27495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0" name="Equation" r:id="rId3" imgW="2748943" imgH="609330" progId="Equation.DSMT4">
                  <p:embed/>
                </p:oleObj>
              </mc:Choice>
              <mc:Fallback>
                <p:oleObj name="Equation" r:id="rId3" imgW="2748943" imgH="60933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1210345"/>
                        <a:ext cx="274955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372098"/>
              </p:ext>
            </p:extLst>
          </p:nvPr>
        </p:nvGraphicFramePr>
        <p:xfrm>
          <a:off x="5004048" y="1235745"/>
          <a:ext cx="172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1" name="Equation" r:id="rId5" imgW="1726920" imgH="583920" progId="Equation.DSMT4">
                  <p:embed/>
                </p:oleObj>
              </mc:Choice>
              <mc:Fallback>
                <p:oleObj name="Equation" r:id="rId5" imgW="172692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4048" y="1235745"/>
                        <a:ext cx="17272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123303"/>
              </p:ext>
            </p:extLst>
          </p:nvPr>
        </p:nvGraphicFramePr>
        <p:xfrm>
          <a:off x="1619672" y="2044824"/>
          <a:ext cx="495458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2" name="Equation" r:id="rId7" imgW="4953869" imgH="561822" progId="Equation.DSMT4">
                  <p:embed/>
                </p:oleObj>
              </mc:Choice>
              <mc:Fallback>
                <p:oleObj name="Equation" r:id="rId7" imgW="4953869" imgH="56182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9672" y="2044824"/>
                        <a:ext cx="4954587" cy="5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042420"/>
              </p:ext>
            </p:extLst>
          </p:nvPr>
        </p:nvGraphicFramePr>
        <p:xfrm>
          <a:off x="1480708" y="2836912"/>
          <a:ext cx="63563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3" name="Equation" r:id="rId9" imgW="6356840" imgH="1599806" progId="Equation.DSMT4">
                  <p:embed/>
                </p:oleObj>
              </mc:Choice>
              <mc:Fallback>
                <p:oleObj name="Equation" r:id="rId9" imgW="6356840" imgH="15998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80708" y="2836912"/>
                        <a:ext cx="6356350" cy="16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321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358214" y="6286520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kern="0" dirty="0" smtClean="0"/>
              <a:t>11</a:t>
            </a:r>
            <a:endParaRPr lang="ru-RU" sz="2400" dirty="0"/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37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42340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790089"/>
              </p:ext>
            </p:extLst>
          </p:nvPr>
        </p:nvGraphicFramePr>
        <p:xfrm>
          <a:off x="1371600" y="2969309"/>
          <a:ext cx="6456363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29" name="Equation" r:id="rId3" imgW="4965480" imgH="1269720" progId="Equation.DSMT4">
                  <p:embed/>
                </p:oleObj>
              </mc:Choice>
              <mc:Fallback>
                <p:oleObj name="Equation" r:id="rId3" imgW="4965480" imgH="126972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969309"/>
                        <a:ext cx="6456363" cy="16541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782309"/>
              </p:ext>
            </p:extLst>
          </p:nvPr>
        </p:nvGraphicFramePr>
        <p:xfrm>
          <a:off x="1881188" y="1470709"/>
          <a:ext cx="5464175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30" name="Equation" r:id="rId5" imgW="3695400" imgH="812520" progId="Equation.DSMT4">
                  <p:embed/>
                </p:oleObj>
              </mc:Choice>
              <mc:Fallback>
                <p:oleObj name="Equation" r:id="rId5" imgW="3695400" imgH="8125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8" y="1470709"/>
                        <a:ext cx="5464175" cy="120173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472960"/>
              </p:ext>
            </p:extLst>
          </p:nvPr>
        </p:nvGraphicFramePr>
        <p:xfrm>
          <a:off x="1714500" y="4837796"/>
          <a:ext cx="578643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31" name="Equation" r:id="rId7" imgW="4140000" imgH="571320" progId="Equation.DSMT4">
                  <p:embed/>
                </p:oleObj>
              </mc:Choice>
              <mc:Fallback>
                <p:oleObj name="Equation" r:id="rId7" imgW="4140000" imgH="5713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4837796"/>
                        <a:ext cx="5786438" cy="7985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2"/>
          <p:cNvSpPr/>
          <p:nvPr/>
        </p:nvSpPr>
        <p:spPr>
          <a:xfrm>
            <a:off x="1643042" y="908720"/>
            <a:ext cx="59293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libri" pitchFamily="34" charset="0"/>
              </a:rPr>
              <a:t>Алгоритм 3 – без нелинейных операций</a:t>
            </a:r>
            <a:endParaRPr lang="ru-RU" sz="24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9" y="1484784"/>
            <a:ext cx="7270886" cy="4478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8358214" y="6286520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kern="0" dirty="0" smtClean="0"/>
              <a:t>12</a:t>
            </a:r>
            <a:endParaRPr lang="ru-RU" sz="2400" dirty="0"/>
          </a:p>
        </p:txBody>
      </p:sp>
      <p:sp>
        <p:nvSpPr>
          <p:cNvPr id="2" name="Rectangle 1"/>
          <p:cNvSpPr/>
          <p:nvPr/>
        </p:nvSpPr>
        <p:spPr>
          <a:xfrm>
            <a:off x="2843808" y="404664"/>
            <a:ext cx="3960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 smtClean="0">
                <a:latin typeface="Calibri" pitchFamily="34" charset="0"/>
              </a:rPr>
              <a:t>Схема ЧД </a:t>
            </a:r>
            <a:r>
              <a:rPr lang="ru-RU" dirty="0">
                <a:latin typeface="Calibri" pitchFamily="34" charset="0"/>
              </a:rPr>
              <a:t>– без нелинейных операций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358214" y="6286520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kern="0" dirty="0" smtClean="0"/>
              <a:t>13</a:t>
            </a:r>
            <a:endParaRPr lang="ru-RU" sz="2400" dirty="0"/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37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626208"/>
              </p:ext>
            </p:extLst>
          </p:nvPr>
        </p:nvGraphicFramePr>
        <p:xfrm>
          <a:off x="3196438" y="1263630"/>
          <a:ext cx="2950118" cy="785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7" name="Equation" r:id="rId3" imgW="2387520" imgH="634680" progId="Equation.DSMT4">
                  <p:embed/>
                </p:oleObj>
              </mc:Choice>
              <mc:Fallback>
                <p:oleObj name="Equation" r:id="rId3" imgW="2387520" imgH="6346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6438" y="1263630"/>
                        <a:ext cx="2950118" cy="785824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2"/>
          <p:cNvSpPr/>
          <p:nvPr/>
        </p:nvSpPr>
        <p:spPr>
          <a:xfrm>
            <a:off x="1547664" y="398749"/>
            <a:ext cx="66967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libri" pitchFamily="34" charset="0"/>
              </a:rPr>
              <a:t>Характеристика ЦЧД без нелинейных операций</a:t>
            </a:r>
            <a:endParaRPr lang="ru-RU" sz="2400" dirty="0">
              <a:latin typeface="Calibri" pitchFamily="34" charset="0"/>
            </a:endParaRPr>
          </a:p>
        </p:txBody>
      </p:sp>
      <p:pic>
        <p:nvPicPr>
          <p:cNvPr id="31" name="Рисунок 30" descr="Характеристика ЦЧД.wm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24934" y="2335200"/>
            <a:ext cx="4005088" cy="2614433"/>
          </a:xfrm>
          <a:prstGeom prst="rect">
            <a:avLst/>
          </a:prstGeom>
          <a:solidFill>
            <a:schemeClr val="tx1"/>
          </a:solidFill>
          <a:ln w="15875">
            <a:solidFill>
              <a:srgbClr val="C0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21837</TotalTime>
  <Words>426</Words>
  <Application>Microsoft Office PowerPoint</Application>
  <PresentationFormat>Экран (4:3)</PresentationFormat>
  <Paragraphs>89</Paragraphs>
  <Slides>29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29</vt:i4>
      </vt:variant>
    </vt:vector>
  </HeadingPairs>
  <TitlesOfParts>
    <vt:vector size="41" baseType="lpstr">
      <vt:lpstr>宋体</vt:lpstr>
      <vt:lpstr>Arial</vt:lpstr>
      <vt:lpstr>Calibri</vt:lpstr>
      <vt:lpstr>等线</vt:lpstr>
      <vt:lpstr>Symbol</vt:lpstr>
      <vt:lpstr>Times New Roman</vt:lpstr>
      <vt:lpstr>Trebuchet MS</vt:lpstr>
      <vt:lpstr>Tw Cen MT</vt:lpstr>
      <vt:lpstr>Контур</vt:lpstr>
      <vt:lpstr>Equation</vt:lpstr>
      <vt:lpstr>Visio.Drawing.11</vt:lpstr>
      <vt:lpstr>Equation.DSMT4</vt:lpstr>
      <vt:lpstr>Тема 2. Цифровая обработка сигналов в РПУ  </vt:lpstr>
      <vt:lpstr>2.1 Комплексная огибающая сигнала</vt:lpstr>
      <vt:lpstr>Формирование цифровой комплексной огибающей</vt:lpstr>
      <vt:lpstr>Презентация PowerPoint</vt:lpstr>
      <vt:lpstr>Презентация PowerPoint</vt:lpstr>
      <vt:lpstr>Формирование цифровых НЧ квадратурных составляющих сигнала</vt:lpstr>
      <vt:lpstr>Формирование комплексной огибающей из аналоговых НЧ составляющих </vt:lpstr>
      <vt:lpstr>Презентация PowerPoint</vt:lpstr>
      <vt:lpstr>Презентация PowerPoint</vt:lpstr>
      <vt:lpstr>Спектр аналитического сигнала</vt:lpstr>
      <vt:lpstr>Формирование комплексной огибающей аналитического сигнала</vt:lpstr>
      <vt:lpstr>Презентация PowerPoint</vt:lpstr>
      <vt:lpstr>Уменьшение колебаний АЧХ фильтра Гильберта</vt:lpstr>
      <vt:lpstr>АЧХ фильтра Гильберта с окном Хэмминга</vt:lpstr>
      <vt:lpstr>Формирование сопряжённого сигнала с помощью цифрового фильтра Гильберта </vt:lpstr>
      <vt:lpstr>Презентация PowerPoint</vt:lpstr>
      <vt:lpstr>Фильтрация с использованием комплексной огибающей</vt:lpstr>
      <vt:lpstr>Фильтрация с использованием комплексной огибающей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Лишак</dc:creator>
  <cp:lastModifiedBy>NaumovaYD</cp:lastModifiedBy>
  <cp:revision>869</cp:revision>
  <dcterms:created xsi:type="dcterms:W3CDTF">2011-09-20T17:29:01Z</dcterms:created>
  <dcterms:modified xsi:type="dcterms:W3CDTF">2024-10-30T10:47:51Z</dcterms:modified>
</cp:coreProperties>
</file>