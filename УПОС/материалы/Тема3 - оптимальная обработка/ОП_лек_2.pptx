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797675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18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653B70-EC74-4BA9-B75D-F31F28989AB7}" type="datetimeFigureOut">
              <a:rPr lang="ru-RU" smtClean="0"/>
              <a:pPr>
                <a:defRPr/>
              </a:pPr>
              <a:t>15.12.2020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3E1AD1-5022-46C4-874E-CEDC1FC2AB3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024A27-873B-47B1-8AB5-20ED4739B017}" type="datetimeFigureOut">
              <a:rPr lang="ru-RU" smtClean="0"/>
              <a:pPr>
                <a:defRPr/>
              </a:pPr>
              <a:t>15.12.2020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572E6B-40BF-443F-8DA4-6829390A66B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D02646-52C2-4133-B6AF-6FE5795E6D21}" type="datetimeFigureOut">
              <a:rPr lang="ru-RU" smtClean="0"/>
              <a:pPr>
                <a:defRPr/>
              </a:pPr>
              <a:t>15.12.2020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98B2DA-278E-404A-AB89-2C73B6956D4E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2B93292-3E6F-4A62-8192-4800CE06153C}" type="datetimeFigureOut">
              <a:rPr lang="ru-RU" smtClean="0"/>
              <a:pPr>
                <a:defRPr/>
              </a:pPr>
              <a:t>15.12.2020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8DC67E-D32C-4866-8914-05F7DF5F08FE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4050FF-BC89-47EE-AADA-2130CD2305BE}" type="datetimeFigureOut">
              <a:rPr lang="ru-RU" smtClean="0"/>
              <a:pPr>
                <a:defRPr/>
              </a:pPr>
              <a:t>15.12.2020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3697AC-BA89-43D8-8E9D-FCDC35C3D165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4A78D00-F8B0-45B7-BC3A-AB0C35833279}" type="datetimeFigureOut">
              <a:rPr lang="ru-RU" smtClean="0"/>
              <a:pPr>
                <a:defRPr/>
              </a:pPr>
              <a:t>15.12.2020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8668C8-FEAB-41D5-AB98-ED05B9E87782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E6D306-F649-4ED6-BC89-1D294E60AC93}" type="datetimeFigureOut">
              <a:rPr lang="ru-RU" smtClean="0"/>
              <a:pPr>
                <a:defRPr/>
              </a:pPr>
              <a:t>15.12.2020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356AD3-BD13-4D3D-81BE-26FEC70B648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82BDE08-C505-4B5D-A1E7-A295483CF5D8}" type="datetimeFigureOut">
              <a:rPr lang="ru-RU" smtClean="0"/>
              <a:pPr>
                <a:defRPr/>
              </a:pPr>
              <a:t>15.12.2020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840663A-8ACF-4AD7-9D5D-ECA1A24D7EF2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с одним вырезанным скругленным углом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ый треугольник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CC350D-2675-4DD6-BDBC-6E2E2104C9EF}" type="datetimeFigureOut">
              <a:rPr lang="ru-RU" smtClean="0"/>
              <a:pPr>
                <a:defRPr/>
              </a:pPr>
              <a:t>15.12.2020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>
              <a:defRPr/>
            </a:pPr>
            <a:fld id="{8EDC411B-3575-4F0A-8EEC-304941F53EE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10" name="Полилиния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Полилиния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5C4E122-876F-40F5-B289-9AA76DEB921A}" type="datetimeFigureOut">
              <a:rPr lang="ru-RU" smtClean="0"/>
              <a:pPr>
                <a:defRPr/>
              </a:pPr>
              <a:t>15.12.2020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C68F0D-3017-415A-8DCC-50B73F4C2B8E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7363A6-C44F-43A8-99B5-CE4643F29764}" type="datetimeFigureOut">
              <a:rPr lang="ru-RU" smtClean="0"/>
              <a:pPr>
                <a:defRPr/>
              </a:pPr>
              <a:t>15.12.2020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82FD22-3CF4-419D-BCC8-313ADE990FB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1F30E8FF-CFED-437D-B6A1-180A1513FE54}" type="datetimeFigureOut">
              <a:rPr lang="ru-RU" smtClean="0"/>
              <a:pPr>
                <a:defRPr/>
              </a:pPr>
              <a:t>15.12.2020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8A0FAAA4-B635-49B4-8A7F-836903CA6DD3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2" name="Группа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Полилиния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Полилиния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3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image" Target="../media/image12.wmf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8.bin"/><Relationship Id="rId14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23.emf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2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7.emf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8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4.emf"/><Relationship Id="rId4" Type="http://schemas.openxmlformats.org/officeDocument/2006/relationships/image" Target="../media/image3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Тема </a:t>
            </a:r>
            <a:r>
              <a:rPr lang="ru-RU" dirty="0" smtClean="0"/>
              <a:t>3:</a:t>
            </a:r>
            <a:endParaRPr lang="ru-RU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395536" y="3228536"/>
            <a:ext cx="8496944" cy="1752600"/>
          </a:xfrm>
        </p:spPr>
        <p:txBody>
          <a:bodyPr>
            <a:normAutofit/>
          </a:bodyPr>
          <a:lstStyle/>
          <a:p>
            <a:r>
              <a:rPr lang="ru-RU" dirty="0" smtClean="0"/>
              <a:t>Часть </a:t>
            </a:r>
            <a:r>
              <a:rPr lang="ru-RU" dirty="0" smtClean="0"/>
              <a:t>2: </a:t>
            </a:r>
            <a:endParaRPr lang="ru-RU" dirty="0" smtClean="0"/>
          </a:p>
          <a:p>
            <a:r>
              <a:rPr lang="ru-RU" dirty="0" smtClean="0"/>
              <a:t>Оптимальная обработка сигналов с использованием согласованных фильтров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2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3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4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5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6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7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8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3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0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1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2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4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6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7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8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4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0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1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2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3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4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7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8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59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0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2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3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4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6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7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8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69" name="Rectangle 21"/>
          <p:cNvSpPr>
            <a:spLocks noChangeArrowheads="1"/>
          </p:cNvSpPr>
          <p:nvPr/>
        </p:nvSpPr>
        <p:spPr bwMode="auto">
          <a:xfrm>
            <a:off x="214313" y="1357313"/>
            <a:ext cx="37147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000" i="1" u="sng">
                <a:latin typeface="Calibri" pitchFamily="34" charset="0"/>
                <a:sym typeface="Symbol" pitchFamily="18" charset="2"/>
              </a:rPr>
              <a:t>Импульсная характеристика</a:t>
            </a:r>
          </a:p>
        </p:txBody>
      </p:sp>
      <p:sp>
        <p:nvSpPr>
          <p:cNvPr id="1070" name="Rectangle 21"/>
          <p:cNvSpPr>
            <a:spLocks noChangeArrowheads="1"/>
          </p:cNvSpPr>
          <p:nvPr/>
        </p:nvSpPr>
        <p:spPr bwMode="auto">
          <a:xfrm>
            <a:off x="285750" y="2970213"/>
            <a:ext cx="30003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000" i="1">
                <a:latin typeface="Calibri" pitchFamily="34" charset="0"/>
                <a:sym typeface="Symbol" pitchFamily="18" charset="2"/>
              </a:rPr>
              <a:t>Передаточная функция</a:t>
            </a:r>
          </a:p>
        </p:txBody>
      </p:sp>
      <p:sp>
        <p:nvSpPr>
          <p:cNvPr id="1071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928688" y="2000250"/>
          <a:ext cx="226695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3" imgW="1574640" imgH="279360" progId="Equation.DSMT4">
                  <p:embed/>
                </p:oleObj>
              </mc:Choice>
              <mc:Fallback>
                <p:oleObj name="Equation" r:id="rId3" imgW="1574640" imgH="2793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2000250"/>
                        <a:ext cx="226695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2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323850" y="3478213"/>
          <a:ext cx="8689975" cy="186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5" imgW="4876560" imgH="1041120" progId="Equation.DSMT4">
                  <p:embed/>
                </p:oleObj>
              </mc:Choice>
              <mc:Fallback>
                <p:oleObj name="Equation" r:id="rId5" imgW="4876560" imgH="10411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478213"/>
                        <a:ext cx="8689975" cy="1862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3" name="Rectangle 21"/>
          <p:cNvSpPr>
            <a:spLocks noChangeArrowheads="1"/>
          </p:cNvSpPr>
          <p:nvPr/>
        </p:nvSpPr>
        <p:spPr bwMode="auto">
          <a:xfrm>
            <a:off x="2000250" y="5286375"/>
            <a:ext cx="7143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i="1" u="sng">
                <a:latin typeface="Calibri" pitchFamily="34" charset="0"/>
                <a:sym typeface="Symbol" pitchFamily="18" charset="2"/>
              </a:rPr>
              <a:t>АЧХ</a:t>
            </a:r>
          </a:p>
        </p:txBody>
      </p:sp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642938" y="5786438"/>
          <a:ext cx="33940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7" imgW="1904760" imgH="279360" progId="Equation.DSMT4">
                  <p:embed/>
                </p:oleObj>
              </mc:Choice>
              <mc:Fallback>
                <p:oleObj name="Equation" r:id="rId7" imgW="1904760" imgH="2793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5786438"/>
                        <a:ext cx="339407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4" name="Rectangle 21"/>
          <p:cNvSpPr>
            <a:spLocks noChangeArrowheads="1"/>
          </p:cNvSpPr>
          <p:nvPr/>
        </p:nvSpPr>
        <p:spPr bwMode="auto">
          <a:xfrm>
            <a:off x="6286500" y="5286375"/>
            <a:ext cx="7143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i="1" u="sng">
                <a:latin typeface="Calibri" pitchFamily="34" charset="0"/>
                <a:sym typeface="Symbol" pitchFamily="18" charset="2"/>
              </a:rPr>
              <a:t>ФЧХ</a:t>
            </a:r>
          </a:p>
        </p:txBody>
      </p:sp>
      <p:graphicFrame>
        <p:nvGraphicFramePr>
          <p:cNvPr id="1029" name="Object 5"/>
          <p:cNvGraphicFramePr>
            <a:graphicFrameLocks noChangeAspect="1"/>
          </p:cNvGraphicFramePr>
          <p:nvPr/>
        </p:nvGraphicFramePr>
        <p:xfrm>
          <a:off x="4572000" y="5813425"/>
          <a:ext cx="43227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9" imgW="2425680" imgH="241200" progId="Equation.DSMT4">
                  <p:embed/>
                </p:oleObj>
              </mc:Choice>
              <mc:Fallback>
                <p:oleObj name="Equation" r:id="rId9" imgW="242568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813425"/>
                        <a:ext cx="43227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75" name="Рисунок 51" descr="Импульсная х-ка СФ.emf"/>
          <p:cNvPicPr>
            <a:picLocks noChangeAspect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429125" y="1285875"/>
            <a:ext cx="4189413" cy="1801813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  <a:miter lim="800000"/>
            <a:headEnd/>
            <a:tailEnd/>
          </a:ln>
        </p:spPr>
      </p:pic>
      <p:sp>
        <p:nvSpPr>
          <p:cNvPr id="53" name="Прямоугольник 52"/>
          <p:cNvSpPr/>
          <p:nvPr/>
        </p:nvSpPr>
        <p:spPr>
          <a:xfrm>
            <a:off x="428625" y="214313"/>
            <a:ext cx="8215313" cy="7334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 smtClean="0">
                <a:solidFill>
                  <a:srgbClr val="002060"/>
                </a:solidFill>
              </a:rPr>
              <a:t> </a:t>
            </a:r>
            <a:r>
              <a:rPr lang="ru-RU" sz="2750" kern="0" dirty="0">
                <a:solidFill>
                  <a:srgbClr val="002060"/>
                </a:solidFill>
              </a:rPr>
              <a:t>Оптимальная обработка сигналов с использованием согласованных фильтров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8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59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0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1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2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3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4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7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6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0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2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3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4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7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8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7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0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5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8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89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0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2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3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5" name="Rectangle 21"/>
          <p:cNvSpPr>
            <a:spLocks noChangeArrowheads="1"/>
          </p:cNvSpPr>
          <p:nvPr/>
        </p:nvSpPr>
        <p:spPr bwMode="auto">
          <a:xfrm>
            <a:off x="214313" y="1265238"/>
            <a:ext cx="150018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i="1">
                <a:latin typeface="Calibri" pitchFamily="34" charset="0"/>
                <a:sym typeface="Symbol" pitchFamily="18" charset="2"/>
              </a:rPr>
              <a:t>Отклик СФ</a:t>
            </a:r>
          </a:p>
        </p:txBody>
      </p:sp>
      <p:sp>
        <p:nvSpPr>
          <p:cNvPr id="2096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7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209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866900" y="1071563"/>
          <a:ext cx="686435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3" imgW="4114800" imgH="533160" progId="Equation.DSMT4">
                  <p:embed/>
                </p:oleObj>
              </mc:Choice>
              <mc:Fallback>
                <p:oleObj name="Equation" r:id="rId3" imgW="4114800" imgH="5331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1071563"/>
                        <a:ext cx="6864350" cy="884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214313" y="1957388"/>
          <a:ext cx="2668587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5" imgW="1600200" imgH="457200" progId="Equation.DSMT4">
                  <p:embed/>
                </p:oleObj>
              </mc:Choice>
              <mc:Fallback>
                <p:oleObj name="Equation" r:id="rId5" imgW="160020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3" y="1957388"/>
                        <a:ext cx="2668587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" name="Rectangle 21"/>
          <p:cNvSpPr>
            <a:spLocks noChangeArrowheads="1"/>
          </p:cNvSpPr>
          <p:nvPr/>
        </p:nvSpPr>
        <p:spPr bwMode="auto">
          <a:xfrm>
            <a:off x="2928938" y="2143125"/>
            <a:ext cx="32861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000" i="1">
                <a:latin typeface="Calibri" pitchFamily="34" charset="0"/>
                <a:sym typeface="Symbol" pitchFamily="18" charset="2"/>
              </a:rPr>
              <a:t>Корреляционный интеграл</a:t>
            </a:r>
          </a:p>
        </p:txBody>
      </p:sp>
      <p:sp>
        <p:nvSpPr>
          <p:cNvPr id="2100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6286500" y="1928813"/>
          <a:ext cx="260985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7" imgW="1511280" imgH="469800" progId="Equation.DSMT4">
                  <p:embed/>
                </p:oleObj>
              </mc:Choice>
              <mc:Fallback>
                <p:oleObj name="Equation" r:id="rId7" imgW="1511280" imgH="469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1928813"/>
                        <a:ext cx="260985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1" name="Rectangle 21"/>
          <p:cNvSpPr>
            <a:spLocks noChangeArrowheads="1"/>
          </p:cNvSpPr>
          <p:nvPr/>
        </p:nvSpPr>
        <p:spPr bwMode="auto">
          <a:xfrm>
            <a:off x="3143250" y="2714625"/>
            <a:ext cx="27146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i="1" u="sng">
                <a:latin typeface="Calibri" pitchFamily="34" charset="0"/>
                <a:sym typeface="Symbol" pitchFamily="18" charset="2"/>
              </a:rPr>
              <a:t>Отклик СФ на сигнал</a:t>
            </a:r>
          </a:p>
        </p:txBody>
      </p:sp>
      <p:sp>
        <p:nvSpPr>
          <p:cNvPr id="2102" name="Rectangle 1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053" name="Object 5"/>
          <p:cNvGraphicFramePr>
            <a:graphicFrameLocks noChangeAspect="1"/>
          </p:cNvGraphicFramePr>
          <p:nvPr/>
        </p:nvGraphicFramePr>
        <p:xfrm>
          <a:off x="214313" y="3143250"/>
          <a:ext cx="8715375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9" imgW="5003640" imgH="609480" progId="Equation.DSMT4">
                  <p:embed/>
                </p:oleObj>
              </mc:Choice>
              <mc:Fallback>
                <p:oleObj name="Equation" r:id="rId9" imgW="5003640" imgH="609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3" y="3143250"/>
                        <a:ext cx="8715375" cy="1062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" name="Object 6"/>
          <p:cNvGraphicFramePr>
            <a:graphicFrameLocks noChangeAspect="1"/>
          </p:cNvGraphicFramePr>
          <p:nvPr/>
        </p:nvGraphicFramePr>
        <p:xfrm>
          <a:off x="3571875" y="4143375"/>
          <a:ext cx="514350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11" imgW="2755800" imgH="457200" progId="Equation.DSMT4">
                  <p:embed/>
                </p:oleObj>
              </mc:Choice>
              <mc:Fallback>
                <p:oleObj name="Equation" r:id="rId11" imgW="275580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4143375"/>
                        <a:ext cx="5143500" cy="855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3" name="Rectangle 21"/>
          <p:cNvSpPr>
            <a:spLocks noChangeArrowheads="1"/>
          </p:cNvSpPr>
          <p:nvPr/>
        </p:nvSpPr>
        <p:spPr bwMode="auto">
          <a:xfrm>
            <a:off x="214313" y="4365625"/>
            <a:ext cx="32861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i="1">
                <a:latin typeface="Calibri" pitchFamily="34" charset="0"/>
                <a:sym typeface="Symbol" pitchFamily="18" charset="2"/>
              </a:rPr>
              <a:t>Пиковое значение отклика</a:t>
            </a:r>
          </a:p>
        </p:txBody>
      </p:sp>
      <p:sp>
        <p:nvSpPr>
          <p:cNvPr id="65" name="Прямоугольник 64"/>
          <p:cNvSpPr/>
          <p:nvPr/>
        </p:nvSpPr>
        <p:spPr>
          <a:xfrm>
            <a:off x="428625" y="441325"/>
            <a:ext cx="8215313" cy="4159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</a:rPr>
              <a:t>Характеристики согласованного фильтра</a:t>
            </a:r>
          </a:p>
        </p:txBody>
      </p:sp>
      <p:pic>
        <p:nvPicPr>
          <p:cNvPr id="2105" name="Рисунок 66" descr="Отклик СФ.emf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38138" y="4643438"/>
            <a:ext cx="4022725" cy="178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055" name="Object 7"/>
          <p:cNvGraphicFramePr>
            <a:graphicFrameLocks noChangeAspect="1"/>
          </p:cNvGraphicFramePr>
          <p:nvPr/>
        </p:nvGraphicFramePr>
        <p:xfrm>
          <a:off x="4929188" y="5357813"/>
          <a:ext cx="100012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14" imgW="647640" imgH="241200" progId="Equation.DSMT4">
                  <p:embed/>
                </p:oleObj>
              </mc:Choice>
              <mc:Fallback>
                <p:oleObj name="Equation" r:id="rId14" imgW="64764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88" y="5357813"/>
                        <a:ext cx="1000125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Rectangle 21"/>
          <p:cNvSpPr>
            <a:spLocks noChangeArrowheads="1"/>
          </p:cNvSpPr>
          <p:nvPr/>
        </p:nvSpPr>
        <p:spPr bwMode="auto">
          <a:xfrm>
            <a:off x="285750" y="1304925"/>
            <a:ext cx="4572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000" i="1">
                <a:latin typeface="Calibri" pitchFamily="34" charset="0"/>
                <a:sym typeface="Symbol" pitchFamily="18" charset="2"/>
              </a:rPr>
              <a:t>Отношение сигнал-шум на выходе СФ</a:t>
            </a:r>
          </a:p>
        </p:txBody>
      </p:sp>
      <p:graphicFrame>
        <p:nvGraphicFramePr>
          <p:cNvPr id="3074" name="Object 14"/>
          <p:cNvGraphicFramePr>
            <a:graphicFrameLocks noChangeAspect="1"/>
          </p:cNvGraphicFramePr>
          <p:nvPr/>
        </p:nvGraphicFramePr>
        <p:xfrm>
          <a:off x="7000875" y="1233488"/>
          <a:ext cx="17684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3" imgW="914400" imgH="228600" progId="Equation.DSMT4">
                  <p:embed/>
                </p:oleObj>
              </mc:Choice>
              <mc:Fallback>
                <p:oleObj name="Equation" r:id="rId3" imgW="91440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75" y="1233488"/>
                        <a:ext cx="1768475" cy="4445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Прямоугольник 64"/>
          <p:cNvSpPr/>
          <p:nvPr/>
        </p:nvSpPr>
        <p:spPr>
          <a:xfrm>
            <a:off x="428625" y="428625"/>
            <a:ext cx="8215313" cy="4159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</a:rPr>
              <a:t>Характеристики согласованного фильтра</a:t>
            </a:r>
          </a:p>
        </p:txBody>
      </p:sp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4889500" y="1143000"/>
          <a:ext cx="153987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Equation" r:id="rId5" imgW="850680" imgH="431640" progId="Equation.DSMT4">
                  <p:embed/>
                </p:oleObj>
              </mc:Choice>
              <mc:Fallback>
                <p:oleObj name="Equation" r:id="rId5" imgW="850680" imgH="431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9500" y="1143000"/>
                        <a:ext cx="1539875" cy="785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428625" y="2000250"/>
          <a:ext cx="8429625" cy="163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7" imgW="5092560" imgH="990360" progId="Equation.DSMT4">
                  <p:embed/>
                </p:oleObj>
              </mc:Choice>
              <mc:Fallback>
                <p:oleObj name="Equation" r:id="rId7" imgW="5092560" imgH="9903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2000250"/>
                        <a:ext cx="8429625" cy="1639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6786563" y="2857500"/>
          <a:ext cx="200025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9" imgW="1180800" imgH="444240" progId="Equation.DSMT4">
                  <p:embed/>
                </p:oleObj>
              </mc:Choice>
              <mc:Fallback>
                <p:oleObj name="Equation" r:id="rId9" imgW="118080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563" y="2857500"/>
                        <a:ext cx="2000250" cy="75247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3786188" y="5543550"/>
          <a:ext cx="149225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11" imgW="888840" imgH="482400" progId="Equation.DSMT4">
                  <p:embed/>
                </p:oleObj>
              </mc:Choice>
              <mc:Fallback>
                <p:oleObj name="Equation" r:id="rId11" imgW="888840" imgH="482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5543550"/>
                        <a:ext cx="149225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3" name="Rectangle 21"/>
          <p:cNvSpPr>
            <a:spLocks noChangeArrowheads="1"/>
          </p:cNvSpPr>
          <p:nvPr/>
        </p:nvSpPr>
        <p:spPr bwMode="auto">
          <a:xfrm>
            <a:off x="642938" y="4714875"/>
            <a:ext cx="7858125" cy="1754188"/>
          </a:xfrm>
          <a:prstGeom prst="rect">
            <a:avLst/>
          </a:prstGeom>
          <a:noFill/>
          <a:ln w="19050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i="1">
                <a:latin typeface="Calibri" pitchFamily="34" charset="0"/>
                <a:sym typeface="Symbol" pitchFamily="18" charset="2"/>
              </a:rPr>
              <a:t>Максимальное отношение сигнал-шум на выходе СФ не зависит от вида сигнала и определяется только отношением его энергии к спектральной плотности шума:</a:t>
            </a:r>
          </a:p>
          <a:p>
            <a:endParaRPr lang="ru-RU" i="1">
              <a:latin typeface="Calibri" pitchFamily="34" charset="0"/>
              <a:sym typeface="Symbol" pitchFamily="18" charset="2"/>
            </a:endParaRPr>
          </a:p>
          <a:p>
            <a:endParaRPr lang="ru-RU" i="1">
              <a:latin typeface="Calibri" pitchFamily="34" charset="0"/>
              <a:sym typeface="Symbol" pitchFamily="18" charset="2"/>
            </a:endParaRPr>
          </a:p>
          <a:p>
            <a:endParaRPr lang="ru-RU" i="1">
              <a:latin typeface="Calibri" pitchFamily="34" charset="0"/>
              <a:sym typeface="Symbol" pitchFamily="18" charset="2"/>
            </a:endParaRPr>
          </a:p>
        </p:txBody>
      </p:sp>
      <p:graphicFrame>
        <p:nvGraphicFramePr>
          <p:cNvPr id="3079" name="Object 7"/>
          <p:cNvGraphicFramePr>
            <a:graphicFrameLocks noChangeAspect="1"/>
          </p:cNvGraphicFramePr>
          <p:nvPr/>
        </p:nvGraphicFramePr>
        <p:xfrm>
          <a:off x="1028700" y="3929063"/>
          <a:ext cx="55880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13" imgW="4025880" imgH="545760" progId="Equation.DSMT4">
                  <p:embed/>
                </p:oleObj>
              </mc:Choice>
              <mc:Fallback>
                <p:oleObj name="Equation" r:id="rId13" imgW="4025880" imgH="5457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3929063"/>
                        <a:ext cx="5588000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4" name="Rectangle 15"/>
          <p:cNvSpPr>
            <a:spLocks noChangeArrowheads="1"/>
          </p:cNvSpPr>
          <p:nvPr/>
        </p:nvSpPr>
        <p:spPr bwMode="auto">
          <a:xfrm>
            <a:off x="2928938" y="3571875"/>
            <a:ext cx="23574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/>
            <a:r>
              <a:rPr lang="ru-RU" sz="1600">
                <a:cs typeface="Times New Roman" pitchFamily="18" charset="0"/>
              </a:rPr>
              <a:t>Теорема Парсеваля:</a:t>
            </a:r>
            <a:endParaRPr lang="ru-RU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3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4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5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6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7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8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09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1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2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3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5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7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8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19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1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2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4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5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6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7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8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2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0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1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3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4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6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7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8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39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40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41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42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43" name="Rectangle 1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4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4145" name="Rectangle 17"/>
          <p:cNvSpPr>
            <a:spLocks noChangeArrowheads="1"/>
          </p:cNvSpPr>
          <p:nvPr/>
        </p:nvSpPr>
        <p:spPr bwMode="auto">
          <a:xfrm>
            <a:off x="0" y="109220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pic>
        <p:nvPicPr>
          <p:cNvPr id="4146" name="Рисунок 57" descr="Согласованный фильтр (смысл ФЧХ).em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2063" y="1573213"/>
            <a:ext cx="3786187" cy="464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" name="Прямоугольник 58"/>
          <p:cNvSpPr/>
          <p:nvPr/>
        </p:nvSpPr>
        <p:spPr>
          <a:xfrm>
            <a:off x="428625" y="441325"/>
            <a:ext cx="8215313" cy="4159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</a:rPr>
              <a:t>Формирование отклика согласованного фильтра</a:t>
            </a:r>
          </a:p>
        </p:txBody>
      </p:sp>
      <p:sp>
        <p:nvSpPr>
          <p:cNvPr id="4148" name="Прямоугольник 59"/>
          <p:cNvSpPr>
            <a:spLocks noChangeArrowheads="1"/>
          </p:cNvSpPr>
          <p:nvPr/>
        </p:nvSpPr>
        <p:spPr bwMode="auto">
          <a:xfrm>
            <a:off x="5214938" y="1143000"/>
            <a:ext cx="3500437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1600" i="1">
                <a:latin typeface="Calibri" pitchFamily="34" charset="0"/>
                <a:sym typeface="Symbol" pitchFamily="18" charset="2"/>
              </a:rPr>
              <a:t>Синфазное сложение спектральных составляющих</a:t>
            </a:r>
            <a:endParaRPr lang="ru-RU" sz="160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760413" y="1143000"/>
          <a:ext cx="246856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4" imgW="1777680" imgH="317160" progId="Equation.DSMT4">
                  <p:embed/>
                </p:oleObj>
              </mc:Choice>
              <mc:Fallback>
                <p:oleObj name="Equation" r:id="rId4" imgW="1777680" imgH="3171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413" y="1143000"/>
                        <a:ext cx="2468562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642938" y="1857375"/>
          <a:ext cx="3103562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6" imgW="2234880" imgH="939600" progId="Equation.DSMT4">
                  <p:embed/>
                </p:oleObj>
              </mc:Choice>
              <mc:Fallback>
                <p:oleObj name="Equation" r:id="rId6" imgW="2234880" imgH="939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1857375"/>
                        <a:ext cx="3103562" cy="1292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520700" y="3413125"/>
          <a:ext cx="3260725" cy="295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8" imgW="2349360" imgH="2145960" progId="Equation.DSMT4">
                  <p:embed/>
                </p:oleObj>
              </mc:Choice>
              <mc:Fallback>
                <p:oleObj name="Equation" r:id="rId8" imgW="2349360" imgH="21459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" y="3413125"/>
                        <a:ext cx="3260725" cy="295116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196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197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198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199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0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1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2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4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5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0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0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1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2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4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5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6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7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8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1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0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3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4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6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7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2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0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1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3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4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5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6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7" name="Rectangle 1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8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8239" name="Rectangle 17"/>
          <p:cNvSpPr>
            <a:spLocks noChangeArrowheads="1"/>
          </p:cNvSpPr>
          <p:nvPr/>
        </p:nvSpPr>
        <p:spPr bwMode="auto">
          <a:xfrm>
            <a:off x="0" y="109220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500063" y="285750"/>
            <a:ext cx="8215312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</a:rPr>
              <a:t>Оптимальный приёмник с СФ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400" kern="0" dirty="0">
                <a:solidFill>
                  <a:srgbClr val="002060"/>
                </a:solidFill>
              </a:rPr>
              <a:t>(оценка неэнергетического параметра)</a:t>
            </a:r>
          </a:p>
        </p:txBody>
      </p:sp>
      <p:sp>
        <p:nvSpPr>
          <p:cNvPr id="8241" name="Прямоугольник 59"/>
          <p:cNvSpPr>
            <a:spLocks noChangeArrowheads="1"/>
          </p:cNvSpPr>
          <p:nvPr/>
        </p:nvSpPr>
        <p:spPr bwMode="auto">
          <a:xfrm>
            <a:off x="1143000" y="5357813"/>
            <a:ext cx="700087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000" i="1">
                <a:latin typeface="Calibri" pitchFamily="34" charset="0"/>
                <a:sym typeface="Symbol" pitchFamily="18" charset="2"/>
              </a:rPr>
              <a:t>Априорное распределение вероятностей параметра - равномерное</a:t>
            </a:r>
            <a:endParaRPr lang="ru-RU" sz="2000"/>
          </a:p>
        </p:txBody>
      </p:sp>
      <p:pic>
        <p:nvPicPr>
          <p:cNvPr id="8242" name="Рисунок 53" descr="Приёмник известного сигнала 1 с СФ.em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3063" y="1500188"/>
            <a:ext cx="5832475" cy="3624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26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27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28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29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0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1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2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4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5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3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0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1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2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4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5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6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7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8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4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0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3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4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6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7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5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0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1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3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4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5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6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7" name="Rectangle 1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8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69" name="Rectangle 17"/>
          <p:cNvSpPr>
            <a:spLocks noChangeArrowheads="1"/>
          </p:cNvSpPr>
          <p:nvPr/>
        </p:nvSpPr>
        <p:spPr bwMode="auto">
          <a:xfrm>
            <a:off x="0" y="109220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500063" y="285750"/>
            <a:ext cx="8215312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</a:rPr>
              <a:t>Оптимальный приёмник с СФ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400" kern="0" dirty="0">
                <a:solidFill>
                  <a:srgbClr val="002060"/>
                </a:solidFill>
              </a:rPr>
              <a:t>(оценка задержки</a:t>
            </a:r>
            <a:r>
              <a:rPr lang="en-US" sz="2400" kern="0" dirty="0">
                <a:solidFill>
                  <a:srgbClr val="002060"/>
                </a:solidFill>
              </a:rPr>
              <a:t> </a:t>
            </a:r>
            <a:r>
              <a:rPr lang="ru-RU" sz="2400" kern="0" dirty="0">
                <a:solidFill>
                  <a:srgbClr val="002060"/>
                </a:solidFill>
              </a:rPr>
              <a:t>видеоимпульса)</a:t>
            </a:r>
          </a:p>
        </p:txBody>
      </p:sp>
      <p:sp>
        <p:nvSpPr>
          <p:cNvPr id="5171" name="Прямоугольник 59"/>
          <p:cNvSpPr>
            <a:spLocks noChangeArrowheads="1"/>
          </p:cNvSpPr>
          <p:nvPr/>
        </p:nvSpPr>
        <p:spPr bwMode="auto">
          <a:xfrm>
            <a:off x="1143000" y="4214813"/>
            <a:ext cx="70008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i="1">
                <a:latin typeface="Calibri" pitchFamily="34" charset="0"/>
                <a:sym typeface="Symbol" pitchFamily="18" charset="2"/>
              </a:rPr>
              <a:t>Априорное распределение вероятностей задержки - равномерное</a:t>
            </a:r>
            <a:endParaRPr lang="ru-RU"/>
          </a:p>
        </p:txBody>
      </p:sp>
      <p:pic>
        <p:nvPicPr>
          <p:cNvPr id="5172" name="Рисунок 53" descr="с+ш на выходе СФ.em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28813" y="1285875"/>
            <a:ext cx="5357812" cy="2747963"/>
          </a:xfrm>
          <a:prstGeom prst="rect">
            <a:avLst/>
          </a:prstGeom>
          <a:solidFill>
            <a:schemeClr val="bg1"/>
          </a:solidFill>
          <a:ln w="19050">
            <a:solidFill>
              <a:srgbClr val="C00000"/>
            </a:solidFill>
            <a:miter lim="800000"/>
            <a:headEnd/>
            <a:tailEnd/>
          </a:ln>
        </p:spPr>
      </p:pic>
      <p:pic>
        <p:nvPicPr>
          <p:cNvPr id="5173" name="Рисунок 54" descr="Приёмник известного сигнала (измерение задержки) с СФ.emf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1563" y="4662488"/>
            <a:ext cx="4714875" cy="176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6311900" y="5640388"/>
          <a:ext cx="180657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5" imgW="685800" imgH="203040" progId="Equation.DSMT4">
                  <p:embed/>
                </p:oleObj>
              </mc:Choice>
              <mc:Fallback>
                <p:oleObj name="Equation" r:id="rId5" imgW="68580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5640388"/>
                        <a:ext cx="180657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8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6357938" y="4857750"/>
          <a:ext cx="221456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7" imgW="1168200" imgH="317160" progId="Equation.DSMT4">
                  <p:embed/>
                </p:oleObj>
              </mc:Choice>
              <mc:Fallback>
                <p:oleObj name="Equation" r:id="rId7" imgW="1168200" imgH="3171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7938" y="4857750"/>
                        <a:ext cx="2214562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0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1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2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3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4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5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6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7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8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29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0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2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4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5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6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7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8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39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0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1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2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4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7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4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0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1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2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4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5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7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8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59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60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61" name="Rectangle 1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6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9263" name="Rectangle 17"/>
          <p:cNvSpPr>
            <a:spLocks noChangeArrowheads="1"/>
          </p:cNvSpPr>
          <p:nvPr/>
        </p:nvSpPr>
        <p:spPr bwMode="auto">
          <a:xfrm>
            <a:off x="0" y="109220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500063" y="285750"/>
            <a:ext cx="8215312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</a:rPr>
              <a:t>Оптимальный приёмник с СФ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400" kern="0" dirty="0">
                <a:solidFill>
                  <a:srgbClr val="002060"/>
                </a:solidFill>
              </a:rPr>
              <a:t>(оценка задержки радиоимпульса)</a:t>
            </a:r>
          </a:p>
        </p:txBody>
      </p:sp>
      <p:sp>
        <p:nvSpPr>
          <p:cNvPr id="9265" name="Прямоугольник 59"/>
          <p:cNvSpPr>
            <a:spLocks noChangeArrowheads="1"/>
          </p:cNvSpPr>
          <p:nvPr/>
        </p:nvSpPr>
        <p:spPr bwMode="auto">
          <a:xfrm>
            <a:off x="2571750" y="1214438"/>
            <a:ext cx="41433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000" i="1">
                <a:latin typeface="Calibri" pitchFamily="34" charset="0"/>
                <a:sym typeface="Symbol" pitchFamily="18" charset="2"/>
              </a:rPr>
              <a:t>Влияние начальной фазы сигнала</a:t>
            </a:r>
            <a:endParaRPr lang="ru-RU" sz="2000"/>
          </a:p>
        </p:txBody>
      </p:sp>
      <p:pic>
        <p:nvPicPr>
          <p:cNvPr id="9266" name="Рисунок 54" descr="СФ для радиоимпульса.em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8" y="1785938"/>
            <a:ext cx="8450262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44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45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46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47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48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49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0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3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4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8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5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0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3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5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6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7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8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6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1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2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3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4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5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8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79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1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2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3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4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5" name="Rectangle 1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6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0287" name="Rectangle 17"/>
          <p:cNvSpPr>
            <a:spLocks noChangeArrowheads="1"/>
          </p:cNvSpPr>
          <p:nvPr/>
        </p:nvSpPr>
        <p:spPr bwMode="auto">
          <a:xfrm>
            <a:off x="0" y="109220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500063" y="285750"/>
            <a:ext cx="8215312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</a:rPr>
              <a:t>Оптимальный приёмник с СФ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400" kern="0" dirty="0">
                <a:solidFill>
                  <a:srgbClr val="002060"/>
                </a:solidFill>
              </a:rPr>
              <a:t>(оценка задержки радиоимпульса)</a:t>
            </a:r>
          </a:p>
        </p:txBody>
      </p:sp>
      <p:sp>
        <p:nvSpPr>
          <p:cNvPr id="10289" name="Прямоугольник 59"/>
          <p:cNvSpPr>
            <a:spLocks noChangeArrowheads="1"/>
          </p:cNvSpPr>
          <p:nvPr/>
        </p:nvSpPr>
        <p:spPr bwMode="auto">
          <a:xfrm>
            <a:off x="2643188" y="1214438"/>
            <a:ext cx="41433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i="1">
                <a:latin typeface="Calibri" pitchFamily="34" charset="0"/>
                <a:sym typeface="Symbol" pitchFamily="18" charset="2"/>
              </a:rPr>
              <a:t>Сигнал со случайной начальной фазой</a:t>
            </a:r>
            <a:endParaRPr lang="ru-RU"/>
          </a:p>
        </p:txBody>
      </p:sp>
      <p:pic>
        <p:nvPicPr>
          <p:cNvPr id="10290" name="Рисунок 52" descr="Приёмник радиосигнала со случайной фазой 2 (измерение задержки) с СФ.em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813" y="1857375"/>
            <a:ext cx="75565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68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69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0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1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2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3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4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7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79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0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2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3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4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5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6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7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8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89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0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1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2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3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5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6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7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8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299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0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2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3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4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5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6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7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8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09" name="Rectangle 1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1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11311" name="Rectangle 17"/>
          <p:cNvSpPr>
            <a:spLocks noChangeArrowheads="1"/>
          </p:cNvSpPr>
          <p:nvPr/>
        </p:nvSpPr>
        <p:spPr bwMode="auto">
          <a:xfrm>
            <a:off x="0" y="109220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500063" y="285750"/>
            <a:ext cx="8215312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</a:rPr>
              <a:t>Оптимальный приёмник с СФ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400" kern="0" dirty="0">
                <a:solidFill>
                  <a:srgbClr val="002060"/>
                </a:solidFill>
              </a:rPr>
              <a:t>(обнаружитель радиоимпульса)</a:t>
            </a:r>
          </a:p>
        </p:txBody>
      </p:sp>
      <p:pic>
        <p:nvPicPr>
          <p:cNvPr id="11313" name="Рисунок 50" descr="Обнаружитель радиосигнала со случайной фазой с СФ.em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5025" y="1285875"/>
            <a:ext cx="7451725" cy="247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314" name="Прямоугольник 51"/>
          <p:cNvSpPr>
            <a:spLocks noChangeArrowheads="1"/>
          </p:cNvSpPr>
          <p:nvPr/>
        </p:nvSpPr>
        <p:spPr bwMode="auto">
          <a:xfrm>
            <a:off x="2928938" y="3857625"/>
            <a:ext cx="414337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000" i="1">
                <a:latin typeface="Calibri" pitchFamily="34" charset="0"/>
                <a:sym typeface="Symbol" pitchFamily="18" charset="2"/>
              </a:rPr>
              <a:t>Согласованный фильтр для видеоимпульса (СФ (видео))</a:t>
            </a:r>
            <a:endParaRPr lang="ru-RU" sz="2000"/>
          </a:p>
        </p:txBody>
      </p:sp>
      <p:pic>
        <p:nvPicPr>
          <p:cNvPr id="11315" name="Рисунок 53" descr="СФ для видеоимпульса.em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65438" y="5000625"/>
            <a:ext cx="3921125" cy="1214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49" name="Rectangle 2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0" name="Rectangle 2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1" name="Rectangle 2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2" name="Rectangle 2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3" name="Rectangle 3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4" name="Rectangle 3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5" name="Rectangle 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6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7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8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59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0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1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3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4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5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6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7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8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69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0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1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2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3" name="Rectangle 8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4" name="Rectangle 6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6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7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8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79" name="Rectangle 13"/>
          <p:cNvSpPr>
            <a:spLocks noChangeArrowheads="1"/>
          </p:cNvSpPr>
          <p:nvPr/>
        </p:nvSpPr>
        <p:spPr bwMode="auto">
          <a:xfrm>
            <a:off x="0" y="444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0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1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2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3" name="Rectangle 11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4" name="Rectangle 1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5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6" name="Rectangle 2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7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8" name="Rectangle 7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89" name="Rectangle 10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90" name="Rectangle 13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91" name="Rectangle 9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6192" name="Rectangle 17"/>
          <p:cNvSpPr>
            <a:spLocks noChangeArrowheads="1"/>
          </p:cNvSpPr>
          <p:nvPr/>
        </p:nvSpPr>
        <p:spPr bwMode="auto">
          <a:xfrm>
            <a:off x="0" y="1092200"/>
            <a:ext cx="1841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9" name="Прямоугольник 58"/>
          <p:cNvSpPr/>
          <p:nvPr/>
        </p:nvSpPr>
        <p:spPr>
          <a:xfrm>
            <a:off x="500063" y="285750"/>
            <a:ext cx="8215312" cy="7366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2500"/>
              </a:lnSpc>
              <a:defRPr/>
            </a:pPr>
            <a:r>
              <a:rPr lang="ru-RU" sz="2750" kern="0" dirty="0">
                <a:solidFill>
                  <a:srgbClr val="002060"/>
                </a:solidFill>
              </a:rPr>
              <a:t>Оптимальный приёмник с СФ</a:t>
            </a:r>
          </a:p>
          <a:p>
            <a:pPr algn="ctr">
              <a:lnSpc>
                <a:spcPts val="2500"/>
              </a:lnSpc>
              <a:defRPr/>
            </a:pPr>
            <a:r>
              <a:rPr lang="ru-RU" sz="2400" kern="0" dirty="0">
                <a:solidFill>
                  <a:srgbClr val="002060"/>
                </a:solidFill>
              </a:rPr>
              <a:t>(некогерентный сигнал с бинарной </a:t>
            </a:r>
            <a:r>
              <a:rPr lang="ru-RU" sz="2400" kern="0" dirty="0" err="1">
                <a:solidFill>
                  <a:srgbClr val="002060"/>
                </a:solidFill>
              </a:rPr>
              <a:t>ЧМн</a:t>
            </a:r>
            <a:r>
              <a:rPr lang="ru-RU" sz="2400" kern="0" dirty="0">
                <a:solidFill>
                  <a:srgbClr val="002060"/>
                </a:solidFill>
              </a:rPr>
              <a:t>)</a:t>
            </a:r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6519863" y="1785938"/>
          <a:ext cx="1624012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3" imgW="965160" imgH="355320" progId="Equation.DSMT4">
                  <p:embed/>
                </p:oleObj>
              </mc:Choice>
              <mc:Fallback>
                <p:oleObj name="Equation" r:id="rId3" imgW="965160" imgH="3553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9863" y="1785938"/>
                        <a:ext cx="1624012" cy="59848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94" name="Рисунок 50" descr="Различение ЧМнС со случайной фазой с СФ.emf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8625" y="1346200"/>
            <a:ext cx="8215313" cy="494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оток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Поток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Поток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112</TotalTime>
  <Words>167</Words>
  <Application>Microsoft Office PowerPoint</Application>
  <PresentationFormat>On-screen Show (4:3)</PresentationFormat>
  <Paragraphs>37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Constantia</vt:lpstr>
      <vt:lpstr>Symbol</vt:lpstr>
      <vt:lpstr>Times New Roman</vt:lpstr>
      <vt:lpstr>Wingdings 2</vt:lpstr>
      <vt:lpstr>Поток</vt:lpstr>
      <vt:lpstr>Equation</vt:lpstr>
      <vt:lpstr>Тема 3: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Lishak</dc:creator>
  <cp:lastModifiedBy>buuu</cp:lastModifiedBy>
  <cp:revision>33</cp:revision>
  <dcterms:created xsi:type="dcterms:W3CDTF">2013-11-06T05:39:28Z</dcterms:created>
  <dcterms:modified xsi:type="dcterms:W3CDTF">2020-12-15T10:48:08Z</dcterms:modified>
</cp:coreProperties>
</file>