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7" r:id="rId1"/>
  </p:sldMasterIdLst>
  <p:sldIdLst>
    <p:sldId id="256" r:id="rId2"/>
    <p:sldId id="298" r:id="rId3"/>
    <p:sldId id="299" r:id="rId4"/>
    <p:sldId id="300" r:id="rId5"/>
    <p:sldId id="301" r:id="rId6"/>
    <p:sldId id="302" r:id="rId7"/>
    <p:sldId id="303" r:id="rId8"/>
    <p:sldId id="304" r:id="rId9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03" autoAdjust="0"/>
    <p:restoredTop sz="94626" autoAdjust="0"/>
  </p:normalViewPr>
  <p:slideViewPr>
    <p:cSldViewPr>
      <p:cViewPr varScale="1">
        <p:scale>
          <a:sx n="110" d="100"/>
          <a:sy n="110" d="100"/>
        </p:scale>
        <p:origin x="99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2563" y="182563"/>
            <a:ext cx="8778875" cy="649287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5" name="Straight Connector 4"/>
          <p:cNvCxnSpPr/>
          <p:nvPr/>
        </p:nvCxnSpPr>
        <p:spPr>
          <a:xfrm>
            <a:off x="1484313" y="3733800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FC98181-B0B0-4E4C-AFDE-09BF1F052494}" type="datetimeFigureOut">
              <a:rPr lang="ru-RU"/>
              <a:pPr>
                <a:defRPr/>
              </a:pPr>
              <a:t>06.12.2021</a:t>
            </a:fld>
            <a:endParaRPr lang="ru-RU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9DB3827-C02A-4402-AD8A-2B666354D849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382145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C5440-51F1-491B-B82E-D277B0971CBF}" type="datetimeFigureOut">
              <a:rPr lang="ru-RU"/>
              <a:pPr>
                <a:defRPr/>
              </a:pPr>
              <a:t>06.12.2021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721588-B9D8-4E37-AD10-D38BB2F489DF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916485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485900" y="4021138"/>
            <a:ext cx="61722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75CFF4-3FB6-46E7-B823-BCDA0AC52474}" type="datetimeFigureOut">
              <a:rPr lang="ru-RU"/>
              <a:pPr>
                <a:defRPr/>
              </a:pPr>
              <a:t>06.12.2021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C58D26-98C5-4B3B-AB22-3533642F3791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605756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A8C99F-308D-471F-9666-BA32FC36705E}" type="datetimeFigureOut">
              <a:rPr lang="ru-RU"/>
              <a:pPr>
                <a:defRPr/>
              </a:pPr>
              <a:t>06.12.2021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71943C-26D0-431D-90BD-23733F1D03ED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177102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F93ABB-6F8B-46AB-8AB4-00A9B182F6C5}" type="datetimeFigureOut">
              <a:rPr lang="ru-RU"/>
              <a:pPr>
                <a:defRPr/>
              </a:pPr>
              <a:t>06.12.2021</a:t>
            </a:fld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1407B0-D725-4D34-8F5C-10A744B25AB1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152749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F85B0-021A-4F9D-9220-9AACC1FDB713}" type="datetimeFigureOut">
              <a:rPr lang="ru-RU"/>
              <a:pPr>
                <a:defRPr/>
              </a:pPr>
              <a:t>06.12.2021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C11E12-7427-4021-A29B-64CBC7CBA92A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388484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A23350-01DD-48D5-9B07-AD31BC5A3FFF}" type="datetimeFigureOut">
              <a:rPr lang="ru-RU"/>
              <a:pPr>
                <a:defRPr/>
              </a:pPr>
              <a:t>06.12.2021</a:t>
            </a:fld>
            <a:endParaRPr lang="ru-R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B4F4E9-0BFA-496A-B3F4-FEF71FC0C978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986087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0F1691-8620-46D0-B397-7F21AE1AA706}" type="datetimeFigureOut">
              <a:rPr lang="ru-RU"/>
              <a:pPr>
                <a:defRPr/>
              </a:pPr>
              <a:t>06.12.2021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B1748-3912-45EB-8C5C-3413492B3E40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172370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rtlCol="0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F2B210-64D3-4EE2-BC3A-E9063D7D0724}" type="datetimeFigureOut">
              <a:rPr lang="ru-RU"/>
              <a:pPr>
                <a:defRPr/>
              </a:pPr>
              <a:t>06.12.2021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1D301-D0FF-41E2-BD4F-D7B660F47422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746094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8A09D3-51D2-41C8-A2E3-8362C555A3D2}" type="datetimeFigureOut">
              <a:rPr lang="ru-RU"/>
              <a:pPr>
                <a:defRPr/>
              </a:pPr>
              <a:t>06.12.2021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739464-5251-4547-BA78-C32824ECDDA1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065935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9402E7-1D4D-4EC6-98C3-A3F844920499}" type="datetimeFigureOut">
              <a:rPr lang="ru-RU"/>
              <a:pPr>
                <a:defRPr/>
              </a:pPr>
              <a:t>06.12.2021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C5F29-FF1F-4DB6-AA5B-4D4221BF2844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17207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563" y="182563"/>
            <a:ext cx="8778875" cy="649287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857250" y="609600"/>
            <a:ext cx="7407275" cy="135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57250" y="2057400"/>
            <a:ext cx="74041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50" y="6224588"/>
            <a:ext cx="1746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0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92D7C338-D3ED-4FED-BD91-AC4F45CEEE49}" type="datetimeFigureOut">
              <a:rPr lang="ru-RU"/>
              <a:pPr>
                <a:defRPr/>
              </a:pPr>
              <a:t>06.12.2021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2275" y="6224588"/>
            <a:ext cx="35385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700" y="6224588"/>
            <a:ext cx="12795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0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754E0D25-9650-44EE-96FD-CC4FB0C2A352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0" r:id="rId1"/>
    <p:sldLayoutId id="2147484141" r:id="rId2"/>
    <p:sldLayoutId id="2147484151" r:id="rId3"/>
    <p:sldLayoutId id="2147484142" r:id="rId4"/>
    <p:sldLayoutId id="2147484143" r:id="rId5"/>
    <p:sldLayoutId id="2147484144" r:id="rId6"/>
    <p:sldLayoutId id="2147484145" r:id="rId7"/>
    <p:sldLayoutId id="2147484146" r:id="rId8"/>
    <p:sldLayoutId id="2147484147" r:id="rId9"/>
    <p:sldLayoutId id="2147484148" r:id="rId10"/>
    <p:sldLayoutId id="2147484149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orbel" panose="020B0503020204020204" pitchFamily="34" charset="0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orbel" panose="020B0503020204020204" pitchFamily="34" charset="0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orbel" panose="020B0503020204020204" pitchFamily="34" charset="0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orbel" panose="020B050302020402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orbel" panose="020B050302020402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orbel" panose="020B050302020402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orbel" panose="020B050302020402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orbel" panose="020B0503020204020204" pitchFamily="34" charset="0"/>
        </a:defRPr>
      </a:lvl9pPr>
    </p:titleStyle>
    <p:bodyStyle>
      <a:lvl1pPr marL="171450" indent="-136525" algn="l" defTabSz="685800" rtl="0" fontAlgn="base">
        <a:lnSpc>
          <a:spcPct val="90000"/>
        </a:lnSpc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6525" algn="l" defTabSz="685800" rtl="0" fontAlgn="base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kern="1200">
          <a:solidFill>
            <a:schemeClr val="accent1"/>
          </a:solidFill>
          <a:latin typeface="+mn-lt"/>
          <a:ea typeface="+mn-ea"/>
          <a:cs typeface="+mn-cs"/>
        </a:defRPr>
      </a:lvl2pPr>
      <a:lvl3pPr marL="547688" indent="-136525" algn="l" defTabSz="685800" rtl="0" fontAlgn="base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063" indent="-136525" algn="l" defTabSz="685800" rtl="0" fontAlgn="base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19163" indent="-136525" algn="l" defTabSz="685800" rtl="0" fontAlgn="base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4.wmf"/><Relationship Id="rId3" Type="http://schemas.openxmlformats.org/officeDocument/2006/relationships/oleObject" Target="../embeddings/oleObject10.bin"/><Relationship Id="rId7" Type="http://schemas.openxmlformats.org/officeDocument/2006/relationships/image" Target="../media/image15.jpeg"/><Relationship Id="rId12" Type="http://schemas.openxmlformats.org/officeDocument/2006/relationships/oleObject" Target="../embeddings/oleObject1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11" Type="http://schemas.openxmlformats.org/officeDocument/2006/relationships/image" Target="../media/image13.wmf"/><Relationship Id="rId5" Type="http://schemas.openxmlformats.org/officeDocument/2006/relationships/oleObject" Target="../embeddings/oleObject11.bin"/><Relationship Id="rId10" Type="http://schemas.openxmlformats.org/officeDocument/2006/relationships/oleObject" Target="../embeddings/oleObject13.bin"/><Relationship Id="rId4" Type="http://schemas.openxmlformats.org/officeDocument/2006/relationships/image" Target="../media/image10.wmf"/><Relationship Id="rId9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15.bin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18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oleObject" Target="../embeddings/oleObject18.bin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1.wmf"/><Relationship Id="rId9" Type="http://schemas.openxmlformats.org/officeDocument/2006/relationships/image" Target="../media/image2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26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7.png"/><Relationship Id="rId4" Type="http://schemas.openxmlformats.org/officeDocument/2006/relationships/image" Target="../media/image21.wmf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31850" y="882650"/>
            <a:ext cx="7475538" cy="2925763"/>
          </a:xfrm>
        </p:spPr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Основы оптимального приема сигналов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251520" y="476672"/>
            <a:ext cx="8892480" cy="720080"/>
          </a:xfrm>
          <a:prstGeom prst="rect">
            <a:avLst/>
          </a:prstGeom>
          <a:effectLst/>
        </p:spPr>
        <p:txBody>
          <a:bodyPr anchor="ctr">
            <a:normAutofit fontScale="32500" lnSpcReduction="20000"/>
          </a:bodyPr>
          <a:lstStyle/>
          <a:p>
            <a:pPr>
              <a:lnSpc>
                <a:spcPct val="150000"/>
              </a:lnSpc>
              <a:defRPr/>
            </a:pPr>
            <a:r>
              <a:rPr lang="ru-RU" sz="8600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latin typeface="+mj-lt"/>
                <a:ea typeface="+mj-ea"/>
                <a:cs typeface="+mj-cs"/>
              </a:rPr>
              <a:t>Основные понятия оптимального приема</a:t>
            </a:r>
            <a:endParaRPr lang="ru-RU" sz="4300" cap="all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2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323850" y="1196975"/>
            <a:ext cx="8569325" cy="863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ru-RU"/>
          </a:p>
        </p:txBody>
      </p:sp>
      <p:sp>
        <p:nvSpPr>
          <p:cNvPr id="5129" name="TextBox 13"/>
          <p:cNvSpPr txBox="1">
            <a:spLocks noChangeArrowheads="1"/>
          </p:cNvSpPr>
          <p:nvPr/>
        </p:nvSpPr>
        <p:spPr bwMode="auto">
          <a:xfrm>
            <a:off x="395288" y="1268413"/>
            <a:ext cx="84248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sz="1600"/>
              <a:t> Принимаемое колебание (реализация смеси сигнала и нормального белого шума):</a:t>
            </a:r>
          </a:p>
        </p:txBody>
      </p:sp>
      <p:graphicFrame>
        <p:nvGraphicFramePr>
          <p:cNvPr id="5130" name="Object 13"/>
          <p:cNvGraphicFramePr>
            <a:graphicFrameLocks noChangeAspect="1"/>
          </p:cNvGraphicFramePr>
          <p:nvPr/>
        </p:nvGraphicFramePr>
        <p:xfrm>
          <a:off x="3276600" y="1628775"/>
          <a:ext cx="17399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7" name="Equation" r:id="rId3" imgW="1104900" imgH="228600" progId="Equation.DSMT4">
                  <p:embed/>
                </p:oleObj>
              </mc:Choice>
              <mc:Fallback>
                <p:oleObj name="Equation" r:id="rId3" imgW="11049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628775"/>
                        <a:ext cx="173990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TextBox 15"/>
          <p:cNvSpPr txBox="1">
            <a:spLocks noChangeArrowheads="1"/>
          </p:cNvSpPr>
          <p:nvPr/>
        </p:nvSpPr>
        <p:spPr bwMode="auto">
          <a:xfrm>
            <a:off x="323850" y="2133600"/>
            <a:ext cx="85312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sz="1600"/>
              <a:t>Априорная информация: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ru-RU" altLang="en-US" sz="1600"/>
              <a:t> вид сигнала </a:t>
            </a:r>
            <a:r>
              <a:rPr lang="ru-RU" altLang="en-US" sz="1600" i="1"/>
              <a:t>s</a:t>
            </a:r>
            <a:r>
              <a:rPr lang="el-GR" altLang="en-US" sz="1600" i="1" baseline="-25000"/>
              <a:t>λ</a:t>
            </a:r>
            <a:r>
              <a:rPr lang="ru-RU" altLang="en-US" sz="1600" i="1"/>
              <a:t>(t) </a:t>
            </a:r>
            <a:r>
              <a:rPr lang="ru-RU" altLang="en-US" sz="1600"/>
              <a:t>(в виде аналитического выражения, в котором известны все</a:t>
            </a:r>
          </a:p>
          <a:p>
            <a:pPr eaLnBrk="1" hangingPunct="1"/>
            <a:r>
              <a:rPr lang="ru-RU" altLang="en-US" sz="1600"/>
              <a:t>параметры, кроме измеряемого параметра λ);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ru-RU" altLang="en-US" sz="1600"/>
              <a:t> длительность принимаемого колебания </a:t>
            </a:r>
            <a:r>
              <a:rPr lang="en-US" altLang="en-US" sz="1600" i="1"/>
              <a:t>T ;</a:t>
            </a:r>
            <a:endParaRPr lang="ru-RU" altLang="en-US" sz="1600" i="1"/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ru-RU" altLang="en-US" sz="1600" i="1"/>
              <a:t> </a:t>
            </a:r>
            <a:r>
              <a:rPr lang="ru-RU" altLang="en-US" sz="1600"/>
              <a:t>спектральная плотность шума </a:t>
            </a:r>
            <a:r>
              <a:rPr lang="ru-RU" altLang="en-US" sz="1600" i="1"/>
              <a:t>G</a:t>
            </a:r>
            <a:r>
              <a:rPr lang="ru-RU" altLang="en-US" sz="1600" i="1" baseline="-25000"/>
              <a:t>0</a:t>
            </a:r>
            <a:r>
              <a:rPr lang="ru-RU" altLang="en-US" sz="1600" i="1"/>
              <a:t> </a:t>
            </a:r>
            <a:r>
              <a:rPr lang="ru-RU" altLang="en-US" sz="1600"/>
              <a:t>(в некоторых случаях её знание не требуется);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ru-RU" altLang="en-US" sz="1600"/>
              <a:t> априорная плотность вероятности измеряемого параметра </a:t>
            </a:r>
            <a:r>
              <a:rPr lang="ru-RU" altLang="en-US" sz="1600" i="1"/>
              <a:t>ω</a:t>
            </a:r>
            <a:r>
              <a:rPr lang="en-US" altLang="en-US" sz="1600" baseline="-25000"/>
              <a:t>pr</a:t>
            </a:r>
            <a:r>
              <a:rPr lang="en-US" altLang="en-US" sz="1600"/>
              <a:t>(</a:t>
            </a:r>
            <a:r>
              <a:rPr lang="el-GR" altLang="en-US" sz="1600"/>
              <a:t>λ</a:t>
            </a:r>
            <a:r>
              <a:rPr lang="en-US" altLang="en-US" sz="1600"/>
              <a:t>).</a:t>
            </a:r>
            <a:endParaRPr lang="ru-RU" altLang="en-US" sz="1600"/>
          </a:p>
        </p:txBody>
      </p:sp>
      <p:sp>
        <p:nvSpPr>
          <p:cNvPr id="24" name="Прямоугольник 23"/>
          <p:cNvSpPr/>
          <p:nvPr/>
        </p:nvSpPr>
        <p:spPr>
          <a:xfrm>
            <a:off x="285750" y="3644900"/>
            <a:ext cx="8569325" cy="29527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ru-RU" dirty="0"/>
          </a:p>
        </p:txBody>
      </p:sp>
      <p:sp>
        <p:nvSpPr>
          <p:cNvPr id="5133" name="TextBox 17"/>
          <p:cNvSpPr txBox="1">
            <a:spLocks noChangeArrowheads="1"/>
          </p:cNvSpPr>
          <p:nvPr/>
        </p:nvSpPr>
        <p:spPr bwMode="auto">
          <a:xfrm>
            <a:off x="250825" y="3716338"/>
            <a:ext cx="8569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/>
              <a:t>критерий максимума апостериорной вероятности:</a:t>
            </a:r>
          </a:p>
        </p:txBody>
      </p:sp>
      <p:graphicFrame>
        <p:nvGraphicFramePr>
          <p:cNvPr id="5134" name="Object 14"/>
          <p:cNvGraphicFramePr>
            <a:graphicFrameLocks noChangeAspect="1"/>
          </p:cNvGraphicFramePr>
          <p:nvPr/>
        </p:nvGraphicFramePr>
        <p:xfrm>
          <a:off x="323850" y="4221163"/>
          <a:ext cx="20161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" name="Equation" r:id="rId5" imgW="1193282" imgH="266584" progId="Equation.DSMT4">
                  <p:embed/>
                </p:oleObj>
              </mc:Choice>
              <mc:Fallback>
                <p:oleObj name="Equation" r:id="rId5" imgW="1193282" imgH="266584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221163"/>
                        <a:ext cx="201612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722985"/>
              </p:ext>
            </p:extLst>
          </p:nvPr>
        </p:nvGraphicFramePr>
        <p:xfrm>
          <a:off x="2915816" y="4149725"/>
          <a:ext cx="48720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" name="Equation" r:id="rId7" imgW="2844720" imgH="253800" progId="Equation.DSMT4">
                  <p:embed/>
                </p:oleObj>
              </mc:Choice>
              <mc:Fallback>
                <p:oleObj name="Equation" r:id="rId7" imgW="2844720" imgH="253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4149725"/>
                        <a:ext cx="48720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6" name="Прямоугольник 21"/>
          <p:cNvSpPr>
            <a:spLocks noChangeArrowheads="1"/>
          </p:cNvSpPr>
          <p:nvPr/>
        </p:nvSpPr>
        <p:spPr bwMode="auto">
          <a:xfrm>
            <a:off x="3059113" y="4508500"/>
            <a:ext cx="54006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000000"/>
                </a:solidFill>
              </a:rPr>
              <a:t>- </a:t>
            </a:r>
            <a:r>
              <a:rPr lang="ru-RU" altLang="en-US" sz="1600">
                <a:solidFill>
                  <a:srgbClr val="000000"/>
                </a:solidFill>
              </a:rPr>
              <a:t>апостериорная плотность вероятности параметра λ;</a:t>
            </a:r>
          </a:p>
        </p:txBody>
      </p:sp>
      <p:sp>
        <p:nvSpPr>
          <p:cNvPr id="5137" name="TextBox 22"/>
          <p:cNvSpPr txBox="1">
            <a:spLocks noChangeArrowheads="1"/>
          </p:cNvSpPr>
          <p:nvPr/>
        </p:nvSpPr>
        <p:spPr bwMode="auto">
          <a:xfrm>
            <a:off x="3059113" y="4868863"/>
            <a:ext cx="41513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i="1"/>
              <a:t>L(</a:t>
            </a:r>
            <a:r>
              <a:rPr lang="el-GR" altLang="en-US" sz="1600" i="1"/>
              <a:t>λ</a:t>
            </a:r>
            <a:r>
              <a:rPr lang="en-US" altLang="en-US" sz="1600" i="1"/>
              <a:t>)</a:t>
            </a:r>
            <a:r>
              <a:rPr lang="en-US" altLang="en-US" sz="1600"/>
              <a:t> - </a:t>
            </a:r>
            <a:r>
              <a:rPr lang="ru-RU" altLang="en-US" sz="1600"/>
              <a:t>функция правдоподобия параметра</a:t>
            </a:r>
          </a:p>
        </p:txBody>
      </p:sp>
      <p:graphicFrame>
        <p:nvGraphicFramePr>
          <p:cNvPr id="5138" name="Object 16"/>
          <p:cNvGraphicFramePr>
            <a:graphicFrameLocks noChangeAspect="1"/>
          </p:cNvGraphicFramePr>
          <p:nvPr/>
        </p:nvGraphicFramePr>
        <p:xfrm>
          <a:off x="3059113" y="5229225"/>
          <a:ext cx="22002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0" name="Equation" r:id="rId9" imgW="1435100" imgH="469900" progId="Equation.DSMT4">
                  <p:embed/>
                </p:oleObj>
              </mc:Choice>
              <mc:Fallback>
                <p:oleObj name="Equation" r:id="rId9" imgW="1435100" imgH="4699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229225"/>
                        <a:ext cx="220027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9" name="TextBox 26"/>
          <p:cNvSpPr txBox="1">
            <a:spLocks noChangeArrowheads="1"/>
          </p:cNvSpPr>
          <p:nvPr/>
        </p:nvSpPr>
        <p:spPr bwMode="auto">
          <a:xfrm>
            <a:off x="5435600" y="5373688"/>
            <a:ext cx="28368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sz="1600"/>
              <a:t>- корреляционный интеграл</a:t>
            </a:r>
          </a:p>
        </p:txBody>
      </p:sp>
      <p:graphicFrame>
        <p:nvGraphicFramePr>
          <p:cNvPr id="5140" name="Object 17"/>
          <p:cNvGraphicFramePr>
            <a:graphicFrameLocks noChangeAspect="1"/>
          </p:cNvGraphicFramePr>
          <p:nvPr/>
        </p:nvGraphicFramePr>
        <p:xfrm>
          <a:off x="3059113" y="5949950"/>
          <a:ext cx="158432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1" name="Equation" r:id="rId11" imgW="1079500" imgH="469900" progId="Equation.DSMT4">
                  <p:embed/>
                </p:oleObj>
              </mc:Choice>
              <mc:Fallback>
                <p:oleObj name="Equation" r:id="rId11" imgW="1079500" imgH="4699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949950"/>
                        <a:ext cx="1584325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1" name="TextBox 28"/>
          <p:cNvSpPr txBox="1">
            <a:spLocks noChangeArrowheads="1"/>
          </p:cNvSpPr>
          <p:nvPr/>
        </p:nvSpPr>
        <p:spPr bwMode="auto">
          <a:xfrm>
            <a:off x="4787900" y="6092825"/>
            <a:ext cx="18716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sz="1600"/>
              <a:t>- энергия сигнала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14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14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14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251520" y="476672"/>
            <a:ext cx="8892480" cy="720080"/>
          </a:xfrm>
          <a:prstGeom prst="rect">
            <a:avLst/>
          </a:prstGeom>
        </p:spPr>
        <p:txBody>
          <a:bodyPr anchor="ctr">
            <a:normAutofit fontScale="32500" lnSpcReduction="20000"/>
          </a:bodyPr>
          <a:lstStyle/>
          <a:p>
            <a:pPr>
              <a:lnSpc>
                <a:spcPct val="150000"/>
              </a:lnSpc>
              <a:defRPr/>
            </a:pPr>
            <a:r>
              <a:rPr lang="ru-RU" sz="8600" cap="all" dirty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latin typeface="+mj-lt"/>
                <a:ea typeface="+mj-ea"/>
                <a:cs typeface="+mj-cs"/>
              </a:rPr>
              <a:t>Практическое применение</a:t>
            </a:r>
            <a:endParaRPr lang="ru-RU" sz="4300" cap="all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15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" name="Прямоугольник 29"/>
          <p:cNvSpPr/>
          <p:nvPr/>
        </p:nvSpPr>
        <p:spPr>
          <a:xfrm>
            <a:off x="395288" y="1196975"/>
            <a:ext cx="8497887" cy="46085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ru-RU"/>
          </a:p>
        </p:txBody>
      </p:sp>
      <p:graphicFrame>
        <p:nvGraphicFramePr>
          <p:cNvPr id="6153" name="Object 7"/>
          <p:cNvGraphicFramePr>
            <a:graphicFrameLocks noChangeAspect="1"/>
          </p:cNvGraphicFramePr>
          <p:nvPr/>
        </p:nvGraphicFramePr>
        <p:xfrm>
          <a:off x="2268538" y="1268413"/>
          <a:ext cx="40322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1" name="Equation" r:id="rId3" imgW="2400300" imgH="266700" progId="Equation.DSMT4">
                  <p:embed/>
                </p:oleObj>
              </mc:Choice>
              <mc:Fallback>
                <p:oleObj name="Equation" r:id="rId3" imgW="2400300" imgH="266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268413"/>
                        <a:ext cx="40322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4" name="Object 8"/>
          <p:cNvGraphicFramePr>
            <a:graphicFrameLocks noChangeAspect="1"/>
          </p:cNvGraphicFramePr>
          <p:nvPr/>
        </p:nvGraphicFramePr>
        <p:xfrm>
          <a:off x="1619250" y="1773238"/>
          <a:ext cx="5586413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2" name="Equation" r:id="rId5" imgW="3644900" imgH="469900" progId="Equation.DSMT4">
                  <p:embed/>
                </p:oleObj>
              </mc:Choice>
              <mc:Fallback>
                <p:oleObj name="Equation" r:id="rId5" imgW="3644900" imgH="469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773238"/>
                        <a:ext cx="5586413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3" name="Прямая со стрелкой 32"/>
          <p:cNvCxnSpPr/>
          <p:nvPr/>
        </p:nvCxnSpPr>
        <p:spPr>
          <a:xfrm>
            <a:off x="2700338" y="1773238"/>
            <a:ext cx="358775" cy="647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>
            <a:off x="7740650" y="3213100"/>
            <a:ext cx="360363" cy="7207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57" name="TextBox 35"/>
          <p:cNvSpPr txBox="1">
            <a:spLocks noChangeArrowheads="1"/>
          </p:cNvSpPr>
          <p:nvPr/>
        </p:nvSpPr>
        <p:spPr bwMode="auto">
          <a:xfrm>
            <a:off x="3059113" y="2420938"/>
            <a:ext cx="314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/>
              <a:t>0</a:t>
            </a:r>
          </a:p>
        </p:txBody>
      </p:sp>
      <p:sp>
        <p:nvSpPr>
          <p:cNvPr id="6158" name="TextBox 36"/>
          <p:cNvSpPr txBox="1">
            <a:spLocks noChangeArrowheads="1"/>
          </p:cNvSpPr>
          <p:nvPr/>
        </p:nvSpPr>
        <p:spPr bwMode="auto">
          <a:xfrm>
            <a:off x="7092950" y="2420938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/>
              <a:t>0</a:t>
            </a:r>
          </a:p>
        </p:txBody>
      </p:sp>
      <p:sp>
        <p:nvSpPr>
          <p:cNvPr id="6159" name="TextBox 37"/>
          <p:cNvSpPr txBox="1">
            <a:spLocks noChangeArrowheads="1"/>
          </p:cNvSpPr>
          <p:nvPr/>
        </p:nvSpPr>
        <p:spPr bwMode="auto">
          <a:xfrm>
            <a:off x="1835150" y="2708275"/>
            <a:ext cx="67564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sz="1600">
                <a:solidFill>
                  <a:schemeClr val="tx2"/>
                </a:solidFill>
              </a:rPr>
              <a:t>При равномерном априорном распределении в интервале </a:t>
            </a:r>
            <a:r>
              <a:rPr lang="en-US" altLang="en-US" sz="1600">
                <a:solidFill>
                  <a:schemeClr val="tx2"/>
                </a:solidFill>
              </a:rPr>
              <a:t>[</a:t>
            </a:r>
            <a:r>
              <a:rPr lang="el-GR" altLang="en-US" sz="1600">
                <a:solidFill>
                  <a:schemeClr val="tx2"/>
                </a:solidFill>
              </a:rPr>
              <a:t>λ</a:t>
            </a:r>
            <a:r>
              <a:rPr lang="en-US" altLang="en-US" sz="1600" baseline="-25000">
                <a:solidFill>
                  <a:schemeClr val="tx2"/>
                </a:solidFill>
              </a:rPr>
              <a:t>min</a:t>
            </a:r>
            <a:r>
              <a:rPr lang="en-US" altLang="en-US" sz="1600">
                <a:solidFill>
                  <a:schemeClr val="tx2"/>
                </a:solidFill>
              </a:rPr>
              <a:t>, </a:t>
            </a:r>
            <a:r>
              <a:rPr lang="el-GR" altLang="en-US" sz="1600">
                <a:solidFill>
                  <a:schemeClr val="tx2"/>
                </a:solidFill>
              </a:rPr>
              <a:t>λ</a:t>
            </a:r>
            <a:r>
              <a:rPr lang="en-US" altLang="en-US" sz="1600" baseline="-25000">
                <a:solidFill>
                  <a:schemeClr val="tx2"/>
                </a:solidFill>
              </a:rPr>
              <a:t>max</a:t>
            </a:r>
            <a:r>
              <a:rPr lang="en-US" altLang="en-US" sz="1600">
                <a:solidFill>
                  <a:schemeClr val="tx2"/>
                </a:solidFill>
              </a:rPr>
              <a:t>]</a:t>
            </a:r>
            <a:endParaRPr lang="ru-RU" altLang="en-US" sz="1600">
              <a:solidFill>
                <a:schemeClr val="tx2"/>
              </a:solidFill>
            </a:endParaRPr>
          </a:p>
        </p:txBody>
      </p:sp>
      <p:graphicFrame>
        <p:nvGraphicFramePr>
          <p:cNvPr id="616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254172"/>
              </p:ext>
            </p:extLst>
          </p:nvPr>
        </p:nvGraphicFramePr>
        <p:xfrm>
          <a:off x="1069930" y="3216230"/>
          <a:ext cx="74961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3" name="Equation" r:id="rId7" imgW="4178300" imgH="482600" progId="Equation.DSMT4">
                  <p:embed/>
                </p:oleObj>
              </mc:Choice>
              <mc:Fallback>
                <p:oleObj name="Equation" r:id="rId7" imgW="4178300" imgH="482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930" y="3216230"/>
                        <a:ext cx="74961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Прямая со стрелкой 38"/>
          <p:cNvCxnSpPr/>
          <p:nvPr/>
        </p:nvCxnSpPr>
        <p:spPr>
          <a:xfrm>
            <a:off x="6811963" y="1925638"/>
            <a:ext cx="360362" cy="7191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62" name="TextBox 39"/>
          <p:cNvSpPr txBox="1">
            <a:spLocks noChangeArrowheads="1"/>
          </p:cNvSpPr>
          <p:nvPr/>
        </p:nvSpPr>
        <p:spPr bwMode="auto">
          <a:xfrm>
            <a:off x="8172450" y="3933825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/>
              <a:t>0</a:t>
            </a:r>
          </a:p>
        </p:txBody>
      </p:sp>
      <p:sp>
        <p:nvSpPr>
          <p:cNvPr id="6163" name="TextBox 40"/>
          <p:cNvSpPr txBox="1">
            <a:spLocks noChangeArrowheads="1"/>
          </p:cNvSpPr>
          <p:nvPr/>
        </p:nvSpPr>
        <p:spPr bwMode="auto">
          <a:xfrm>
            <a:off x="7092950" y="4221163"/>
            <a:ext cx="1768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sz="1600">
                <a:solidFill>
                  <a:schemeClr val="tx2"/>
                </a:solidFill>
              </a:rPr>
              <a:t>Если </a:t>
            </a:r>
            <a:r>
              <a:rPr lang="ru-RU" altLang="en-US" sz="1600" i="1">
                <a:solidFill>
                  <a:schemeClr val="tx2"/>
                </a:solidFill>
              </a:rPr>
              <a:t>Е</a:t>
            </a:r>
            <a:r>
              <a:rPr lang="ru-RU" altLang="en-US" sz="1600" i="1" baseline="-25000">
                <a:solidFill>
                  <a:schemeClr val="tx2"/>
                </a:solidFill>
              </a:rPr>
              <a:t>с</a:t>
            </a:r>
            <a:r>
              <a:rPr lang="ru-RU" altLang="en-US" sz="1600" i="1">
                <a:solidFill>
                  <a:schemeClr val="tx2"/>
                </a:solidFill>
              </a:rPr>
              <a:t>(</a:t>
            </a:r>
            <a:r>
              <a:rPr lang="el-GR" altLang="en-US" sz="1600" i="1">
                <a:solidFill>
                  <a:schemeClr val="tx2"/>
                </a:solidFill>
              </a:rPr>
              <a:t>λ</a:t>
            </a:r>
            <a:r>
              <a:rPr lang="ru-RU" altLang="en-US" sz="1600" i="1">
                <a:solidFill>
                  <a:schemeClr val="tx2"/>
                </a:solidFill>
              </a:rPr>
              <a:t>)=</a:t>
            </a:r>
            <a:r>
              <a:rPr lang="en-US" altLang="en-US" sz="1600" i="1">
                <a:solidFill>
                  <a:schemeClr val="tx2"/>
                </a:solidFill>
              </a:rPr>
              <a:t>const</a:t>
            </a:r>
            <a:endParaRPr lang="ru-RU" altLang="en-US" sz="1600" i="1">
              <a:solidFill>
                <a:schemeClr val="tx2"/>
              </a:solidFill>
            </a:endParaRPr>
          </a:p>
        </p:txBody>
      </p:sp>
      <p:graphicFrame>
        <p:nvGraphicFramePr>
          <p:cNvPr id="6164" name="Object 10"/>
          <p:cNvGraphicFramePr>
            <a:graphicFrameLocks noChangeAspect="1"/>
          </p:cNvGraphicFramePr>
          <p:nvPr/>
        </p:nvGraphicFramePr>
        <p:xfrm>
          <a:off x="3419475" y="4437063"/>
          <a:ext cx="204946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4" name="Equation" r:id="rId9" imgW="1143000" imgH="355600" progId="Equation.DSMT4">
                  <p:embed/>
                </p:oleObj>
              </mc:Choice>
              <mc:Fallback>
                <p:oleObj name="Equation" r:id="rId9" imgW="1143000" imgH="355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437063"/>
                        <a:ext cx="2049463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7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7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7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323850" y="260350"/>
            <a:ext cx="8820150" cy="865188"/>
          </a:xfrm>
          <a:prstGeom prst="rect">
            <a:avLst/>
          </a:prstGeom>
        </p:spPr>
        <p:txBody>
          <a:bodyPr anchor="ctr">
            <a:normAutofit fontScale="55000" lnSpcReduction="20000"/>
          </a:bodyPr>
          <a:lstStyle/>
          <a:p>
            <a:pPr eaLnBrk="1" hangingPunct="1">
              <a:defRPr/>
            </a:pPr>
            <a:r>
              <a:rPr lang="ru-RU" sz="4500" dirty="0">
                <a:solidFill>
                  <a:schemeClr val="tx2"/>
                </a:solidFill>
                <a:latin typeface="+mj-lt"/>
              </a:rPr>
              <a:t>СИНТЕЗ ОПТИМАЛЬНОГО ПРИЁМНИКА </a:t>
            </a:r>
          </a:p>
          <a:p>
            <a:pPr eaLnBrk="1" hangingPunct="1">
              <a:defRPr/>
            </a:pPr>
            <a:r>
              <a:rPr lang="ru-RU" sz="2900" dirty="0">
                <a:solidFill>
                  <a:schemeClr val="tx2"/>
                </a:solidFill>
                <a:latin typeface="+mj-lt"/>
              </a:rPr>
              <a:t>ДЛЯ ИЗМЕРЕНИЯ НАЧАЛЬНОЙ ФАЗЫ СИГНАЛА В ВИДЕ ГАРМОНИЧЕСКОГО КОЛЕБАНИЯ</a:t>
            </a:r>
            <a:endParaRPr lang="ru-RU" sz="29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17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76" name="TextBox 20"/>
          <p:cNvSpPr txBox="1">
            <a:spLocks noChangeArrowheads="1"/>
          </p:cNvSpPr>
          <p:nvPr/>
        </p:nvSpPr>
        <p:spPr bwMode="auto">
          <a:xfrm>
            <a:off x="179388" y="1125538"/>
            <a:ext cx="62976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sz="1600"/>
              <a:t>1.  </a:t>
            </a:r>
            <a:r>
              <a:rPr lang="en-US" altLang="en-US" sz="1600"/>
              <a:t>A</a:t>
            </a:r>
            <a:r>
              <a:rPr lang="ru-RU" altLang="en-US" sz="1600"/>
              <a:t>алитическое выражение для сигнала с начальной фазой </a:t>
            </a:r>
            <a:r>
              <a:rPr lang="el-GR" altLang="en-US" sz="1600"/>
              <a:t>φ</a:t>
            </a:r>
            <a:r>
              <a:rPr lang="ru-RU" altLang="en-US" sz="1600"/>
              <a:t>:</a:t>
            </a:r>
          </a:p>
        </p:txBody>
      </p:sp>
      <p:grpSp>
        <p:nvGrpSpPr>
          <p:cNvPr id="7177" name="Группа 18"/>
          <p:cNvGrpSpPr>
            <a:grpSpLocks/>
          </p:cNvGrpSpPr>
          <p:nvPr/>
        </p:nvGrpSpPr>
        <p:grpSpPr bwMode="auto">
          <a:xfrm>
            <a:off x="2555875" y="1484313"/>
            <a:ext cx="2663825" cy="436562"/>
            <a:chOff x="2771800" y="1484313"/>
            <a:chExt cx="2664296" cy="436562"/>
          </a:xfrm>
        </p:grpSpPr>
        <p:sp>
          <p:nvSpPr>
            <p:cNvPr id="17" name="Прямоугольник 16"/>
            <p:cNvSpPr/>
            <p:nvPr/>
          </p:nvSpPr>
          <p:spPr>
            <a:xfrm>
              <a:off x="2771800" y="1484313"/>
              <a:ext cx="2664296" cy="4318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ru-RU"/>
            </a:p>
          </p:txBody>
        </p:sp>
        <p:graphicFrame>
          <p:nvGraphicFramePr>
            <p:cNvPr id="7190" name="Object 6"/>
            <p:cNvGraphicFramePr>
              <a:graphicFrameLocks noChangeAspect="1"/>
            </p:cNvGraphicFramePr>
            <p:nvPr/>
          </p:nvGraphicFramePr>
          <p:xfrm>
            <a:off x="2843213" y="1484313"/>
            <a:ext cx="2544762" cy="436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6" name="Equation" r:id="rId3" imgW="1409088" imgH="241195" progId="Equation.DSMT4">
                    <p:embed/>
                  </p:oleObj>
                </mc:Choice>
                <mc:Fallback>
                  <p:oleObj name="Equation" r:id="rId3" imgW="1409088" imgH="241195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3213" y="1484313"/>
                          <a:ext cx="2544762" cy="4365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8" name="TextBox 22"/>
          <p:cNvSpPr txBox="1">
            <a:spLocks noChangeArrowheads="1"/>
          </p:cNvSpPr>
          <p:nvPr/>
        </p:nvSpPr>
        <p:spPr bwMode="auto">
          <a:xfrm>
            <a:off x="179388" y="1916113"/>
            <a:ext cx="56165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sz="1600"/>
              <a:t>2. Принимаем равномерное априорное распределение вероятностей фазы:</a:t>
            </a:r>
          </a:p>
        </p:txBody>
      </p:sp>
      <p:grpSp>
        <p:nvGrpSpPr>
          <p:cNvPr id="7179" name="Группа 19"/>
          <p:cNvGrpSpPr>
            <a:grpSpLocks/>
          </p:cNvGrpSpPr>
          <p:nvPr/>
        </p:nvGrpSpPr>
        <p:grpSpPr bwMode="auto">
          <a:xfrm>
            <a:off x="2555875" y="2492375"/>
            <a:ext cx="2879725" cy="792163"/>
            <a:chOff x="2555776" y="2492896"/>
            <a:chExt cx="2880320" cy="792088"/>
          </a:xfrm>
        </p:grpSpPr>
        <p:sp>
          <p:nvSpPr>
            <p:cNvPr id="18" name="Прямоугольник 17"/>
            <p:cNvSpPr/>
            <p:nvPr/>
          </p:nvSpPr>
          <p:spPr>
            <a:xfrm>
              <a:off x="2555776" y="2492896"/>
              <a:ext cx="2880320" cy="79208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ru-RU"/>
            </a:p>
          </p:txBody>
        </p:sp>
        <p:graphicFrame>
          <p:nvGraphicFramePr>
            <p:cNvPr id="7188" name="Object 7"/>
            <p:cNvGraphicFramePr>
              <a:graphicFrameLocks noChangeAspect="1"/>
            </p:cNvGraphicFramePr>
            <p:nvPr/>
          </p:nvGraphicFramePr>
          <p:xfrm>
            <a:off x="2771775" y="2565400"/>
            <a:ext cx="2503488" cy="631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7" name="Equation" r:id="rId5" imgW="1562100" imgH="393700" progId="Equation.DSMT4">
                    <p:embed/>
                  </p:oleObj>
                </mc:Choice>
                <mc:Fallback>
                  <p:oleObj name="Equation" r:id="rId5" imgW="1562100" imgH="3937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1775" y="2565400"/>
                          <a:ext cx="2503488" cy="631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7" name="Рисунок 26" descr="pic10_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4525" y="1628775"/>
            <a:ext cx="2519363" cy="1681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181" name="TextBox 12"/>
          <p:cNvSpPr txBox="1">
            <a:spLocks noChangeArrowheads="1"/>
          </p:cNvSpPr>
          <p:nvPr/>
        </p:nvSpPr>
        <p:spPr bwMode="auto">
          <a:xfrm>
            <a:off x="250825" y="3573463"/>
            <a:ext cx="20748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sz="1600"/>
              <a:t>3. Энергия сигнала:</a:t>
            </a:r>
          </a:p>
        </p:txBody>
      </p:sp>
      <p:graphicFrame>
        <p:nvGraphicFramePr>
          <p:cNvPr id="7182" name="Object 13"/>
          <p:cNvGraphicFramePr>
            <a:graphicFrameLocks noChangeAspect="1"/>
          </p:cNvGraphicFramePr>
          <p:nvPr/>
        </p:nvGraphicFramePr>
        <p:xfrm>
          <a:off x="250825" y="3860800"/>
          <a:ext cx="85963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8" name="Equation" r:id="rId8" imgW="6400800" imgH="482600" progId="Equation.DSMT4">
                  <p:embed/>
                </p:oleObj>
              </mc:Choice>
              <mc:Fallback>
                <p:oleObj name="Equation" r:id="rId8" imgW="6400800" imgH="482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860800"/>
                        <a:ext cx="85963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3" name="Object 14"/>
          <p:cNvGraphicFramePr>
            <a:graphicFrameLocks noChangeAspect="1"/>
          </p:cNvGraphicFramePr>
          <p:nvPr/>
        </p:nvGraphicFramePr>
        <p:xfrm>
          <a:off x="468313" y="4581525"/>
          <a:ext cx="402748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9" name="Equation" r:id="rId10" imgW="2921000" imgH="469900" progId="Equation.DSMT4">
                  <p:embed/>
                </p:oleObj>
              </mc:Choice>
              <mc:Fallback>
                <p:oleObj name="Equation" r:id="rId10" imgW="2921000" imgH="4699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581525"/>
                        <a:ext cx="4027487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84" name="Группа 21"/>
          <p:cNvGrpSpPr>
            <a:grpSpLocks/>
          </p:cNvGrpSpPr>
          <p:nvPr/>
        </p:nvGrpSpPr>
        <p:grpSpPr bwMode="auto">
          <a:xfrm>
            <a:off x="2555875" y="5229225"/>
            <a:ext cx="3024188" cy="792163"/>
            <a:chOff x="2699792" y="5229200"/>
            <a:chExt cx="3024336" cy="792088"/>
          </a:xfrm>
        </p:grpSpPr>
        <p:sp>
          <p:nvSpPr>
            <p:cNvPr id="21" name="Прямоугольник 20"/>
            <p:cNvSpPr/>
            <p:nvPr/>
          </p:nvSpPr>
          <p:spPr>
            <a:xfrm>
              <a:off x="2699792" y="5229200"/>
              <a:ext cx="3024336" cy="79208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ru-RU"/>
            </a:p>
          </p:txBody>
        </p:sp>
        <p:graphicFrame>
          <p:nvGraphicFramePr>
            <p:cNvPr id="7186" name="Object 15"/>
            <p:cNvGraphicFramePr>
              <a:graphicFrameLocks noChangeAspect="1"/>
            </p:cNvGraphicFramePr>
            <p:nvPr/>
          </p:nvGraphicFramePr>
          <p:xfrm>
            <a:off x="3059832" y="5301208"/>
            <a:ext cx="2321712" cy="5760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0" name="Equation" r:id="rId12" imgW="1689100" imgH="419100" progId="Equation.DSMT4">
                    <p:embed/>
                  </p:oleObj>
                </mc:Choice>
                <mc:Fallback>
                  <p:oleObj name="Equation" r:id="rId12" imgW="1689100" imgH="4191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9832" y="5301208"/>
                          <a:ext cx="2321712" cy="5760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19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19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19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468313" y="260350"/>
            <a:ext cx="8675687" cy="865188"/>
          </a:xfrm>
          <a:prstGeom prst="rect">
            <a:avLst/>
          </a:prstGeom>
        </p:spPr>
        <p:txBody>
          <a:bodyPr anchor="ctr">
            <a:normAutofit fontScale="55000" lnSpcReduction="20000"/>
          </a:bodyPr>
          <a:lstStyle/>
          <a:p>
            <a:pPr eaLnBrk="1" hangingPunct="1">
              <a:defRPr/>
            </a:pPr>
            <a:r>
              <a:rPr lang="ru-RU" sz="4500" dirty="0">
                <a:solidFill>
                  <a:schemeClr val="tx2"/>
                </a:solidFill>
                <a:latin typeface="+mj-lt"/>
              </a:rPr>
              <a:t>СИНТЕЗ ОПТИМАЛЬНОГО ПРИЁМНИКА </a:t>
            </a:r>
          </a:p>
          <a:p>
            <a:pPr eaLnBrk="1" hangingPunct="1">
              <a:defRPr/>
            </a:pPr>
            <a:r>
              <a:rPr lang="ru-RU" sz="2900" dirty="0">
                <a:solidFill>
                  <a:schemeClr val="tx2"/>
                </a:solidFill>
                <a:latin typeface="+mj-lt"/>
              </a:rPr>
              <a:t>ДЛЯ ИЗМЕРЕНИЯ НАЧАЛЬНОЙ ФАЗЫ СИГНАЛА В ВИДЕ ГАРМОНИЧЕСКОГО КОЛЕБАНИЯ</a:t>
            </a:r>
            <a:endParaRPr lang="ru-RU" sz="29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19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Прямоугольник 24"/>
          <p:cNvSpPr/>
          <p:nvPr/>
        </p:nvSpPr>
        <p:spPr>
          <a:xfrm>
            <a:off x="1187450" y="1125538"/>
            <a:ext cx="6192838" cy="122396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ru-RU"/>
          </a:p>
        </p:txBody>
      </p:sp>
      <p:graphicFrame>
        <p:nvGraphicFramePr>
          <p:cNvPr id="8201" name="Object 7"/>
          <p:cNvGraphicFramePr>
            <a:graphicFrameLocks noChangeAspect="1"/>
          </p:cNvGraphicFramePr>
          <p:nvPr/>
        </p:nvGraphicFramePr>
        <p:xfrm>
          <a:off x="3203575" y="1125538"/>
          <a:ext cx="1931988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" name="Equation" r:id="rId3" imgW="1091726" imgH="317362" progId="Equation.DSMT4">
                  <p:embed/>
                </p:oleObj>
              </mc:Choice>
              <mc:Fallback>
                <p:oleObj name="Equation" r:id="rId3" imgW="1091726" imgH="31736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1125538"/>
                        <a:ext cx="1931988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8"/>
          <p:cNvGraphicFramePr>
            <a:graphicFrameLocks noChangeAspect="1"/>
          </p:cNvGraphicFramePr>
          <p:nvPr/>
        </p:nvGraphicFramePr>
        <p:xfrm>
          <a:off x="2339975" y="1557338"/>
          <a:ext cx="422275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" name="Equation" r:id="rId5" imgW="2755900" imgH="469900" progId="Equation.DSMT4">
                  <p:embed/>
                </p:oleObj>
              </mc:Choice>
              <mc:Fallback>
                <p:oleObj name="Equation" r:id="rId5" imgW="2755900" imgH="469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557338"/>
                        <a:ext cx="4222750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09" name="Picture 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79388" y="2420938"/>
            <a:ext cx="4200525" cy="295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610" name="Picture 10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427538" y="3429000"/>
            <a:ext cx="4479925" cy="3219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8205" name="Группа 29"/>
          <p:cNvGrpSpPr>
            <a:grpSpLocks/>
          </p:cNvGrpSpPr>
          <p:nvPr/>
        </p:nvGrpSpPr>
        <p:grpSpPr bwMode="auto">
          <a:xfrm>
            <a:off x="5867400" y="2565400"/>
            <a:ext cx="1441450" cy="863600"/>
            <a:chOff x="5868144" y="2348880"/>
            <a:chExt cx="1440160" cy="864096"/>
          </a:xfrm>
        </p:grpSpPr>
        <p:sp>
          <p:nvSpPr>
            <p:cNvPr id="29" name="Прямоугольник 28"/>
            <p:cNvSpPr/>
            <p:nvPr/>
          </p:nvSpPr>
          <p:spPr>
            <a:xfrm>
              <a:off x="5868144" y="2348880"/>
              <a:ext cx="1440160" cy="86409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ru-RU"/>
            </a:p>
          </p:txBody>
        </p:sp>
        <p:graphicFrame>
          <p:nvGraphicFramePr>
            <p:cNvPr id="8207" name="Object 11"/>
            <p:cNvGraphicFramePr>
              <a:graphicFrameLocks noChangeAspect="1"/>
            </p:cNvGraphicFramePr>
            <p:nvPr/>
          </p:nvGraphicFramePr>
          <p:xfrm>
            <a:off x="6084167" y="2420888"/>
            <a:ext cx="1008113" cy="6649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9" name="Equation" r:id="rId9" imgW="596641" imgH="393529" progId="Equation.DSMT4">
                    <p:embed/>
                  </p:oleObj>
                </mc:Choice>
                <mc:Fallback>
                  <p:oleObj name="Equation" r:id="rId9" imgW="596641" imgH="393529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4167" y="2420888"/>
                          <a:ext cx="1008113" cy="6649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1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2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2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395288" y="0"/>
            <a:ext cx="8748712" cy="1152525"/>
          </a:xfrm>
          <a:prstGeom prst="rect">
            <a:avLst/>
          </a:prstGeom>
        </p:spPr>
        <p:txBody>
          <a:bodyPr anchor="ctr">
            <a:normAutofit fontScale="92500"/>
          </a:bodyPr>
          <a:lstStyle/>
          <a:p>
            <a:pPr eaLnBrk="1" hangingPunct="1">
              <a:defRPr/>
            </a:pPr>
            <a:r>
              <a:rPr lang="ru-RU" sz="2200" dirty="0">
                <a:solidFill>
                  <a:schemeClr val="tx2"/>
                </a:solidFill>
                <a:latin typeface="+mj-lt"/>
              </a:rPr>
              <a:t>СЛУЧАЙ КОНЕЧНОГО ЧИСЛА ОТСЧЁТОВ ПРИНИМАЕМОГО КОЛЕБАНИЯ</a:t>
            </a:r>
          </a:p>
          <a:p>
            <a:pPr eaLnBrk="1" hangingPunct="1">
              <a:defRPr/>
            </a:pPr>
            <a:r>
              <a:rPr lang="ru-RU" sz="1700" dirty="0">
                <a:solidFill>
                  <a:schemeClr val="tx2"/>
                </a:solidFill>
                <a:latin typeface="+mj-lt"/>
              </a:rPr>
              <a:t>ОЦЕНКА ЗАДЕРЖКИ ДИСКРЕТНОГО СИГНАЛА ПО ОТСЧЁТАМ ПРИНИМАЕМОГО КОЛЕБАНИЯ</a:t>
            </a:r>
            <a:endParaRPr lang="ru-RU" sz="17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22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24" name="TextBox 15"/>
          <p:cNvSpPr txBox="1">
            <a:spLocks noChangeArrowheads="1"/>
          </p:cNvSpPr>
          <p:nvPr/>
        </p:nvSpPr>
        <p:spPr bwMode="auto">
          <a:xfrm>
            <a:off x="323850" y="1052513"/>
            <a:ext cx="82804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</a:pPr>
            <a:r>
              <a:rPr lang="ru-RU" altLang="en-US"/>
              <a:t> априорное распределение вероятностей задержки - равномерное 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ru-RU" altLang="en-US"/>
              <a:t> задержка – неэнергетический параметр</a:t>
            </a:r>
          </a:p>
        </p:txBody>
      </p:sp>
      <p:sp>
        <p:nvSpPr>
          <p:cNvPr id="25" name="Прямоугольник 24"/>
          <p:cNvSpPr/>
          <p:nvPr/>
        </p:nvSpPr>
        <p:spPr>
          <a:xfrm>
            <a:off x="827088" y="1700213"/>
            <a:ext cx="6840537" cy="8651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ru-RU"/>
          </a:p>
        </p:txBody>
      </p:sp>
      <p:graphicFrame>
        <p:nvGraphicFramePr>
          <p:cNvPr id="922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940349"/>
              </p:ext>
            </p:extLst>
          </p:nvPr>
        </p:nvGraphicFramePr>
        <p:xfrm>
          <a:off x="3131840" y="1666444"/>
          <a:ext cx="1866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" name="Equation" r:id="rId3" imgW="1244600" imgH="431800" progId="Equation.DSMT4">
                  <p:embed/>
                </p:oleObj>
              </mc:Choice>
              <mc:Fallback>
                <p:oleObj name="Equation" r:id="rId3" imgW="1244600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1666444"/>
                        <a:ext cx="18669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7" name="TextBox 17"/>
          <p:cNvSpPr txBox="1">
            <a:spLocks noChangeArrowheads="1"/>
          </p:cNvSpPr>
          <p:nvPr/>
        </p:nvSpPr>
        <p:spPr bwMode="auto">
          <a:xfrm>
            <a:off x="827088" y="2205038"/>
            <a:ext cx="69230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sz="1600" i="1"/>
              <a:t>Λ</a:t>
            </a:r>
            <a:r>
              <a:rPr lang="ru-RU" altLang="en-US" sz="1600" i="1"/>
              <a:t> - </a:t>
            </a:r>
            <a:r>
              <a:rPr lang="ru-RU" altLang="en-US" sz="1600"/>
              <a:t>множество возможных значений параметра (дискретной задержки)</a:t>
            </a:r>
            <a:endParaRPr lang="ru-RU" altLang="en-US" sz="1600" i="1"/>
          </a:p>
        </p:txBody>
      </p:sp>
      <p:sp>
        <p:nvSpPr>
          <p:cNvPr id="9228" name="TextBox 19"/>
          <p:cNvSpPr txBox="1">
            <a:spLocks noChangeArrowheads="1"/>
          </p:cNvSpPr>
          <p:nvPr/>
        </p:nvSpPr>
        <p:spPr bwMode="auto">
          <a:xfrm>
            <a:off x="0" y="2636838"/>
            <a:ext cx="82502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/>
              <a:t>А) Сигнал в виде двух единичных отсчётов. </a:t>
            </a:r>
            <a:r>
              <a:rPr lang="el-GR" altLang="en-US" i="1"/>
              <a:t>Λ</a:t>
            </a:r>
            <a:r>
              <a:rPr lang="ru-RU" altLang="en-US"/>
              <a:t> ={0,1,2}.</a:t>
            </a:r>
          </a:p>
        </p:txBody>
      </p:sp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0825" y="2924175"/>
            <a:ext cx="8667750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23850" y="4868863"/>
            <a:ext cx="4105275" cy="16875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231" name="TextBox 25"/>
          <p:cNvSpPr txBox="1">
            <a:spLocks noChangeArrowheads="1"/>
          </p:cNvSpPr>
          <p:nvPr/>
        </p:nvSpPr>
        <p:spPr bwMode="auto">
          <a:xfrm>
            <a:off x="3348038" y="5013325"/>
            <a:ext cx="917575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y</a:t>
            </a:r>
            <a:r>
              <a:rPr lang="en-US" altLang="en-US" baseline="-25000"/>
              <a:t>0</a:t>
            </a:r>
            <a:r>
              <a:rPr lang="en-US" altLang="en-US"/>
              <a:t>=-0,4</a:t>
            </a:r>
          </a:p>
          <a:p>
            <a:pPr eaLnBrk="1" hangingPunct="1"/>
            <a:r>
              <a:rPr lang="en-US" altLang="en-US"/>
              <a:t>y</a:t>
            </a:r>
            <a:r>
              <a:rPr lang="en-US" altLang="en-US" baseline="-25000"/>
              <a:t>1</a:t>
            </a:r>
            <a:r>
              <a:rPr lang="en-US" altLang="en-US"/>
              <a:t>=1,2</a:t>
            </a:r>
          </a:p>
          <a:p>
            <a:pPr eaLnBrk="1" hangingPunct="1"/>
            <a:r>
              <a:rPr lang="en-US" altLang="en-US"/>
              <a:t>y</a:t>
            </a:r>
            <a:r>
              <a:rPr lang="en-US" altLang="en-US" baseline="-25000"/>
              <a:t>2</a:t>
            </a:r>
            <a:r>
              <a:rPr lang="en-US" altLang="en-US"/>
              <a:t>=-0,3</a:t>
            </a:r>
          </a:p>
          <a:p>
            <a:pPr eaLnBrk="1" hangingPunct="1"/>
            <a:r>
              <a:rPr lang="en-US" altLang="en-US"/>
              <a:t>y</a:t>
            </a:r>
            <a:r>
              <a:rPr lang="en-US" altLang="en-US" baseline="-25000"/>
              <a:t>4</a:t>
            </a:r>
            <a:r>
              <a:rPr lang="en-US" altLang="en-US"/>
              <a:t>=0,4</a:t>
            </a:r>
            <a:endParaRPr lang="ru-RU" altLang="en-US"/>
          </a:p>
        </p:txBody>
      </p:sp>
      <p:pic>
        <p:nvPicPr>
          <p:cNvPr id="923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4581525"/>
            <a:ext cx="3241675" cy="185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Прямоугольник 29"/>
          <p:cNvSpPr/>
          <p:nvPr/>
        </p:nvSpPr>
        <p:spPr>
          <a:xfrm>
            <a:off x="6300788" y="6237288"/>
            <a:ext cx="2159000" cy="6207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ru-RU"/>
          </a:p>
        </p:txBody>
      </p:sp>
      <p:graphicFrame>
        <p:nvGraphicFramePr>
          <p:cNvPr id="9234" name="Object 10"/>
          <p:cNvGraphicFramePr>
            <a:graphicFrameLocks noChangeAspect="1"/>
          </p:cNvGraphicFramePr>
          <p:nvPr/>
        </p:nvGraphicFramePr>
        <p:xfrm>
          <a:off x="6372225" y="6294438"/>
          <a:ext cx="19431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Equation" r:id="rId8" imgW="1294838" imgH="355446" progId="Equation.DSMT4">
                  <p:embed/>
                </p:oleObj>
              </mc:Choice>
              <mc:Fallback>
                <p:oleObj name="Equation" r:id="rId8" imgW="1294838" imgH="355446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6294438"/>
                        <a:ext cx="194310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4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4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4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250825" y="0"/>
            <a:ext cx="8893175" cy="1152525"/>
          </a:xfrm>
          <a:prstGeom prst="rect">
            <a:avLst/>
          </a:prstGeom>
        </p:spPr>
        <p:txBody>
          <a:bodyPr anchor="ctr">
            <a:normAutofit fontScale="92500"/>
          </a:bodyPr>
          <a:lstStyle/>
          <a:p>
            <a:pPr eaLnBrk="1" hangingPunct="1">
              <a:defRPr/>
            </a:pPr>
            <a:r>
              <a:rPr lang="ru-RU" sz="2200" dirty="0">
                <a:solidFill>
                  <a:schemeClr val="tx2"/>
                </a:solidFill>
                <a:latin typeface="+mj-lt"/>
              </a:rPr>
              <a:t>СЛУЧАЙ КОНЕЧНОГО ЧИСЛА ОТСЧЁТОВ ПРИНИМАЕМОГО КОЛЕБАНИЯ</a:t>
            </a:r>
          </a:p>
          <a:p>
            <a:pPr eaLnBrk="1" hangingPunct="1">
              <a:defRPr/>
            </a:pPr>
            <a:r>
              <a:rPr lang="ru-RU" sz="1700" dirty="0">
                <a:solidFill>
                  <a:schemeClr val="tx2"/>
                </a:solidFill>
                <a:latin typeface="+mj-lt"/>
              </a:rPr>
              <a:t>ОЦЕНКА ЗАДЕРЖКИ ДИСКРЕТНОГО СИГНАЛА ПО ОТСЧЁТАМ ПРИНИМАЕМОГО КОЛЕБАНИЯ</a:t>
            </a:r>
            <a:endParaRPr lang="ru-RU" sz="17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24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Прямоугольник 24"/>
          <p:cNvSpPr/>
          <p:nvPr/>
        </p:nvSpPr>
        <p:spPr>
          <a:xfrm>
            <a:off x="900113" y="1125538"/>
            <a:ext cx="6840537" cy="863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ru-RU"/>
          </a:p>
        </p:txBody>
      </p:sp>
      <p:graphicFrame>
        <p:nvGraphicFramePr>
          <p:cNvPr id="10249" name="Object 5"/>
          <p:cNvGraphicFramePr>
            <a:graphicFrameLocks noChangeAspect="1"/>
          </p:cNvGraphicFramePr>
          <p:nvPr/>
        </p:nvGraphicFramePr>
        <p:xfrm>
          <a:off x="3203575" y="1052513"/>
          <a:ext cx="18684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Equation" r:id="rId3" imgW="1244600" imgH="431800" progId="Equation.DSMT4">
                  <p:embed/>
                </p:oleObj>
              </mc:Choice>
              <mc:Fallback>
                <p:oleObj name="Equation" r:id="rId3" imgW="1244600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1052513"/>
                        <a:ext cx="186848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TextBox 17"/>
          <p:cNvSpPr txBox="1">
            <a:spLocks noChangeArrowheads="1"/>
          </p:cNvSpPr>
          <p:nvPr/>
        </p:nvSpPr>
        <p:spPr bwMode="auto">
          <a:xfrm>
            <a:off x="900113" y="1628775"/>
            <a:ext cx="692150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sz="1600" i="1"/>
              <a:t>Λ</a:t>
            </a:r>
            <a:r>
              <a:rPr lang="ru-RU" altLang="en-US" sz="1600" i="1"/>
              <a:t> - </a:t>
            </a:r>
            <a:r>
              <a:rPr lang="ru-RU" altLang="en-US" sz="1600"/>
              <a:t>множество возможных значений параметра (дискретной задержки)</a:t>
            </a:r>
            <a:endParaRPr lang="ru-RU" altLang="en-US" sz="1600" i="1"/>
          </a:p>
        </p:txBody>
      </p:sp>
      <p:sp>
        <p:nvSpPr>
          <p:cNvPr id="10251" name="TextBox 19"/>
          <p:cNvSpPr txBox="1">
            <a:spLocks noChangeArrowheads="1"/>
          </p:cNvSpPr>
          <p:nvPr/>
        </p:nvSpPr>
        <p:spPr bwMode="auto">
          <a:xfrm>
            <a:off x="0" y="1989138"/>
            <a:ext cx="55038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/>
              <a:t>Б) Сигнал в виде единичного отсчёта. </a:t>
            </a:r>
            <a:r>
              <a:rPr lang="el-GR" altLang="en-US" i="1"/>
              <a:t>Λ</a:t>
            </a:r>
            <a:r>
              <a:rPr lang="ru-RU" altLang="en-US" i="1"/>
              <a:t> </a:t>
            </a:r>
            <a:r>
              <a:rPr lang="en-US" altLang="en-US"/>
              <a:t>={0,1,2,3}</a:t>
            </a:r>
            <a:endParaRPr lang="ru-RU" altLang="en-US"/>
          </a:p>
        </p:txBody>
      </p:sp>
      <p:pic>
        <p:nvPicPr>
          <p:cNvPr id="1025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149725"/>
            <a:ext cx="4248150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Прямоугольник 29"/>
          <p:cNvSpPr/>
          <p:nvPr/>
        </p:nvSpPr>
        <p:spPr>
          <a:xfrm>
            <a:off x="5724525" y="6237288"/>
            <a:ext cx="2160588" cy="6207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ru-RU"/>
          </a:p>
        </p:txBody>
      </p:sp>
      <p:graphicFrame>
        <p:nvGraphicFramePr>
          <p:cNvPr id="10254" name="Object 10"/>
          <p:cNvGraphicFramePr>
            <a:graphicFrameLocks noChangeAspect="1"/>
          </p:cNvGraphicFramePr>
          <p:nvPr/>
        </p:nvGraphicFramePr>
        <p:xfrm>
          <a:off x="5795963" y="6294438"/>
          <a:ext cx="19431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5" name="Equation" r:id="rId6" imgW="1294838" imgH="355446" progId="Equation.DSMT4">
                  <p:embed/>
                </p:oleObj>
              </mc:Choice>
              <mc:Fallback>
                <p:oleObj name="Equation" r:id="rId6" imgW="1294838" imgH="355446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6294438"/>
                        <a:ext cx="194310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55650" y="2276475"/>
            <a:ext cx="7345363" cy="1901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79388" y="4365625"/>
            <a:ext cx="2633662" cy="1727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257" name="TextBox 25"/>
          <p:cNvSpPr txBox="1">
            <a:spLocks noChangeArrowheads="1"/>
          </p:cNvSpPr>
          <p:nvPr/>
        </p:nvSpPr>
        <p:spPr bwMode="auto">
          <a:xfrm>
            <a:off x="1908175" y="4292600"/>
            <a:ext cx="9159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y</a:t>
            </a:r>
            <a:r>
              <a:rPr lang="en-US" altLang="en-US" baseline="-25000"/>
              <a:t>0</a:t>
            </a:r>
            <a:r>
              <a:rPr lang="en-US" altLang="en-US"/>
              <a:t>=0,4</a:t>
            </a:r>
          </a:p>
          <a:p>
            <a:pPr eaLnBrk="1" hangingPunct="1"/>
            <a:r>
              <a:rPr lang="en-US" altLang="en-US"/>
              <a:t>y</a:t>
            </a:r>
            <a:r>
              <a:rPr lang="en-US" altLang="en-US" baseline="-25000"/>
              <a:t>1</a:t>
            </a:r>
            <a:r>
              <a:rPr lang="en-US" altLang="en-US"/>
              <a:t>=</a:t>
            </a:r>
            <a:r>
              <a:rPr lang="ru-RU" altLang="en-US"/>
              <a:t>0</a:t>
            </a:r>
            <a:r>
              <a:rPr lang="en-US" altLang="en-US"/>
              <a:t>,</a:t>
            </a:r>
            <a:r>
              <a:rPr lang="ru-RU" altLang="en-US"/>
              <a:t>8</a:t>
            </a:r>
            <a:endParaRPr lang="en-US" altLang="en-US"/>
          </a:p>
          <a:p>
            <a:pPr eaLnBrk="1" hangingPunct="1"/>
            <a:r>
              <a:rPr lang="en-US" altLang="en-US"/>
              <a:t>y</a:t>
            </a:r>
            <a:r>
              <a:rPr lang="en-US" altLang="en-US" baseline="-25000"/>
              <a:t>2</a:t>
            </a:r>
            <a:r>
              <a:rPr lang="en-US" altLang="en-US"/>
              <a:t>=</a:t>
            </a:r>
            <a:r>
              <a:rPr lang="ru-RU" altLang="en-US"/>
              <a:t>1</a:t>
            </a:r>
            <a:r>
              <a:rPr lang="en-US" altLang="en-US"/>
              <a:t>,</a:t>
            </a:r>
            <a:r>
              <a:rPr lang="ru-RU" altLang="en-US"/>
              <a:t>2</a:t>
            </a:r>
            <a:endParaRPr lang="en-US" altLang="en-US"/>
          </a:p>
          <a:p>
            <a:pPr eaLnBrk="1" hangingPunct="1"/>
            <a:r>
              <a:rPr lang="en-US" altLang="en-US"/>
              <a:t>y</a:t>
            </a:r>
            <a:r>
              <a:rPr lang="en-US" altLang="en-US" baseline="-25000"/>
              <a:t>4</a:t>
            </a:r>
            <a:r>
              <a:rPr lang="en-US" altLang="en-US"/>
              <a:t>=</a:t>
            </a:r>
            <a:r>
              <a:rPr lang="ru-RU" altLang="en-US"/>
              <a:t>-</a:t>
            </a:r>
            <a:r>
              <a:rPr lang="en-US" altLang="en-US"/>
              <a:t>0,4</a:t>
            </a:r>
            <a:endParaRPr lang="ru-RU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038" y="476250"/>
            <a:ext cx="8686800" cy="84137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sz="2200" dirty="0"/>
              <a:t>СЛУЧАЙ КОНЕЧНОГО ЧИСЛА </a:t>
            </a:r>
            <a:r>
              <a:rPr lang="ru-RU" sz="2000" dirty="0"/>
              <a:t>ОТСЧЁТОВ ПРИНИМАЕМОГО КОЛЕБАНИЯ</a:t>
            </a:r>
            <a:br>
              <a:rPr lang="ru-RU" sz="2000" dirty="0"/>
            </a:br>
            <a:r>
              <a:rPr lang="ru-RU" sz="1600" dirty="0"/>
              <a:t>ОЦЕНКА ЗАДЕРЖКИ ДИСКРЕТНОГО СИГНАЛА ПО ОТСЧЁТАМ ПРИНИМАЕМОГО КОЛЕБАНИЯ</a:t>
            </a:r>
            <a:r>
              <a:rPr lang="ru-RU" sz="4900" dirty="0"/>
              <a:t/>
            </a:r>
            <a:br>
              <a:rPr lang="ru-RU" sz="4900" dirty="0"/>
            </a:br>
            <a:endParaRPr lang="en-US" dirty="0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3700" y="1196975"/>
            <a:ext cx="4535488" cy="1174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1268" name="Group 22"/>
          <p:cNvGrpSpPr>
            <a:grpSpLocks/>
          </p:cNvGrpSpPr>
          <p:nvPr/>
        </p:nvGrpSpPr>
        <p:grpSpPr bwMode="auto">
          <a:xfrm>
            <a:off x="6011863" y="1160463"/>
            <a:ext cx="1728787" cy="1246187"/>
            <a:chOff x="5020024" y="1160747"/>
            <a:chExt cx="1728192" cy="1246577"/>
          </a:xfrm>
        </p:grpSpPr>
        <p:sp>
          <p:nvSpPr>
            <p:cNvPr id="8" name="Rectangle 7"/>
            <p:cNvSpPr/>
            <p:nvPr/>
          </p:nvSpPr>
          <p:spPr>
            <a:xfrm>
              <a:off x="5020024" y="1160747"/>
              <a:ext cx="1728192" cy="124657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5291393" y="1197270"/>
              <a:ext cx="0" cy="1079838"/>
            </a:xfrm>
            <a:prstGeom prst="line">
              <a:avLst/>
            </a:prstGeom>
            <a:ln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5148567" y="2061141"/>
              <a:ext cx="1583780" cy="0"/>
            </a:xfrm>
            <a:prstGeom prst="line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5253306" y="2029381"/>
              <a:ext cx="88869" cy="88928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5510392" y="2016677"/>
              <a:ext cx="88869" cy="88928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5784936" y="2016677"/>
              <a:ext cx="88869" cy="88928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6084869" y="1497402"/>
              <a:ext cx="0" cy="576442"/>
            </a:xfrm>
            <a:prstGeom prst="line">
              <a:avLst/>
            </a:prstGeom>
            <a:ln w="25400">
              <a:solidFill>
                <a:srgbClr val="FF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6372108" y="1497402"/>
              <a:ext cx="0" cy="576442"/>
            </a:xfrm>
            <a:prstGeom prst="line">
              <a:avLst/>
            </a:prstGeom>
            <a:ln w="25400">
              <a:solidFill>
                <a:srgbClr val="FF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81" name="TextBox 16"/>
            <p:cNvSpPr txBox="1">
              <a:spLocks noChangeArrowheads="1"/>
            </p:cNvSpPr>
            <p:nvPr/>
          </p:nvSpPr>
          <p:spPr bwMode="auto">
            <a:xfrm>
              <a:off x="5168243" y="2096536"/>
              <a:ext cx="2696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/>
                <a:t>0</a:t>
              </a:r>
            </a:p>
          </p:txBody>
        </p:sp>
        <p:sp>
          <p:nvSpPr>
            <p:cNvPr id="11282" name="TextBox 17"/>
            <p:cNvSpPr txBox="1">
              <a:spLocks noChangeArrowheads="1"/>
            </p:cNvSpPr>
            <p:nvPr/>
          </p:nvSpPr>
          <p:spPr bwMode="auto">
            <a:xfrm>
              <a:off x="5424114" y="2104723"/>
              <a:ext cx="2696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/>
                <a:t>1</a:t>
              </a:r>
            </a:p>
          </p:txBody>
        </p:sp>
        <p:sp>
          <p:nvSpPr>
            <p:cNvPr id="11283" name="TextBox 18"/>
            <p:cNvSpPr txBox="1">
              <a:spLocks noChangeArrowheads="1"/>
            </p:cNvSpPr>
            <p:nvPr/>
          </p:nvSpPr>
          <p:spPr bwMode="auto">
            <a:xfrm>
              <a:off x="5708153" y="2089333"/>
              <a:ext cx="28405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2</a:t>
              </a:r>
              <a:endParaRPr lang="en-US" altLang="en-US"/>
            </a:p>
          </p:txBody>
        </p:sp>
        <p:sp>
          <p:nvSpPr>
            <p:cNvPr id="11284" name="TextBox 19"/>
            <p:cNvSpPr txBox="1">
              <a:spLocks noChangeArrowheads="1"/>
            </p:cNvSpPr>
            <p:nvPr/>
          </p:nvSpPr>
          <p:spPr bwMode="auto">
            <a:xfrm>
              <a:off x="5958258" y="2079120"/>
              <a:ext cx="28405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/>
                <a:t>3</a:t>
              </a:r>
              <a:endParaRPr lang="en-US" altLang="en-US"/>
            </a:p>
          </p:txBody>
        </p:sp>
      </p:grpSp>
      <p:pic>
        <p:nvPicPr>
          <p:cNvPr id="2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3700" y="2924175"/>
            <a:ext cx="1874838" cy="12303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270" name="TextBox 25"/>
          <p:cNvSpPr txBox="1">
            <a:spLocks noChangeArrowheads="1"/>
          </p:cNvSpPr>
          <p:nvPr/>
        </p:nvSpPr>
        <p:spPr bwMode="auto">
          <a:xfrm>
            <a:off x="2268538" y="2921000"/>
            <a:ext cx="9159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y</a:t>
            </a:r>
            <a:r>
              <a:rPr lang="en-US" altLang="en-US" baseline="-25000"/>
              <a:t>0</a:t>
            </a:r>
            <a:r>
              <a:rPr lang="en-US" altLang="en-US"/>
              <a:t>=0,4</a:t>
            </a:r>
          </a:p>
          <a:p>
            <a:pPr eaLnBrk="1" hangingPunct="1"/>
            <a:r>
              <a:rPr lang="en-US" altLang="en-US"/>
              <a:t>y</a:t>
            </a:r>
            <a:r>
              <a:rPr lang="en-US" altLang="en-US" baseline="-25000"/>
              <a:t>1</a:t>
            </a:r>
            <a:r>
              <a:rPr lang="en-US" altLang="en-US"/>
              <a:t>=</a:t>
            </a:r>
            <a:r>
              <a:rPr lang="ru-RU" altLang="en-US"/>
              <a:t>0</a:t>
            </a:r>
            <a:r>
              <a:rPr lang="en-US" altLang="en-US"/>
              <a:t>,</a:t>
            </a:r>
            <a:r>
              <a:rPr lang="ru-RU" altLang="en-US"/>
              <a:t>8</a:t>
            </a:r>
            <a:endParaRPr lang="en-US" altLang="en-US"/>
          </a:p>
          <a:p>
            <a:pPr eaLnBrk="1" hangingPunct="1"/>
            <a:r>
              <a:rPr lang="en-US" altLang="en-US"/>
              <a:t>y</a:t>
            </a:r>
            <a:r>
              <a:rPr lang="en-US" altLang="en-US" baseline="-25000"/>
              <a:t>2</a:t>
            </a:r>
            <a:r>
              <a:rPr lang="en-US" altLang="en-US"/>
              <a:t>=</a:t>
            </a:r>
            <a:r>
              <a:rPr lang="ru-RU" altLang="en-US"/>
              <a:t>1</a:t>
            </a:r>
            <a:r>
              <a:rPr lang="en-US" altLang="en-US"/>
              <a:t>,</a:t>
            </a:r>
            <a:r>
              <a:rPr lang="ru-RU" altLang="en-US"/>
              <a:t>2</a:t>
            </a:r>
            <a:endParaRPr lang="en-US" altLang="en-US"/>
          </a:p>
          <a:p>
            <a:pPr eaLnBrk="1" hangingPunct="1"/>
            <a:r>
              <a:rPr lang="en-US" altLang="en-US"/>
              <a:t>y</a:t>
            </a:r>
            <a:r>
              <a:rPr lang="en-US" altLang="en-US" baseline="-25000"/>
              <a:t>4</a:t>
            </a:r>
            <a:r>
              <a:rPr lang="en-US" altLang="en-US"/>
              <a:t>=</a:t>
            </a:r>
            <a:r>
              <a:rPr lang="ru-RU" altLang="en-US"/>
              <a:t>-</a:t>
            </a:r>
            <a:r>
              <a:rPr lang="en-US" altLang="en-US"/>
              <a:t>0,4</a:t>
            </a:r>
            <a:endParaRPr lang="ru-RU" altLang="en-US"/>
          </a:p>
        </p:txBody>
      </p:sp>
      <p:sp>
        <p:nvSpPr>
          <p:cNvPr id="24" name="Oval 23"/>
          <p:cNvSpPr/>
          <p:nvPr/>
        </p:nvSpPr>
        <p:spPr>
          <a:xfrm>
            <a:off x="5219700" y="1557338"/>
            <a:ext cx="533400" cy="5318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1272" name="TextBox 29"/>
          <p:cNvSpPr txBox="1">
            <a:spLocks noChangeArrowheads="1"/>
          </p:cNvSpPr>
          <p:nvPr/>
        </p:nvSpPr>
        <p:spPr bwMode="auto">
          <a:xfrm>
            <a:off x="5314950" y="1606550"/>
            <a:ext cx="365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sz="2400"/>
              <a:t>+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15370</TotalTime>
  <Words>305</Words>
  <Application>Microsoft Office PowerPoint</Application>
  <PresentationFormat>On-screen Show (4:3)</PresentationFormat>
  <Paragraphs>55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Corbel</vt:lpstr>
      <vt:lpstr>Wingdings</vt:lpstr>
      <vt:lpstr>Basis</vt:lpstr>
      <vt:lpstr>Equation</vt:lpstr>
      <vt:lpstr>MathType 7.0 Equation</vt:lpstr>
      <vt:lpstr>Основы оптимального приема сигналов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СЛУЧАЙ КОНЕЧНОГО ЧИСЛА ОТСЧЁТОВ ПРИНИМАЕМОГО КОЛЕБАНИЯ ОЦЕНКА ЗАДЕРЖКИ ДИСКРЕТНОГО СИГНАЛА ПО ОТСЧЁТАМ ПРИНИМАЕМОГО КОЛЕБАНИЯ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№3</dc:title>
  <dc:creator>buuu</dc:creator>
  <cp:lastModifiedBy>buuu</cp:lastModifiedBy>
  <cp:revision>344</cp:revision>
  <dcterms:modified xsi:type="dcterms:W3CDTF">2021-12-14T13:22:05Z</dcterms:modified>
</cp:coreProperties>
</file>