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4" r:id="rId1"/>
  </p:sldMasterIdLst>
  <p:sldIdLst>
    <p:sldId id="256" r:id="rId2"/>
    <p:sldId id="299" r:id="rId3"/>
    <p:sldId id="307" r:id="rId4"/>
    <p:sldId id="308" r:id="rId5"/>
    <p:sldId id="309" r:id="rId6"/>
    <p:sldId id="310" r:id="rId7"/>
    <p:sldId id="311" r:id="rId8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26" autoAdjust="0"/>
  </p:normalViewPr>
  <p:slideViewPr>
    <p:cSldViewPr>
      <p:cViewPr varScale="1">
        <p:scale>
          <a:sx n="105" d="100"/>
          <a:sy n="105" d="100"/>
        </p:scale>
        <p:origin x="114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9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62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184511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41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982089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94973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3394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0894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80986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07754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03688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913931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4D7BE4A-B386-4F92-AB5E-8573BE8FDF0D}" type="datetimeFigureOut">
              <a:rPr lang="ru-RU" smtClean="0"/>
              <a:pPr>
                <a:defRPr/>
              </a:pPr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7247FBB9-5DA2-49D5-A3F0-EB754A75E74D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75026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5" r:id="rId1"/>
    <p:sldLayoutId id="2147484186" r:id="rId2"/>
    <p:sldLayoutId id="2147484187" r:id="rId3"/>
    <p:sldLayoutId id="2147484188" r:id="rId4"/>
    <p:sldLayoutId id="2147484189" r:id="rId5"/>
    <p:sldLayoutId id="2147484190" r:id="rId6"/>
    <p:sldLayoutId id="2147484191" r:id="rId7"/>
    <p:sldLayoutId id="2147484192" r:id="rId8"/>
    <p:sldLayoutId id="2147484193" r:id="rId9"/>
    <p:sldLayoutId id="2147484194" r:id="rId10"/>
    <p:sldLayoutId id="21474841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4.bin"/><Relationship Id="rId3" Type="http://schemas.openxmlformats.org/officeDocument/2006/relationships/image" Target="../media/image15.jpeg"/><Relationship Id="rId21" Type="http://schemas.openxmlformats.org/officeDocument/2006/relationships/image" Target="../media/image14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2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3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17.bin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16.wmf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5.wmf"/><Relationship Id="rId18" Type="http://schemas.openxmlformats.org/officeDocument/2006/relationships/image" Target="../media/image27.wmf"/><Relationship Id="rId3" Type="http://schemas.openxmlformats.org/officeDocument/2006/relationships/image" Target="../media/image29.png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4.bin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oleObject" Target="../embeddings/oleObject25.bin"/><Relationship Id="rId10" Type="http://schemas.openxmlformats.org/officeDocument/2006/relationships/oleObject" Target="../embeddings/oleObject23.bin"/><Relationship Id="rId19" Type="http://schemas.openxmlformats.org/officeDocument/2006/relationships/oleObject" Target="../embeddings/oleObject27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3.wmf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5.wmf"/><Relationship Id="rId3" Type="http://schemas.openxmlformats.org/officeDocument/2006/relationships/oleObject" Target="../embeddings/oleObject28.bin"/><Relationship Id="rId7" Type="http://schemas.openxmlformats.org/officeDocument/2006/relationships/image" Target="../media/image29.png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11" Type="http://schemas.openxmlformats.org/officeDocument/2006/relationships/image" Target="../media/image34.wmf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1.bin"/><Relationship Id="rId4" Type="http://schemas.openxmlformats.org/officeDocument/2006/relationships/image" Target="../media/image31.wmf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43608" y="2492896"/>
            <a:ext cx="7287344" cy="115212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4000" b="1" dirty="0" smtClean="0"/>
              <a:t>Основы оптимального приема сигналов</a:t>
            </a:r>
            <a:r>
              <a:rPr lang="en-US" sz="4000" b="1" dirty="0" smtClean="0"/>
              <a:t> (</a:t>
            </a:r>
            <a:r>
              <a:rPr lang="ru-RU" sz="4000" b="1" dirty="0" smtClean="0"/>
              <a:t>часть </a:t>
            </a:r>
            <a:r>
              <a:rPr lang="en-US" sz="4000" b="1" dirty="0" smtClean="0"/>
              <a:t>3)</a:t>
            </a:r>
            <a:endParaRPr lang="ru-RU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6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251520" y="188640"/>
            <a:ext cx="8892480" cy="864096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ru-RU" sz="35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Лабораторная работа</a:t>
            </a:r>
            <a:r>
              <a:rPr lang="en-US" sz="35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 </a:t>
            </a:r>
            <a:r>
              <a:rPr lang="ru-RU" sz="35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№4: </a:t>
            </a:r>
            <a:r>
              <a:rPr lang="ru-RU" sz="2800" dirty="0">
                <a:solidFill>
                  <a:schemeClr val="tx2"/>
                </a:solidFill>
                <a:latin typeface="+mj-lt"/>
              </a:rPr>
              <a:t>«Оптимальный приёмник»</a:t>
            </a:r>
            <a:endParaRPr lang="en-US" sz="49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950" y="1052513"/>
            <a:ext cx="9036050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latin typeface="+mn-lt"/>
              </a:rPr>
              <a:t>1. Самостоятельно задать параметры: длительность импульса     =0,05 мс - 0,2 мс , задержка   импульса     = 0,2 мс - 0,7 мс , шаг изменения задержки        = (0,5 – 1)   , отношение сигнал-шум с </a:t>
            </a:r>
            <a:r>
              <a:rPr lang="ru-RU" sz="1600" i="1" dirty="0" err="1">
                <a:latin typeface="+mn-lt"/>
              </a:rPr>
              <a:t>E</a:t>
            </a:r>
            <a:r>
              <a:rPr lang="ru-RU" sz="1600" i="1" baseline="-25000" dirty="0" err="1">
                <a:latin typeface="+mn-lt"/>
              </a:rPr>
              <a:t>с</a:t>
            </a:r>
            <a:r>
              <a:rPr lang="ru-RU" sz="1600" i="1" dirty="0">
                <a:latin typeface="+mn-lt"/>
              </a:rPr>
              <a:t> /G</a:t>
            </a:r>
            <a:r>
              <a:rPr lang="ru-RU" sz="1600" i="1" baseline="-25000" dirty="0">
                <a:latin typeface="+mn-lt"/>
              </a:rPr>
              <a:t>0</a:t>
            </a:r>
            <a:r>
              <a:rPr lang="ru-RU" sz="1600" i="1" dirty="0">
                <a:latin typeface="+mn-lt"/>
              </a:rPr>
              <a:t>≈ </a:t>
            </a:r>
            <a:r>
              <a:rPr lang="ru-RU" sz="1600" dirty="0">
                <a:latin typeface="+mn-lt"/>
              </a:rPr>
              <a:t>5 - 50 ; (параметр «Начальный номер канала» пока в модели не используется);</a:t>
            </a:r>
          </a:p>
        </p:txBody>
      </p:sp>
      <p:graphicFrame>
        <p:nvGraphicFramePr>
          <p:cNvPr id="11273" name="Object 23"/>
          <p:cNvGraphicFramePr>
            <a:graphicFrameLocks noChangeAspect="1"/>
          </p:cNvGraphicFramePr>
          <p:nvPr/>
        </p:nvGraphicFramePr>
        <p:xfrm>
          <a:off x="5651500" y="1052513"/>
          <a:ext cx="2444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Equation" r:id="rId3" imgW="165028" imgH="228501" progId="Equation.DSMT4">
                  <p:embed/>
                </p:oleObj>
              </mc:Choice>
              <mc:Fallback>
                <p:oleObj name="Equation" r:id="rId3" imgW="165028" imgH="228501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1052513"/>
                        <a:ext cx="24447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24"/>
          <p:cNvGraphicFramePr>
            <a:graphicFrameLocks noChangeAspect="1"/>
          </p:cNvGraphicFramePr>
          <p:nvPr/>
        </p:nvGraphicFramePr>
        <p:xfrm>
          <a:off x="1042988" y="1268413"/>
          <a:ext cx="24288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Equation" r:id="rId5" imgW="165028" imgH="228501" progId="Equation.DSMT4">
                  <p:embed/>
                </p:oleObj>
              </mc:Choice>
              <mc:Fallback>
                <p:oleObj name="Equation" r:id="rId5" imgW="165028" imgH="228501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268413"/>
                        <a:ext cx="242887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25"/>
          <p:cNvGraphicFramePr>
            <a:graphicFrameLocks noChangeAspect="1"/>
          </p:cNvGraphicFramePr>
          <p:nvPr/>
        </p:nvGraphicFramePr>
        <p:xfrm>
          <a:off x="5292725" y="1341438"/>
          <a:ext cx="336550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Equation" r:id="rId7" imgW="228402" imgH="177646" progId="Equation.DSMT4">
                  <p:embed/>
                </p:oleObj>
              </mc:Choice>
              <mc:Fallback>
                <p:oleObj name="Equation" r:id="rId7" imgW="228402" imgH="177646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341438"/>
                        <a:ext cx="336550" cy="26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26"/>
          <p:cNvGraphicFramePr>
            <a:graphicFrameLocks noChangeAspect="1"/>
          </p:cNvGraphicFramePr>
          <p:nvPr/>
        </p:nvGraphicFramePr>
        <p:xfrm>
          <a:off x="6516688" y="1268413"/>
          <a:ext cx="24288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Equation" r:id="rId9" imgW="165028" imgH="228501" progId="Equation.DSMT4">
                  <p:embed/>
                </p:oleObj>
              </mc:Choice>
              <mc:Fallback>
                <p:oleObj name="Equation" r:id="rId9" imgW="165028" imgH="228501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1268413"/>
                        <a:ext cx="242887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7950" y="1844675"/>
            <a:ext cx="90360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latin typeface="+mn-lt"/>
              </a:rPr>
              <a:t>2. Варьируя отношение сигнал-шум, получить и сохранить реализации корреляционного интеграла и апостериорной плотности вероятности;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950" y="2349500"/>
            <a:ext cx="903605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1600" dirty="0">
                <a:latin typeface="+mn-lt"/>
              </a:rPr>
              <a:t>3. Оценить характер ошибок измерения задержки по положению максимума апостериорной плотности вероятности при большой и малой величине отношения сигнал-шум; получить реализацию с аномальной ошибкой измерения задержки (когда из-за выброса шума максимум апостериорной плотности вероятности образуется далеко от истинного значения параметра);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950" y="3357563"/>
            <a:ext cx="892810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1600" dirty="0">
                <a:latin typeface="+mn-lt"/>
              </a:rPr>
              <a:t>4. При средней величине отношения сигнал-шум (когда не возникают аномальные ошибки) получить и сохранить несколько реализаций апостериорной плотности вероятности, иллюстрирующих разброс оценки задержки  ; не менее чем по 10 реализациям оценить максимальную абсолютную величину ошибки измерения                          ;</a:t>
            </a:r>
          </a:p>
        </p:txBody>
      </p:sp>
      <p:graphicFrame>
        <p:nvGraphicFramePr>
          <p:cNvPr id="11280" name="Object 27"/>
          <p:cNvGraphicFramePr>
            <a:graphicFrameLocks noChangeAspect="1"/>
          </p:cNvGraphicFramePr>
          <p:nvPr/>
        </p:nvGraphicFramePr>
        <p:xfrm>
          <a:off x="4356100" y="3860800"/>
          <a:ext cx="185738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Equation" r:id="rId10" imgW="126725" imgH="177415" progId="Equation.DSMT4">
                  <p:embed/>
                </p:oleObj>
              </mc:Choice>
              <mc:Fallback>
                <p:oleObj name="Equation" r:id="rId10" imgW="126725" imgH="177415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860800"/>
                        <a:ext cx="185738" cy="26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Object 28"/>
          <p:cNvGraphicFramePr>
            <a:graphicFrameLocks noChangeAspect="1"/>
          </p:cNvGraphicFramePr>
          <p:nvPr/>
        </p:nvGraphicFramePr>
        <p:xfrm>
          <a:off x="5508625" y="4149725"/>
          <a:ext cx="102235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name="Equation" r:id="rId12" imgW="901309" imgH="253890" progId="Equation.DSMT4">
                  <p:embed/>
                </p:oleObj>
              </mc:Choice>
              <mc:Fallback>
                <p:oleObj name="Equation" r:id="rId12" imgW="901309" imgH="25389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149725"/>
                        <a:ext cx="1022350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07950" y="4365625"/>
            <a:ext cx="892810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latin typeface="+mn-lt"/>
              </a:rPr>
              <a:t>5. При той же величине отношения сигнал-шум получить и сохранить эпюры напряжения на выходах корреляторов каналов приёмника (длительность реализации и шаг изменения задержки задать таким образом, чтобы количество каналов было не более 10);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29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29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29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2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251520" y="188640"/>
            <a:ext cx="8892480" cy="864096"/>
          </a:xfrm>
          <a:prstGeom prst="rect">
            <a:avLst/>
          </a:prstGeom>
        </p:spPr>
        <p:txBody>
          <a:bodyPr anchor="ctr">
            <a:normAutofit lnSpcReduction="10000"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ru-RU" sz="35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Домашнее задание</a:t>
            </a:r>
            <a:endParaRPr lang="en-US" sz="49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79512" y="1196752"/>
            <a:ext cx="8784976" cy="11521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250825" y="1268413"/>
            <a:ext cx="85693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dirty="0">
                <a:latin typeface="+mn-lt"/>
              </a:rPr>
              <a:t>Изобразить структурную схему оптимального приёмника и на ней показать полученные в результате выполнения моделирования эпюры напряжения в каналах, а также зависимость корреляционного интеграла от задержки.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250825" y="188913"/>
            <a:ext cx="8893175" cy="863600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/>
          <a:p>
            <a:pPr>
              <a:defRPr/>
            </a:pPr>
            <a:r>
              <a:rPr lang="ru-RU" sz="4400" dirty="0">
                <a:solidFill>
                  <a:schemeClr val="tx2"/>
                </a:solidFill>
                <a:latin typeface="+mj-lt"/>
              </a:rPr>
              <a:t>ОПТИМАЛЬНЫЙ ОБНАРУЖИТЕЛЬ ПОЛНОСТЬЮ ИЗВЕСТНОГО СИГНАЛА</a:t>
            </a:r>
            <a:endParaRPr lang="en-US" sz="49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Рисунок 10" descr="pic1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1196975"/>
            <a:ext cx="5472112" cy="1527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Прямоугольник 14"/>
          <p:cNvSpPr/>
          <p:nvPr/>
        </p:nvSpPr>
        <p:spPr>
          <a:xfrm>
            <a:off x="5868144" y="1124744"/>
            <a:ext cx="2952328" cy="21602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graphicFrame>
        <p:nvGraphicFramePr>
          <p:cNvPr id="13324" name="Object 3"/>
          <p:cNvGraphicFramePr>
            <a:graphicFrameLocks noChangeAspect="1"/>
          </p:cNvGraphicFramePr>
          <p:nvPr/>
        </p:nvGraphicFramePr>
        <p:xfrm>
          <a:off x="2268538" y="1341438"/>
          <a:ext cx="6508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2" name="Equation" r:id="rId4" imgW="406224" imgH="469696" progId="Equation.DSMT4">
                  <p:embed/>
                </p:oleObj>
              </mc:Choice>
              <mc:Fallback>
                <p:oleObj name="Equation" r:id="rId4" imgW="406224" imgH="46969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341438"/>
                        <a:ext cx="6508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4"/>
          <p:cNvGraphicFramePr>
            <a:graphicFrameLocks noChangeAspect="1"/>
          </p:cNvGraphicFramePr>
          <p:nvPr/>
        </p:nvGraphicFramePr>
        <p:xfrm>
          <a:off x="5940425" y="1412875"/>
          <a:ext cx="222408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3" name="Equation" r:id="rId6" imgW="1447800" imgH="469900" progId="Equation.DSMT4">
                  <p:embed/>
                </p:oleObj>
              </mc:Choice>
              <mc:Fallback>
                <p:oleObj name="Equation" r:id="rId6" imgW="1447800" imgH="469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1412875"/>
                        <a:ext cx="222408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5"/>
          <p:cNvGraphicFramePr>
            <a:graphicFrameLocks noChangeAspect="1"/>
          </p:cNvGraphicFramePr>
          <p:nvPr/>
        </p:nvGraphicFramePr>
        <p:xfrm>
          <a:off x="5940425" y="2492375"/>
          <a:ext cx="17700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" name="Equation" r:id="rId8" imgW="1155700" imgH="469900" progId="Equation.DSMT4">
                  <p:embed/>
                </p:oleObj>
              </mc:Choice>
              <mc:Fallback>
                <p:oleObj name="Equation" r:id="rId8" imgW="11557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492375"/>
                        <a:ext cx="177006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11863" y="1125538"/>
            <a:ext cx="2139950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1600" u="sng" dirty="0">
                <a:latin typeface="+mn-lt"/>
              </a:rPr>
              <a:t>Условие обнаружения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388" y="2921000"/>
            <a:ext cx="2865437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1600" dirty="0">
                <a:latin typeface="+mn-lt"/>
              </a:rPr>
              <a:t>Распределение вероятностей </a:t>
            </a:r>
          </a:p>
          <a:p>
            <a:pPr>
              <a:defRPr/>
            </a:pPr>
            <a:r>
              <a:rPr lang="ru-RU" sz="1600" dirty="0">
                <a:latin typeface="+mn-lt"/>
              </a:rPr>
              <a:t>напряжения на входе ПУ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7400" y="2133600"/>
            <a:ext cx="29178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1600" dirty="0">
                <a:latin typeface="+mn-lt"/>
              </a:rPr>
              <a:t>Оптимальное значение порога</a:t>
            </a:r>
          </a:p>
        </p:txBody>
      </p:sp>
      <p:graphicFrame>
        <p:nvGraphicFramePr>
          <p:cNvPr id="13330" name="Object 6"/>
          <p:cNvGraphicFramePr>
            <a:graphicFrameLocks noChangeAspect="1"/>
          </p:cNvGraphicFramePr>
          <p:nvPr/>
        </p:nvGraphicFramePr>
        <p:xfrm>
          <a:off x="2916238" y="2852738"/>
          <a:ext cx="17748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5" name="Equation" r:id="rId10" imgW="1345616" imgH="545863" progId="Equation.DSMT4">
                  <p:embed/>
                </p:oleObj>
              </mc:Choice>
              <mc:Fallback>
                <p:oleObj name="Equation" r:id="rId10" imgW="1345616" imgH="54586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852738"/>
                        <a:ext cx="17748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Object 7"/>
          <p:cNvGraphicFramePr>
            <a:graphicFrameLocks noChangeAspect="1"/>
          </p:cNvGraphicFramePr>
          <p:nvPr/>
        </p:nvGraphicFramePr>
        <p:xfrm>
          <a:off x="2916238" y="3644900"/>
          <a:ext cx="10160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6" name="Equation" r:id="rId12" imgW="761669" imgH="431613" progId="Equation.DSMT4">
                  <p:embed/>
                </p:oleObj>
              </mc:Choice>
              <mc:Fallback>
                <p:oleObj name="Equation" r:id="rId12" imgW="761669" imgH="43161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644900"/>
                        <a:ext cx="10160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2" name="Object 8"/>
          <p:cNvGraphicFramePr>
            <a:graphicFrameLocks noChangeAspect="1"/>
          </p:cNvGraphicFramePr>
          <p:nvPr/>
        </p:nvGraphicFramePr>
        <p:xfrm>
          <a:off x="2916238" y="4221163"/>
          <a:ext cx="12954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7" name="Equation" r:id="rId14" imgW="1117115" imgH="482391" progId="Equation.DSMT4">
                  <p:embed/>
                </p:oleObj>
              </mc:Choice>
              <mc:Fallback>
                <p:oleObj name="Equation" r:id="rId14" imgW="1117115" imgH="48239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221163"/>
                        <a:ext cx="12954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50825" y="3763963"/>
            <a:ext cx="266541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latin typeface="+mn-lt"/>
              </a:rPr>
              <a:t>математическое ожидание -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8175" y="4316413"/>
            <a:ext cx="77470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dirty="0">
                <a:latin typeface="+mn-lt"/>
              </a:rPr>
              <a:t>СКО - </a:t>
            </a:r>
          </a:p>
        </p:txBody>
      </p:sp>
      <p:graphicFrame>
        <p:nvGraphicFramePr>
          <p:cNvPr id="13335" name="Object 9"/>
          <p:cNvGraphicFramePr>
            <a:graphicFrameLocks noChangeAspect="1"/>
          </p:cNvGraphicFramePr>
          <p:nvPr/>
        </p:nvGraphicFramePr>
        <p:xfrm>
          <a:off x="3181350" y="5084763"/>
          <a:ext cx="2881313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8" name="Equation" r:id="rId16" imgW="2019240" imgH="507960" progId="Equation.DSMT4">
                  <p:embed/>
                </p:oleObj>
              </mc:Choice>
              <mc:Fallback>
                <p:oleObj name="Equation" r:id="rId16" imgW="2019240" imgH="5079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5084763"/>
                        <a:ext cx="2881313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6" name="Object 10"/>
          <p:cNvGraphicFramePr>
            <a:graphicFrameLocks noChangeAspect="1"/>
          </p:cNvGraphicFramePr>
          <p:nvPr/>
        </p:nvGraphicFramePr>
        <p:xfrm>
          <a:off x="3181350" y="5949950"/>
          <a:ext cx="15589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name="Equation" r:id="rId18" imgW="1091880" imgH="507960" progId="Equation.DSMT4">
                  <p:embed/>
                </p:oleObj>
              </mc:Choice>
              <mc:Fallback>
                <p:oleObj name="Equation" r:id="rId18" imgW="1091880" imgH="5079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5949950"/>
                        <a:ext cx="15589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0" y="5229225"/>
            <a:ext cx="28765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u="sng" dirty="0">
                <a:latin typeface="+mn-lt"/>
              </a:rPr>
              <a:t>Вероятность обнаружения: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126163"/>
            <a:ext cx="3106738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u="sng" dirty="0">
                <a:latin typeface="+mn-lt"/>
              </a:rPr>
              <a:t>Вероятность ложной тревоги: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6588224" y="5301208"/>
            <a:ext cx="2160240" cy="11521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13342" name="Object 11"/>
          <p:cNvGraphicFramePr>
            <a:graphicFrameLocks noChangeAspect="1"/>
          </p:cNvGraphicFramePr>
          <p:nvPr/>
        </p:nvGraphicFramePr>
        <p:xfrm>
          <a:off x="6659563" y="5445125"/>
          <a:ext cx="1855787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Equation" r:id="rId20" imgW="1130040" imgH="482400" progId="Equation.DSMT4">
                  <p:embed/>
                </p:oleObj>
              </mc:Choice>
              <mc:Fallback>
                <p:oleObj name="Equation" r:id="rId20" imgW="1130040" imgH="482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5445125"/>
                        <a:ext cx="1855787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34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3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539750" y="476250"/>
            <a:ext cx="8604250" cy="576263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/>
          <a:p>
            <a:pPr>
              <a:defRPr/>
            </a:pPr>
            <a:r>
              <a:rPr lang="ru-RU" sz="4400" dirty="0">
                <a:solidFill>
                  <a:schemeClr val="tx2"/>
                </a:solidFill>
                <a:latin typeface="+mj-lt"/>
              </a:rPr>
              <a:t>ЗАДАЧА</a:t>
            </a:r>
            <a:endParaRPr lang="en-US" sz="49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179512" y="1124744"/>
            <a:ext cx="8784976" cy="15841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179388" y="1052513"/>
            <a:ext cx="8785225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1600" dirty="0">
                <a:latin typeface="+mn-lt"/>
              </a:rPr>
              <a:t>Оптимальный обнаружитель полностью известного сигнала в виде радиоимпульса с прямоугольной огибающей обеспечивает вероятность ошибки </a:t>
            </a:r>
            <a:r>
              <a:rPr lang="en-US" sz="1600" dirty="0">
                <a:latin typeface="+mn-lt"/>
              </a:rPr>
              <a:t>p</a:t>
            </a:r>
            <a:r>
              <a:rPr lang="ru-RU" sz="1600" baseline="-25000" dirty="0" err="1">
                <a:latin typeface="+mn-lt"/>
              </a:rPr>
              <a:t>ош</a:t>
            </a:r>
            <a:r>
              <a:rPr lang="en-US" sz="1600" dirty="0">
                <a:latin typeface="+mn-lt"/>
              </a:rPr>
              <a:t>=p</a:t>
            </a:r>
            <a:r>
              <a:rPr lang="ru-RU" sz="1600" baseline="-25000" dirty="0">
                <a:latin typeface="+mn-lt"/>
              </a:rPr>
              <a:t>ЛТ</a:t>
            </a:r>
            <a:r>
              <a:rPr lang="en-US" sz="1600" dirty="0">
                <a:latin typeface="+mn-lt"/>
              </a:rPr>
              <a:t>=p</a:t>
            </a:r>
            <a:r>
              <a:rPr lang="ru-RU" sz="1600" baseline="-25000" dirty="0" err="1">
                <a:latin typeface="+mn-lt"/>
              </a:rPr>
              <a:t>пр</a:t>
            </a:r>
            <a:r>
              <a:rPr lang="en-US" sz="1600" dirty="0">
                <a:latin typeface="+mn-lt"/>
              </a:rPr>
              <a:t>=</a:t>
            </a:r>
            <a:r>
              <a:rPr lang="ru-RU" sz="1600" dirty="0">
                <a:latin typeface="+mn-lt"/>
              </a:rPr>
              <a:t>0,1. Длительность импульса</a:t>
            </a:r>
            <a:r>
              <a:rPr lang="en-US" sz="1600" dirty="0">
                <a:latin typeface="+mn-lt"/>
              </a:rPr>
              <a:t>   </a:t>
            </a:r>
            <a:r>
              <a:rPr lang="ru-RU" sz="1600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  =</a:t>
            </a:r>
            <a:r>
              <a:rPr lang="ru-RU" sz="1600" dirty="0">
                <a:latin typeface="+mn-lt"/>
              </a:rPr>
              <a:t>10 мкс , спектральная плотность</a:t>
            </a:r>
            <a:r>
              <a:rPr lang="en-US" sz="1600" dirty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шума </a:t>
            </a:r>
            <a:r>
              <a:rPr lang="en-US" sz="1600" dirty="0">
                <a:latin typeface="+mn-lt"/>
              </a:rPr>
              <a:t> G</a:t>
            </a:r>
            <a:r>
              <a:rPr lang="en-US" sz="1600" baseline="-25000" dirty="0">
                <a:latin typeface="+mn-lt"/>
              </a:rPr>
              <a:t>0</a:t>
            </a:r>
            <a:r>
              <a:rPr lang="en-US" sz="1600" dirty="0">
                <a:latin typeface="+mn-lt"/>
              </a:rPr>
              <a:t>=</a:t>
            </a:r>
            <a:r>
              <a:rPr lang="ru-RU" sz="1600" dirty="0">
                <a:latin typeface="+mn-lt"/>
              </a:rPr>
              <a:t>1</a:t>
            </a:r>
            <a:r>
              <a:rPr lang="en-US" sz="1600" dirty="0">
                <a:latin typeface="+mn-lt"/>
              </a:rPr>
              <a:t>0</a:t>
            </a:r>
            <a:r>
              <a:rPr lang="en-US" sz="1600" baseline="30000" dirty="0">
                <a:latin typeface="+mn-lt"/>
              </a:rPr>
              <a:t>-1</a:t>
            </a:r>
            <a:r>
              <a:rPr lang="ru-RU" sz="1600" baseline="30000" dirty="0">
                <a:latin typeface="+mn-lt"/>
              </a:rPr>
              <a:t>2</a:t>
            </a:r>
            <a:r>
              <a:rPr lang="ru-RU" sz="1600" dirty="0">
                <a:latin typeface="+mn-lt"/>
              </a:rPr>
              <a:t> В</a:t>
            </a:r>
            <a:r>
              <a:rPr lang="ru-RU" sz="1600" baseline="30000" dirty="0">
                <a:latin typeface="+mn-lt"/>
              </a:rPr>
              <a:t>2</a:t>
            </a:r>
            <a:r>
              <a:rPr lang="ru-RU" sz="1600" dirty="0">
                <a:latin typeface="+mn-lt"/>
              </a:rPr>
              <a:t>/Гц, априорные вероятности наличия и отсутствия сигнала </a:t>
            </a:r>
            <a:r>
              <a:rPr lang="en-US" sz="1600" dirty="0" err="1">
                <a:latin typeface="+mn-lt"/>
              </a:rPr>
              <a:t>p</a:t>
            </a:r>
            <a:r>
              <a:rPr lang="en-US" sz="1600" baseline="-25000" dirty="0" err="1">
                <a:latin typeface="+mn-lt"/>
              </a:rPr>
              <a:t>pr</a:t>
            </a:r>
            <a:r>
              <a:rPr lang="en-US" sz="1600" dirty="0">
                <a:latin typeface="+mn-lt"/>
              </a:rPr>
              <a:t>(1)=</a:t>
            </a:r>
            <a:r>
              <a:rPr lang="en-US" sz="1600" dirty="0" err="1">
                <a:latin typeface="+mn-lt"/>
              </a:rPr>
              <a:t>p</a:t>
            </a:r>
            <a:r>
              <a:rPr lang="en-US" sz="1600" baseline="-25000" dirty="0" err="1">
                <a:latin typeface="+mn-lt"/>
              </a:rPr>
              <a:t>pr</a:t>
            </a:r>
            <a:r>
              <a:rPr lang="en-US" sz="1600" dirty="0">
                <a:latin typeface="+mn-lt"/>
              </a:rPr>
              <a:t>(0)=1/2. </a:t>
            </a:r>
          </a:p>
          <a:p>
            <a:pPr algn="just">
              <a:defRPr/>
            </a:pPr>
            <a:r>
              <a:rPr lang="ru-RU" sz="1600" dirty="0">
                <a:latin typeface="+mn-lt"/>
              </a:rPr>
              <a:t>Определить амплитуду сигнала и оптимальное значение</a:t>
            </a:r>
            <a:r>
              <a:rPr lang="en-US" sz="1600" dirty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порога порогового устройства. Изобразить графики зависимости вероятности</a:t>
            </a:r>
            <a:r>
              <a:rPr lang="en-US" sz="1600" dirty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ошибок от величины порога.</a:t>
            </a:r>
          </a:p>
        </p:txBody>
      </p:sp>
      <p:graphicFrame>
        <p:nvGraphicFramePr>
          <p:cNvPr id="14348" name="Object 11"/>
          <p:cNvGraphicFramePr>
            <a:graphicFrameLocks noChangeAspect="1"/>
          </p:cNvGraphicFramePr>
          <p:nvPr/>
        </p:nvGraphicFramePr>
        <p:xfrm>
          <a:off x="1187450" y="1579563"/>
          <a:ext cx="2444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Equation" r:id="rId3" imgW="164880" imgH="228600" progId="Equation.DSMT4">
                  <p:embed/>
                </p:oleObj>
              </mc:Choice>
              <mc:Fallback>
                <p:oleObj name="Equation" r:id="rId3" imgW="16488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579563"/>
                        <a:ext cx="24447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2"/>
          <p:cNvGraphicFramePr>
            <a:graphicFrameLocks noChangeAspect="1"/>
          </p:cNvGraphicFramePr>
          <p:nvPr/>
        </p:nvGraphicFramePr>
        <p:xfrm>
          <a:off x="188913" y="2781300"/>
          <a:ext cx="25495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Equation" r:id="rId5" imgW="1663700" imgH="469900" progId="Equation.DSMT4">
                  <p:embed/>
                </p:oleObj>
              </mc:Choice>
              <mc:Fallback>
                <p:oleObj name="Equation" r:id="rId5" imgW="1663700" imgH="469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3" y="2781300"/>
                        <a:ext cx="25495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0" name="Object 13"/>
          <p:cNvGraphicFramePr>
            <a:graphicFrameLocks noChangeAspect="1"/>
          </p:cNvGraphicFramePr>
          <p:nvPr/>
        </p:nvGraphicFramePr>
        <p:xfrm>
          <a:off x="2843213" y="2852738"/>
          <a:ext cx="191293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Equation" r:id="rId7" imgW="1435100" imgH="431800" progId="Equation.DSMT4">
                  <p:embed/>
                </p:oleObj>
              </mc:Choice>
              <mc:Fallback>
                <p:oleObj name="Equation" r:id="rId7" imgW="1435100" imgH="431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852738"/>
                        <a:ext cx="191293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82" name="Picture 1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003800" y="2781300"/>
            <a:ext cx="3962400" cy="1743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4352" name="Object 15"/>
          <p:cNvGraphicFramePr>
            <a:graphicFrameLocks noChangeAspect="1"/>
          </p:cNvGraphicFramePr>
          <p:nvPr/>
        </p:nvGraphicFramePr>
        <p:xfrm>
          <a:off x="179388" y="3644900"/>
          <a:ext cx="57689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Equation" r:id="rId10" imgW="4635360" imgH="1447560" progId="Equation.DSMT4">
                  <p:embed/>
                </p:oleObj>
              </mc:Choice>
              <mc:Fallback>
                <p:oleObj name="Equation" r:id="rId10" imgW="4635360" imgH="144756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644900"/>
                        <a:ext cx="57689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539750" y="476250"/>
            <a:ext cx="8604250" cy="576263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/>
          <a:p>
            <a:pPr>
              <a:defRPr/>
            </a:pPr>
            <a:r>
              <a:rPr lang="ru-RU" sz="4400" dirty="0">
                <a:solidFill>
                  <a:schemeClr val="tx2"/>
                </a:solidFill>
                <a:latin typeface="+mj-lt"/>
              </a:rPr>
              <a:t>ЗАДАЧА</a:t>
            </a:r>
            <a:r>
              <a:rPr lang="en-US" sz="4400" dirty="0">
                <a:solidFill>
                  <a:schemeClr val="tx2"/>
                </a:solidFill>
                <a:latin typeface="+mj-lt"/>
              </a:rPr>
              <a:t> 1</a:t>
            </a:r>
            <a:endParaRPr lang="en-US" sz="49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2784" name="Picture 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388" y="1125538"/>
            <a:ext cx="3168650" cy="2622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5369" name="Object 6"/>
          <p:cNvGraphicFramePr>
            <a:graphicFrameLocks noChangeAspect="1"/>
          </p:cNvGraphicFramePr>
          <p:nvPr/>
        </p:nvGraphicFramePr>
        <p:xfrm>
          <a:off x="3492500" y="1125538"/>
          <a:ext cx="5054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Equation" r:id="rId4" imgW="4457520" imgH="507960" progId="Equation.DSMT4">
                  <p:embed/>
                </p:oleObj>
              </mc:Choice>
              <mc:Fallback>
                <p:oleObj name="Equation" r:id="rId4" imgW="4457520" imgH="507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125538"/>
                        <a:ext cx="5054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7"/>
          <p:cNvGraphicFramePr>
            <a:graphicFrameLocks noChangeAspect="1"/>
          </p:cNvGraphicFramePr>
          <p:nvPr/>
        </p:nvGraphicFramePr>
        <p:xfrm>
          <a:off x="3492500" y="1773238"/>
          <a:ext cx="315277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" name="Equation" r:id="rId6" imgW="2641320" imgH="241200" progId="Equation.DSMT4">
                  <p:embed/>
                </p:oleObj>
              </mc:Choice>
              <mc:Fallback>
                <p:oleObj name="Equation" r:id="rId6" imgW="264132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773238"/>
                        <a:ext cx="315277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8"/>
          <p:cNvGraphicFramePr>
            <a:graphicFrameLocks noChangeAspect="1"/>
          </p:cNvGraphicFramePr>
          <p:nvPr/>
        </p:nvGraphicFramePr>
        <p:xfrm>
          <a:off x="3492500" y="2205038"/>
          <a:ext cx="25161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" name="Equation" r:id="rId8" imgW="2108160" imgH="241200" progId="Equation.DSMT4">
                  <p:embed/>
                </p:oleObj>
              </mc:Choice>
              <mc:Fallback>
                <p:oleObj name="Equation" r:id="rId8" imgW="210816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205038"/>
                        <a:ext cx="25161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9"/>
          <p:cNvGraphicFramePr>
            <a:graphicFrameLocks noChangeAspect="1"/>
          </p:cNvGraphicFramePr>
          <p:nvPr/>
        </p:nvGraphicFramePr>
        <p:xfrm>
          <a:off x="3378200" y="2870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name="Equation" r:id="rId10" imgW="435285" imgH="677109" progId="Equation.DSMT4">
                  <p:embed/>
                </p:oleObj>
              </mc:Choice>
              <mc:Fallback>
                <p:oleObj name="Equation" r:id="rId10" imgW="435285" imgH="67710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28702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0"/>
          <p:cNvGraphicFramePr>
            <a:graphicFrameLocks noChangeAspect="1"/>
          </p:cNvGraphicFramePr>
          <p:nvPr/>
        </p:nvGraphicFramePr>
        <p:xfrm>
          <a:off x="3492500" y="2492375"/>
          <a:ext cx="467995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3" name="Equation" r:id="rId12" imgW="4305240" imgH="965160" progId="Equation.DSMT4">
                  <p:embed/>
                </p:oleObj>
              </mc:Choice>
              <mc:Fallback>
                <p:oleObj name="Equation" r:id="rId12" imgW="4305240" imgH="9651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492375"/>
                        <a:ext cx="467995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03" name="Picture 1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580063" y="3933825"/>
            <a:ext cx="3400425" cy="1476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Прямоугольник 23"/>
          <p:cNvSpPr/>
          <p:nvPr/>
        </p:nvSpPr>
        <p:spPr>
          <a:xfrm>
            <a:off x="251520" y="4005064"/>
            <a:ext cx="4608512" cy="16561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15378" name="Object 12"/>
          <p:cNvGraphicFramePr>
            <a:graphicFrameLocks noChangeAspect="1"/>
          </p:cNvGraphicFramePr>
          <p:nvPr/>
        </p:nvGraphicFramePr>
        <p:xfrm>
          <a:off x="539750" y="4076700"/>
          <a:ext cx="1449388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Equation" r:id="rId15" imgW="1015920" imgH="507960" progId="Equation.DSMT4">
                  <p:embed/>
                </p:oleObj>
              </mc:Choice>
              <mc:Fallback>
                <p:oleObj name="Equation" r:id="rId15" imgW="1015920" imgH="5079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76700"/>
                        <a:ext cx="1449388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9" name="Object 13"/>
          <p:cNvGraphicFramePr>
            <a:graphicFrameLocks noChangeAspect="1"/>
          </p:cNvGraphicFramePr>
          <p:nvPr/>
        </p:nvGraphicFramePr>
        <p:xfrm>
          <a:off x="2916238" y="4076700"/>
          <a:ext cx="15589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Equation" r:id="rId17" imgW="1091880" imgH="507960" progId="Equation.DSMT4">
                  <p:embed/>
                </p:oleObj>
              </mc:Choice>
              <mc:Fallback>
                <p:oleObj name="Equation" r:id="rId17" imgW="1091880" imgH="5079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076700"/>
                        <a:ext cx="15589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0" name="Object 14"/>
          <p:cNvGraphicFramePr>
            <a:graphicFrameLocks noChangeAspect="1"/>
          </p:cNvGraphicFramePr>
          <p:nvPr/>
        </p:nvGraphicFramePr>
        <p:xfrm>
          <a:off x="1535113" y="4868863"/>
          <a:ext cx="121761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6" name="Equation" r:id="rId19" imgW="914400" imgH="431640" progId="Equation.DSMT4">
                  <p:embed/>
                </p:oleObj>
              </mc:Choice>
              <mc:Fallback>
                <p:oleObj name="Equation" r:id="rId19" imgW="914400" imgH="431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4868863"/>
                        <a:ext cx="121761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38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38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3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539750" y="476250"/>
            <a:ext cx="8604250" cy="576263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/>
          <a:p>
            <a:pPr>
              <a:defRPr/>
            </a:pPr>
            <a:r>
              <a:rPr lang="ru-RU" sz="4400" dirty="0">
                <a:solidFill>
                  <a:schemeClr val="tx2"/>
                </a:solidFill>
                <a:latin typeface="+mj-lt"/>
              </a:rPr>
              <a:t>ЗАДАЧА</a:t>
            </a:r>
            <a:endParaRPr lang="en-US" sz="49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179512" y="1124744"/>
            <a:ext cx="8784976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250825" y="1196975"/>
            <a:ext cx="86423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latin typeface="+mn-lt"/>
              </a:rPr>
              <a:t>При условиях задачи </a:t>
            </a:r>
            <a:r>
              <a:rPr lang="en-US" sz="1600" dirty="0">
                <a:latin typeface="+mn-lt"/>
              </a:rPr>
              <a:t>1 </a:t>
            </a:r>
            <a:r>
              <a:rPr lang="ru-RU" sz="1600" dirty="0">
                <a:latin typeface="+mn-lt"/>
              </a:rPr>
              <a:t>найти величину порога, при котором вероятность ложной</a:t>
            </a:r>
            <a:r>
              <a:rPr lang="en-US" sz="1600" dirty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тревоги уменьшается до 0,05. Найти вероятность обнаружения сигнала в этом</a:t>
            </a:r>
            <a:r>
              <a:rPr lang="en-US" sz="1600" dirty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случае.</a:t>
            </a:r>
          </a:p>
        </p:txBody>
      </p:sp>
      <p:graphicFrame>
        <p:nvGraphicFramePr>
          <p:cNvPr id="16396" name="Object 6"/>
          <p:cNvGraphicFramePr>
            <a:graphicFrameLocks noChangeAspect="1"/>
          </p:cNvGraphicFramePr>
          <p:nvPr/>
        </p:nvGraphicFramePr>
        <p:xfrm>
          <a:off x="204788" y="1935163"/>
          <a:ext cx="23193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Equation" r:id="rId3" imgW="1624895" imgH="583947" progId="Equation.DSMT4">
                  <p:embed/>
                </p:oleObj>
              </mc:Choice>
              <mc:Fallback>
                <p:oleObj name="Equation" r:id="rId3" imgW="1624895" imgH="58394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8" y="1935163"/>
                        <a:ext cx="231933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7"/>
          <p:cNvGraphicFramePr>
            <a:graphicFrameLocks noChangeAspect="1"/>
          </p:cNvGraphicFramePr>
          <p:nvPr/>
        </p:nvGraphicFramePr>
        <p:xfrm>
          <a:off x="250825" y="2781300"/>
          <a:ext cx="43735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Equation" r:id="rId5" imgW="3759200" imgH="495300" progId="Equation.DSMT4">
                  <p:embed/>
                </p:oleObj>
              </mc:Choice>
              <mc:Fallback>
                <p:oleObj name="Equation" r:id="rId5" imgW="3759200" imgH="495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781300"/>
                        <a:ext cx="437356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219700" y="2133600"/>
            <a:ext cx="3168650" cy="2622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6399" name="Object 8"/>
          <p:cNvGraphicFramePr>
            <a:graphicFrameLocks noChangeAspect="1"/>
          </p:cNvGraphicFramePr>
          <p:nvPr/>
        </p:nvGraphicFramePr>
        <p:xfrm>
          <a:off x="258763" y="3500438"/>
          <a:ext cx="433705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Equation" r:id="rId8" imgW="3441600" imgH="228600" progId="Equation.DSMT4">
                  <p:embed/>
                </p:oleObj>
              </mc:Choice>
              <mc:Fallback>
                <p:oleObj name="Equation" r:id="rId8" imgW="34416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3500438"/>
                        <a:ext cx="433705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9"/>
          <p:cNvGraphicFramePr>
            <a:graphicFrameLocks noChangeAspect="1"/>
          </p:cNvGraphicFramePr>
          <p:nvPr/>
        </p:nvGraphicFramePr>
        <p:xfrm>
          <a:off x="279400" y="3879850"/>
          <a:ext cx="166687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" name="Equation" r:id="rId10" imgW="1167893" imgH="583947" progId="Equation.DSMT4">
                  <p:embed/>
                </p:oleObj>
              </mc:Choice>
              <mc:Fallback>
                <p:oleObj name="Equation" r:id="rId10" imgW="1167893" imgH="58394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3879850"/>
                        <a:ext cx="1666875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10"/>
          <p:cNvGraphicFramePr>
            <a:graphicFrameLocks noChangeAspect="1"/>
          </p:cNvGraphicFramePr>
          <p:nvPr/>
        </p:nvGraphicFramePr>
        <p:xfrm>
          <a:off x="323850" y="4797425"/>
          <a:ext cx="25733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Equation" r:id="rId12" imgW="1930400" imgH="457200" progId="Equation.DSMT4">
                  <p:embed/>
                </p:oleObj>
              </mc:Choice>
              <mc:Fallback>
                <p:oleObj name="Equation" r:id="rId12" imgW="19304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797425"/>
                        <a:ext cx="25733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2" name="Object 11"/>
          <p:cNvGraphicFramePr>
            <a:graphicFrameLocks noChangeAspect="1"/>
          </p:cNvGraphicFramePr>
          <p:nvPr/>
        </p:nvGraphicFramePr>
        <p:xfrm>
          <a:off x="323850" y="5445125"/>
          <a:ext cx="3605213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Equation" r:id="rId14" imgW="2527300" imgH="457200" progId="Equation.DSMT4">
                  <p:embed/>
                </p:oleObj>
              </mc:Choice>
              <mc:Fallback>
                <p:oleObj name="Equation" r:id="rId14" imgW="2527300" imgH="457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445125"/>
                        <a:ext cx="3605213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4091</TotalTime>
  <Words>369</Words>
  <Application>Microsoft Office PowerPoint</Application>
  <PresentationFormat>On-screen Show (4:3)</PresentationFormat>
  <Paragraphs>24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Basis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№3</dc:title>
  <dc:creator>buuu</dc:creator>
  <cp:lastModifiedBy>buuu</cp:lastModifiedBy>
  <cp:revision>383</cp:revision>
  <dcterms:modified xsi:type="dcterms:W3CDTF">2020-12-04T08:33:18Z</dcterms:modified>
</cp:coreProperties>
</file>