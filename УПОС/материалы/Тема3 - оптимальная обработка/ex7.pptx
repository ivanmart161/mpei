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65" r:id="rId1"/>
  </p:sldMasterIdLst>
  <p:sldIdLst>
    <p:sldId id="256" r:id="rId2"/>
    <p:sldId id="299" r:id="rId3"/>
    <p:sldId id="300" r:id="rId4"/>
    <p:sldId id="301" r:id="rId5"/>
    <p:sldId id="302" r:id="rId6"/>
    <p:sldId id="303" r:id="rId7"/>
    <p:sldId id="304" r:id="rId8"/>
    <p:sldId id="305" r:id="rId9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03" autoAdjust="0"/>
    <p:restoredTop sz="94626" autoAdjust="0"/>
  </p:normalViewPr>
  <p:slideViewPr>
    <p:cSldViewPr>
      <p:cViewPr varScale="1">
        <p:scale>
          <a:sx n="110" d="100"/>
          <a:sy n="110" d="100"/>
        </p:scale>
        <p:origin x="99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7" Type="http://schemas.openxmlformats.org/officeDocument/2006/relationships/image" Target="../media/image25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4.wmf"/><Relationship Id="rId5" Type="http://schemas.openxmlformats.org/officeDocument/2006/relationships/image" Target="../media/image17.wmf"/><Relationship Id="rId4" Type="http://schemas.openxmlformats.org/officeDocument/2006/relationships/image" Target="../media/image23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79" y="182879"/>
            <a:ext cx="8778240" cy="64922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0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rgbClr val="FFFFFF"/>
                </a:solidFill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D1236CE-E08B-4ACE-8556-FC699AD06E1D}" type="datetimeFigureOut">
              <a:rPr lang="ru-RU" smtClean="0"/>
              <a:pPr>
                <a:defRPr/>
              </a:pPr>
              <a:t>27.11.2023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544CB83-F5F4-410D-9AFF-E5C260936BB0}" type="slidenum">
              <a:rPr lang="ru-RU" altLang="en-US" smtClean="0"/>
              <a:pPr/>
              <a:t>‹#›</a:t>
            </a:fld>
            <a:endParaRPr lang="ru-RU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862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D1236CE-E08B-4ACE-8556-FC699AD06E1D}" type="datetimeFigureOut">
              <a:rPr lang="ru-RU" smtClean="0"/>
              <a:pPr>
                <a:defRPr/>
              </a:pPr>
              <a:t>27.11.2023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CB83-F5F4-410D-9AFF-E5C260936BB0}" type="slidenum">
              <a:rPr lang="ru-RU" altLang="en-US" smtClean="0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92065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000" b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D1236CE-E08B-4ACE-8556-FC699AD06E1D}" type="datetimeFigureOut">
              <a:rPr lang="ru-RU" smtClean="0"/>
              <a:pPr>
                <a:defRPr/>
              </a:pPr>
              <a:t>27.11.2023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CB83-F5F4-410D-9AFF-E5C260936BB0}" type="slidenum">
              <a:rPr lang="ru-RU" altLang="en-US" smtClean="0"/>
              <a:pPr/>
              <a:t>‹#›</a:t>
            </a:fld>
            <a:endParaRPr lang="ru-RU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9637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D1236CE-E08B-4ACE-8556-FC699AD06E1D}" type="datetimeFigureOut">
              <a:rPr lang="ru-RU" smtClean="0"/>
              <a:pPr>
                <a:defRPr/>
              </a:pPr>
              <a:t>27.11.2023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CB83-F5F4-410D-9AFF-E5C260936BB0}" type="slidenum">
              <a:rPr lang="ru-RU" altLang="en-US" smtClean="0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873885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D1236CE-E08B-4ACE-8556-FC699AD06E1D}" type="datetimeFigureOut">
              <a:rPr lang="ru-RU" smtClean="0"/>
              <a:pPr>
                <a:defRPr/>
              </a:pPr>
              <a:t>27.11.2023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CB83-F5F4-410D-9AFF-E5C260936BB0}" type="slidenum">
              <a:rPr lang="ru-RU" altLang="en-US" smtClean="0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617532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D1236CE-E08B-4ACE-8556-FC699AD06E1D}" type="datetimeFigureOut">
              <a:rPr lang="ru-RU" smtClean="0"/>
              <a:pPr>
                <a:defRPr/>
              </a:pPr>
              <a:t>27.11.2023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CB83-F5F4-410D-9AFF-E5C260936BB0}" type="slidenum">
              <a:rPr lang="ru-RU" altLang="en-US" smtClean="0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534254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D1236CE-E08B-4ACE-8556-FC699AD06E1D}" type="datetimeFigureOut">
              <a:rPr lang="ru-RU" smtClean="0"/>
              <a:pPr>
                <a:defRPr/>
              </a:pPr>
              <a:t>27.11.2023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CB83-F5F4-410D-9AFF-E5C260936BB0}" type="slidenum">
              <a:rPr lang="ru-RU" altLang="en-US" smtClean="0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687434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314" y="1097280"/>
            <a:ext cx="4149638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9260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D1236CE-E08B-4ACE-8556-FC699AD06E1D}" type="datetimeFigureOut">
              <a:rPr lang="ru-RU" smtClean="0"/>
              <a:pPr>
                <a:defRPr/>
              </a:pPr>
              <a:t>27.11.2023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CB83-F5F4-410D-9AFF-E5C260936BB0}" type="slidenum">
              <a:rPr lang="ru-RU" altLang="en-US" smtClean="0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048855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9107" y="1069847"/>
            <a:ext cx="4257703" cy="4645153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D1236CE-E08B-4ACE-8556-FC699AD06E1D}" type="datetimeFigureOut">
              <a:rPr lang="ru-RU" smtClean="0"/>
              <a:pPr>
                <a:defRPr/>
              </a:pPr>
              <a:t>27.11.2023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CB83-F5F4-410D-9AFF-E5C260936BB0}" type="slidenum">
              <a:rPr lang="ru-RU" altLang="en-US" smtClean="0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749488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D1236CE-E08B-4ACE-8556-FC699AD06E1D}" type="datetimeFigureOut">
              <a:rPr lang="ru-RU" smtClean="0"/>
              <a:pPr>
                <a:defRPr/>
              </a:pPr>
              <a:t>27.11.2023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CB83-F5F4-410D-9AFF-E5C260936BB0}" type="slidenum">
              <a:rPr lang="ru-RU" altLang="en-US" smtClean="0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278172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D1236CE-E08B-4ACE-8556-FC699AD06E1D}" type="datetimeFigureOut">
              <a:rPr lang="ru-RU" smtClean="0"/>
              <a:pPr>
                <a:defRPr/>
              </a:pPr>
              <a:t>27.11.2023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CB83-F5F4-410D-9AFF-E5C260936BB0}" type="slidenum">
              <a:rPr lang="ru-RU" altLang="en-US" smtClean="0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854917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7D1236CE-E08B-4ACE-8556-FC699AD06E1D}" type="datetimeFigureOut">
              <a:rPr lang="ru-RU" smtClean="0"/>
              <a:pPr>
                <a:defRPr/>
              </a:pPr>
              <a:t>27.11.2023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E544CB83-F5F4-410D-9AFF-E5C260936BB0}" type="slidenum">
              <a:rPr lang="ru-RU" altLang="en-US" smtClean="0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4271054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6" r:id="rId1"/>
    <p:sldLayoutId id="2147484167" r:id="rId2"/>
    <p:sldLayoutId id="2147484168" r:id="rId3"/>
    <p:sldLayoutId id="2147484169" r:id="rId4"/>
    <p:sldLayoutId id="2147484170" r:id="rId5"/>
    <p:sldLayoutId id="2147484171" r:id="rId6"/>
    <p:sldLayoutId id="2147484172" r:id="rId7"/>
    <p:sldLayoutId id="2147484173" r:id="rId8"/>
    <p:sldLayoutId id="2147484174" r:id="rId9"/>
    <p:sldLayoutId id="2147484175" r:id="rId10"/>
    <p:sldLayoutId id="214748417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2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1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3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5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7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5.wmf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image" Target="../media/image14.png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3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1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19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6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23.bin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5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5" Type="http://schemas.openxmlformats.org/officeDocument/2006/relationships/oleObject" Target="../embeddings/oleObject24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2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oleObject" Target="../embeddings/oleObject25.bin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6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Основы оптимального приема </a:t>
            </a:r>
            <a:r>
              <a:rPr lang="ru-RU" dirty="0" smtClean="0"/>
              <a:t>сигналов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3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3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251520" y="188640"/>
            <a:ext cx="8892480" cy="936104"/>
          </a:xfrm>
          <a:prstGeom prst="rect">
            <a:avLst/>
          </a:prstGeom>
        </p:spPr>
        <p:txBody>
          <a:bodyPr anchor="ctr">
            <a:normAutofit fontScale="25000" lnSpcReduction="20000"/>
          </a:bodyPr>
          <a:lstStyle/>
          <a:p>
            <a:pPr eaLnBrk="0" hangingPunct="0">
              <a:lnSpc>
                <a:spcPct val="150000"/>
              </a:lnSpc>
              <a:defRPr/>
            </a:pPr>
            <a:r>
              <a:rPr lang="ru-RU" sz="8600" cap="all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Критерий максимума </a:t>
            </a:r>
            <a:r>
              <a:rPr lang="ru-RU" sz="8600" cap="all" dirty="0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  <a:latin typeface="+mj-lt"/>
                <a:ea typeface="+mj-ea"/>
                <a:cs typeface="+mj-cs"/>
              </a:rPr>
              <a:t>апостериорной плотности вероятностей  </a:t>
            </a:r>
            <a:endParaRPr lang="ru-RU" sz="4300" cap="all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3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" name="Прямоугольник 29"/>
          <p:cNvSpPr/>
          <p:nvPr/>
        </p:nvSpPr>
        <p:spPr>
          <a:xfrm>
            <a:off x="395536" y="1196752"/>
            <a:ext cx="8496944" cy="4608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graphicFrame>
        <p:nvGraphicFramePr>
          <p:cNvPr id="1026" name="Object 7"/>
          <p:cNvGraphicFramePr>
            <a:graphicFrameLocks noChangeAspect="1"/>
          </p:cNvGraphicFramePr>
          <p:nvPr/>
        </p:nvGraphicFramePr>
        <p:xfrm>
          <a:off x="2268538" y="1268413"/>
          <a:ext cx="40322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Equation" r:id="rId3" imgW="2400120" imgH="266400" progId="Equation.DSMT4">
                  <p:embed/>
                </p:oleObj>
              </mc:Choice>
              <mc:Fallback>
                <p:oleObj name="Equation" r:id="rId3" imgW="2400120" imgH="266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1268413"/>
                        <a:ext cx="403225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8"/>
          <p:cNvGraphicFramePr>
            <a:graphicFrameLocks noChangeAspect="1"/>
          </p:cNvGraphicFramePr>
          <p:nvPr/>
        </p:nvGraphicFramePr>
        <p:xfrm>
          <a:off x="1619250" y="1773238"/>
          <a:ext cx="5586413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" name="Equation" r:id="rId5" imgW="3644640" imgH="469800" progId="Equation.DSMT4">
                  <p:embed/>
                </p:oleObj>
              </mc:Choice>
              <mc:Fallback>
                <p:oleObj name="Equation" r:id="rId5" imgW="3644640" imgH="469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773238"/>
                        <a:ext cx="5586413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3" name="Прямая со стрелкой 32"/>
          <p:cNvCxnSpPr/>
          <p:nvPr/>
        </p:nvCxnSpPr>
        <p:spPr>
          <a:xfrm>
            <a:off x="2699792" y="1772816"/>
            <a:ext cx="360040" cy="6480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/>
          <p:nvPr/>
        </p:nvCxnSpPr>
        <p:spPr>
          <a:xfrm>
            <a:off x="7740352" y="3212976"/>
            <a:ext cx="360040" cy="720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41" name="TextBox 35"/>
          <p:cNvSpPr txBox="1">
            <a:spLocks noChangeArrowheads="1"/>
          </p:cNvSpPr>
          <p:nvPr/>
        </p:nvSpPr>
        <p:spPr bwMode="auto">
          <a:xfrm>
            <a:off x="3059113" y="2420938"/>
            <a:ext cx="314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en-US"/>
              <a:t>0</a:t>
            </a:r>
          </a:p>
        </p:txBody>
      </p:sp>
      <p:sp>
        <p:nvSpPr>
          <p:cNvPr id="1042" name="TextBox 36"/>
          <p:cNvSpPr txBox="1">
            <a:spLocks noChangeArrowheads="1"/>
          </p:cNvSpPr>
          <p:nvPr/>
        </p:nvSpPr>
        <p:spPr bwMode="auto">
          <a:xfrm>
            <a:off x="7092950" y="2420938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en-US"/>
              <a:t>0</a:t>
            </a:r>
          </a:p>
        </p:txBody>
      </p:sp>
      <p:sp>
        <p:nvSpPr>
          <p:cNvPr id="1043" name="TextBox 37"/>
          <p:cNvSpPr txBox="1">
            <a:spLocks noChangeArrowheads="1"/>
          </p:cNvSpPr>
          <p:nvPr/>
        </p:nvSpPr>
        <p:spPr bwMode="auto">
          <a:xfrm>
            <a:off x="1835150" y="2708275"/>
            <a:ext cx="67564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en-US" sz="1600">
                <a:solidFill>
                  <a:schemeClr val="tx2"/>
                </a:solidFill>
              </a:rPr>
              <a:t>При равномерном априорном распределении в интервале </a:t>
            </a:r>
            <a:r>
              <a:rPr lang="en-US" altLang="en-US" sz="1600">
                <a:solidFill>
                  <a:schemeClr val="tx2"/>
                </a:solidFill>
              </a:rPr>
              <a:t>[</a:t>
            </a:r>
            <a:r>
              <a:rPr lang="el-GR" altLang="en-US" sz="1600">
                <a:solidFill>
                  <a:schemeClr val="tx2"/>
                </a:solidFill>
              </a:rPr>
              <a:t>λ</a:t>
            </a:r>
            <a:r>
              <a:rPr lang="en-US" altLang="en-US" sz="1600" baseline="-25000">
                <a:solidFill>
                  <a:schemeClr val="tx2"/>
                </a:solidFill>
              </a:rPr>
              <a:t>min</a:t>
            </a:r>
            <a:r>
              <a:rPr lang="en-US" altLang="en-US" sz="1600">
                <a:solidFill>
                  <a:schemeClr val="tx2"/>
                </a:solidFill>
              </a:rPr>
              <a:t>, </a:t>
            </a:r>
            <a:r>
              <a:rPr lang="el-GR" altLang="en-US" sz="1600">
                <a:solidFill>
                  <a:schemeClr val="tx2"/>
                </a:solidFill>
              </a:rPr>
              <a:t>λ</a:t>
            </a:r>
            <a:r>
              <a:rPr lang="en-US" altLang="en-US" sz="1600" baseline="-25000">
                <a:solidFill>
                  <a:schemeClr val="tx2"/>
                </a:solidFill>
              </a:rPr>
              <a:t>max</a:t>
            </a:r>
            <a:r>
              <a:rPr lang="en-US" altLang="en-US" sz="1600">
                <a:solidFill>
                  <a:schemeClr val="tx2"/>
                </a:solidFill>
              </a:rPr>
              <a:t>]</a:t>
            </a:r>
            <a:endParaRPr lang="ru-RU" altLang="en-US" sz="1600">
              <a:solidFill>
                <a:schemeClr val="tx2"/>
              </a:solidFill>
            </a:endParaRPr>
          </a:p>
        </p:txBody>
      </p:sp>
      <p:graphicFrame>
        <p:nvGraphicFramePr>
          <p:cNvPr id="1028" name="Object 9"/>
          <p:cNvGraphicFramePr>
            <a:graphicFrameLocks noChangeAspect="1"/>
          </p:cNvGraphicFramePr>
          <p:nvPr/>
        </p:nvGraphicFramePr>
        <p:xfrm>
          <a:off x="900113" y="3141663"/>
          <a:ext cx="74961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" name="Equation" r:id="rId7" imgW="4178160" imgH="482400" progId="Equation.DSMT4">
                  <p:embed/>
                </p:oleObj>
              </mc:Choice>
              <mc:Fallback>
                <p:oleObj name="Equation" r:id="rId7" imgW="4178160" imgH="4824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141663"/>
                        <a:ext cx="749617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9" name="Прямая со стрелкой 38"/>
          <p:cNvCxnSpPr/>
          <p:nvPr/>
        </p:nvCxnSpPr>
        <p:spPr>
          <a:xfrm>
            <a:off x="6812632" y="1925216"/>
            <a:ext cx="360040" cy="720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45" name="TextBox 39"/>
          <p:cNvSpPr txBox="1">
            <a:spLocks noChangeArrowheads="1"/>
          </p:cNvSpPr>
          <p:nvPr/>
        </p:nvSpPr>
        <p:spPr bwMode="auto">
          <a:xfrm>
            <a:off x="8172450" y="3933825"/>
            <a:ext cx="312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en-US"/>
              <a:t>0</a:t>
            </a:r>
          </a:p>
        </p:txBody>
      </p:sp>
      <p:sp>
        <p:nvSpPr>
          <p:cNvPr id="1046" name="TextBox 40"/>
          <p:cNvSpPr txBox="1">
            <a:spLocks noChangeArrowheads="1"/>
          </p:cNvSpPr>
          <p:nvPr/>
        </p:nvSpPr>
        <p:spPr bwMode="auto">
          <a:xfrm>
            <a:off x="7092950" y="4221163"/>
            <a:ext cx="1768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en-US" sz="1600">
                <a:solidFill>
                  <a:schemeClr val="tx2"/>
                </a:solidFill>
              </a:rPr>
              <a:t>Если </a:t>
            </a:r>
            <a:r>
              <a:rPr lang="ru-RU" altLang="en-US" sz="1600" i="1">
                <a:solidFill>
                  <a:schemeClr val="tx2"/>
                </a:solidFill>
              </a:rPr>
              <a:t>Е</a:t>
            </a:r>
            <a:r>
              <a:rPr lang="ru-RU" altLang="en-US" sz="1600" i="1" baseline="-25000">
                <a:solidFill>
                  <a:schemeClr val="tx2"/>
                </a:solidFill>
              </a:rPr>
              <a:t>с</a:t>
            </a:r>
            <a:r>
              <a:rPr lang="ru-RU" altLang="en-US" sz="1600" i="1">
                <a:solidFill>
                  <a:schemeClr val="tx2"/>
                </a:solidFill>
              </a:rPr>
              <a:t>(</a:t>
            </a:r>
            <a:r>
              <a:rPr lang="el-GR" altLang="en-US" sz="1600" i="1">
                <a:solidFill>
                  <a:schemeClr val="tx2"/>
                </a:solidFill>
              </a:rPr>
              <a:t>λ</a:t>
            </a:r>
            <a:r>
              <a:rPr lang="ru-RU" altLang="en-US" sz="1600" i="1">
                <a:solidFill>
                  <a:schemeClr val="tx2"/>
                </a:solidFill>
              </a:rPr>
              <a:t>)=</a:t>
            </a:r>
            <a:r>
              <a:rPr lang="en-US" altLang="en-US" sz="1600" i="1">
                <a:solidFill>
                  <a:schemeClr val="tx2"/>
                </a:solidFill>
              </a:rPr>
              <a:t>const</a:t>
            </a:r>
            <a:endParaRPr lang="ru-RU" altLang="en-US" sz="1600" i="1">
              <a:solidFill>
                <a:schemeClr val="tx2"/>
              </a:solidFill>
            </a:endParaRPr>
          </a:p>
        </p:txBody>
      </p:sp>
      <p:graphicFrame>
        <p:nvGraphicFramePr>
          <p:cNvPr id="1029" name="Object 10"/>
          <p:cNvGraphicFramePr>
            <a:graphicFrameLocks noChangeAspect="1"/>
          </p:cNvGraphicFramePr>
          <p:nvPr/>
        </p:nvGraphicFramePr>
        <p:xfrm>
          <a:off x="3419475" y="4437063"/>
          <a:ext cx="2049463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" name="Equation" r:id="rId9" imgW="1143000" imgH="355320" progId="Equation.DSMT4">
                  <p:embed/>
                </p:oleObj>
              </mc:Choice>
              <mc:Fallback>
                <p:oleObj name="Equation" r:id="rId9" imgW="1143000" imgH="35532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4437063"/>
                        <a:ext cx="2049463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5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5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323850" y="476250"/>
            <a:ext cx="8820150" cy="649288"/>
          </a:xfrm>
          <a:prstGeom prst="rect">
            <a:avLst/>
          </a:prstGeom>
        </p:spPr>
        <p:txBody>
          <a:bodyPr anchor="ctr"/>
          <a:lstStyle/>
          <a:p>
            <a:pPr>
              <a:defRPr/>
            </a:pPr>
            <a:r>
              <a:rPr lang="ru-RU" sz="4000" dirty="0" smtClean="0">
                <a:solidFill>
                  <a:schemeClr val="tx2"/>
                </a:solidFill>
                <a:latin typeface="+mj-lt"/>
              </a:rPr>
              <a:t>ЗАДАЧА</a:t>
            </a:r>
            <a:r>
              <a:rPr lang="en-US" sz="4000" dirty="0" smtClean="0">
                <a:solidFill>
                  <a:schemeClr val="tx2"/>
                </a:solidFill>
                <a:latin typeface="+mj-lt"/>
              </a:rPr>
              <a:t> 4</a:t>
            </a:r>
            <a:endParaRPr lang="ru-RU" sz="40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" name="Прямоугольник 23"/>
          <p:cNvSpPr/>
          <p:nvPr/>
        </p:nvSpPr>
        <p:spPr>
          <a:xfrm>
            <a:off x="179512" y="1124744"/>
            <a:ext cx="8964488" cy="15841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062" name="TextBox 22"/>
          <p:cNvSpPr txBox="1">
            <a:spLocks noChangeArrowheads="1"/>
          </p:cNvSpPr>
          <p:nvPr/>
        </p:nvSpPr>
        <p:spPr bwMode="auto">
          <a:xfrm>
            <a:off x="179388" y="1125538"/>
            <a:ext cx="8785225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en-US" sz="1600" dirty="0"/>
              <a:t>На основе выражения для логарифма апостериорной плотности вероятности изобразить структурную схему оптимального приёмника для измерения длительности прямоугольного видеоимпульса при равномерном априорном распределении в интервале [Т</a:t>
            </a:r>
            <a:r>
              <a:rPr lang="ru-RU" altLang="en-US" sz="1600" baseline="-25000" dirty="0"/>
              <a:t>с min</a:t>
            </a:r>
            <a:r>
              <a:rPr lang="ru-RU" altLang="en-US" sz="1600" i="1" dirty="0"/>
              <a:t>,T</a:t>
            </a:r>
            <a:r>
              <a:rPr lang="ru-RU" altLang="en-US" sz="1600" baseline="-25000" dirty="0"/>
              <a:t>с max</a:t>
            </a:r>
            <a:r>
              <a:rPr lang="en-US" altLang="en-US" sz="1600" dirty="0"/>
              <a:t>]</a:t>
            </a:r>
            <a:r>
              <a:rPr lang="ru-RU" altLang="en-US" sz="1600" i="1" dirty="0"/>
              <a:t>. </a:t>
            </a:r>
            <a:r>
              <a:rPr lang="ru-RU" altLang="en-US" sz="1600" dirty="0"/>
              <a:t>Изобразить зависимость напряжения на выходе одного из каналов корреляционного приёмника от длительности импульса опорного колебания</a:t>
            </a:r>
            <a:r>
              <a:rPr lang="en-US" altLang="en-US" sz="1600" dirty="0"/>
              <a:t> </a:t>
            </a:r>
            <a:r>
              <a:rPr lang="ru-RU" altLang="en-US" sz="1600" dirty="0"/>
              <a:t>(в отсутствие шума).</a:t>
            </a:r>
          </a:p>
        </p:txBody>
      </p:sp>
      <p:graphicFrame>
        <p:nvGraphicFramePr>
          <p:cNvPr id="2050" name="Object 29"/>
          <p:cNvGraphicFramePr>
            <a:graphicFrameLocks noChangeAspect="1"/>
          </p:cNvGraphicFramePr>
          <p:nvPr/>
        </p:nvGraphicFramePr>
        <p:xfrm>
          <a:off x="4284663" y="2636838"/>
          <a:ext cx="169227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" name="Equation" r:id="rId3" imgW="1117440" imgH="241200" progId="Equation.DSMT4">
                  <p:embed/>
                </p:oleObj>
              </mc:Choice>
              <mc:Fallback>
                <p:oleObj name="Equation" r:id="rId3" imgW="1117440" imgH="2412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2636838"/>
                        <a:ext cx="1692275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3" name="TextBox 25"/>
          <p:cNvSpPr txBox="1">
            <a:spLocks noChangeArrowheads="1"/>
          </p:cNvSpPr>
          <p:nvPr/>
        </p:nvSpPr>
        <p:spPr bwMode="auto">
          <a:xfrm>
            <a:off x="179388" y="2649538"/>
            <a:ext cx="41640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en-US" sz="1600"/>
              <a:t>энергия прямоугольного видеоимпульса -</a:t>
            </a:r>
          </a:p>
        </p:txBody>
      </p:sp>
      <p:sp>
        <p:nvSpPr>
          <p:cNvPr id="2064" name="TextBox 27"/>
          <p:cNvSpPr txBox="1">
            <a:spLocks noChangeArrowheads="1"/>
          </p:cNvSpPr>
          <p:nvPr/>
        </p:nvSpPr>
        <p:spPr bwMode="auto">
          <a:xfrm>
            <a:off x="6084888" y="2649538"/>
            <a:ext cx="28003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en-US" sz="1600"/>
              <a:t>– энергетический параметр</a:t>
            </a:r>
          </a:p>
        </p:txBody>
      </p:sp>
      <p:graphicFrame>
        <p:nvGraphicFramePr>
          <p:cNvPr id="2051" name="Object 8"/>
          <p:cNvGraphicFramePr>
            <a:graphicFrameLocks noChangeAspect="1"/>
          </p:cNvGraphicFramePr>
          <p:nvPr/>
        </p:nvGraphicFramePr>
        <p:xfrm>
          <a:off x="179388" y="2924175"/>
          <a:ext cx="5276850" cy="1477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" name="Equation" r:id="rId5" imgW="3441600" imgH="965160" progId="Equation.DSMT4">
                  <p:embed/>
                </p:oleObj>
              </mc:Choice>
              <mc:Fallback>
                <p:oleObj name="Equation" r:id="rId5" imgW="3441600" imgH="96516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2924175"/>
                        <a:ext cx="5276850" cy="1477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9" name="Прямая со стрелкой 28"/>
          <p:cNvCxnSpPr/>
          <p:nvPr/>
        </p:nvCxnSpPr>
        <p:spPr>
          <a:xfrm>
            <a:off x="1547664" y="3284984"/>
            <a:ext cx="216024" cy="360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/>
          <p:nvPr/>
        </p:nvCxnSpPr>
        <p:spPr>
          <a:xfrm>
            <a:off x="4499992" y="2996952"/>
            <a:ext cx="216024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211638" y="3429000"/>
            <a:ext cx="676275" cy="338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 i="1" dirty="0">
                <a:solidFill>
                  <a:schemeClr val="accent5">
                    <a:lumMod val="75000"/>
                  </a:schemeClr>
                </a:solidFill>
                <a:latin typeface="Arial" charset="0"/>
              </a:rPr>
              <a:t>const</a:t>
            </a:r>
            <a:endParaRPr lang="ru-RU" sz="1600" i="1" dirty="0">
              <a:solidFill>
                <a:schemeClr val="accent5">
                  <a:lumMod val="75000"/>
                </a:schemeClr>
              </a:solidFill>
              <a:latin typeface="Arial" charset="0"/>
            </a:endParaRPr>
          </a:p>
        </p:txBody>
      </p:sp>
      <p:sp>
        <p:nvSpPr>
          <p:cNvPr id="38" name="Прямоугольник 37"/>
          <p:cNvSpPr/>
          <p:nvPr/>
        </p:nvSpPr>
        <p:spPr>
          <a:xfrm>
            <a:off x="0" y="4509120"/>
            <a:ext cx="4499992" cy="234888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graphicFrame>
        <p:nvGraphicFramePr>
          <p:cNvPr id="2052" name="Object 9"/>
          <p:cNvGraphicFramePr>
            <a:graphicFrameLocks noChangeAspect="1"/>
          </p:cNvGraphicFramePr>
          <p:nvPr/>
        </p:nvGraphicFramePr>
        <p:xfrm>
          <a:off x="179388" y="4581525"/>
          <a:ext cx="4135437" cy="210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" name="Equation" r:id="rId7" imgW="2361960" imgH="1206360" progId="Equation.DSMT4">
                  <p:embed/>
                </p:oleObj>
              </mc:Choice>
              <mc:Fallback>
                <p:oleObj name="Equation" r:id="rId7" imgW="2361960" imgH="120636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4581525"/>
                        <a:ext cx="4135437" cy="210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05" name="Picture 33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4967288" y="3500438"/>
            <a:ext cx="3971925" cy="3168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8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8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8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323850" y="476250"/>
            <a:ext cx="8820150" cy="649288"/>
          </a:xfrm>
          <a:prstGeom prst="rect">
            <a:avLst/>
          </a:prstGeom>
        </p:spPr>
        <p:txBody>
          <a:bodyPr anchor="ctr"/>
          <a:lstStyle/>
          <a:p>
            <a:pPr>
              <a:defRPr/>
            </a:pPr>
            <a:r>
              <a:rPr lang="ru-RU" sz="4000" dirty="0">
                <a:solidFill>
                  <a:schemeClr val="tx2"/>
                </a:solidFill>
                <a:latin typeface="+mj-lt"/>
              </a:rPr>
              <a:t>ЗАДАЧА </a:t>
            </a:r>
            <a:r>
              <a:rPr lang="en-US" sz="4000" dirty="0" smtClean="0">
                <a:solidFill>
                  <a:schemeClr val="tx2"/>
                </a:solidFill>
                <a:latin typeface="+mj-lt"/>
              </a:rPr>
              <a:t>4</a:t>
            </a:r>
            <a:endParaRPr lang="ru-RU" sz="40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8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3074" name="Object 9"/>
          <p:cNvGraphicFramePr>
            <a:graphicFrameLocks noChangeAspect="1"/>
          </p:cNvGraphicFramePr>
          <p:nvPr/>
        </p:nvGraphicFramePr>
        <p:xfrm>
          <a:off x="179388" y="1125538"/>
          <a:ext cx="3490912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Equation" r:id="rId3" imgW="1993680" imgH="482400" progId="Equation.DSMT4">
                  <p:embed/>
                </p:oleObj>
              </mc:Choice>
              <mc:Fallback>
                <p:oleObj name="Equation" r:id="rId3" imgW="1993680" imgH="4824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125538"/>
                        <a:ext cx="3490912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6"/>
          <p:cNvGraphicFramePr>
            <a:graphicFrameLocks noChangeAspect="1"/>
          </p:cNvGraphicFramePr>
          <p:nvPr/>
        </p:nvGraphicFramePr>
        <p:xfrm>
          <a:off x="179388" y="1989138"/>
          <a:ext cx="1512887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Equation" r:id="rId5" imgW="799920" imgH="266400" progId="Equation.DSMT4">
                  <p:embed/>
                </p:oleObj>
              </mc:Choice>
              <mc:Fallback>
                <p:oleObj name="Equation" r:id="rId5" imgW="799920" imgH="266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989138"/>
                        <a:ext cx="1512887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5" name="TextBox 21"/>
          <p:cNvSpPr txBox="1">
            <a:spLocks noChangeArrowheads="1"/>
          </p:cNvSpPr>
          <p:nvPr/>
        </p:nvSpPr>
        <p:spPr bwMode="auto">
          <a:xfrm>
            <a:off x="1692275" y="2060575"/>
            <a:ext cx="20891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en-US" sz="1600"/>
              <a:t>- в отсутствие шума</a:t>
            </a:r>
          </a:p>
        </p:txBody>
      </p:sp>
      <p:graphicFrame>
        <p:nvGraphicFramePr>
          <p:cNvPr id="307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5858737"/>
              </p:ext>
            </p:extLst>
          </p:nvPr>
        </p:nvGraphicFramePr>
        <p:xfrm>
          <a:off x="187974" y="2586037"/>
          <a:ext cx="5514975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Equation" r:id="rId7" imgW="3149280" imgH="482400" progId="Equation.DSMT4">
                  <p:embed/>
                </p:oleObj>
              </mc:Choice>
              <mc:Fallback>
                <p:oleObj name="Equation" r:id="rId7" imgW="3149280" imgH="482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74" y="2586037"/>
                        <a:ext cx="5514975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8"/>
          <p:cNvGraphicFramePr>
            <a:graphicFrameLocks noChangeAspect="1"/>
          </p:cNvGraphicFramePr>
          <p:nvPr/>
        </p:nvGraphicFramePr>
        <p:xfrm>
          <a:off x="179388" y="3429000"/>
          <a:ext cx="4999037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Equation" r:id="rId9" imgW="2984400" imgH="558720" progId="Equation.DSMT4">
                  <p:embed/>
                </p:oleObj>
              </mc:Choice>
              <mc:Fallback>
                <p:oleObj name="Equation" r:id="rId9" imgW="2984400" imgH="55872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3429000"/>
                        <a:ext cx="4999037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8" name="Object 9"/>
          <p:cNvGraphicFramePr>
            <a:graphicFrameLocks noChangeAspect="1"/>
          </p:cNvGraphicFramePr>
          <p:nvPr/>
        </p:nvGraphicFramePr>
        <p:xfrm>
          <a:off x="179388" y="4581525"/>
          <a:ext cx="17970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Equation" r:id="rId11" imgW="1002960" imgH="241200" progId="Equation.DSMT4">
                  <p:embed/>
                </p:oleObj>
              </mc:Choice>
              <mc:Fallback>
                <p:oleObj name="Equation" r:id="rId11" imgW="1002960" imgH="24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4581525"/>
                        <a:ext cx="17970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8682" name="Picture 10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6011863" y="1268413"/>
            <a:ext cx="2800350" cy="45767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10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10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10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323528" y="0"/>
            <a:ext cx="8820472" cy="1053530"/>
          </a:xfrm>
          <a:prstGeom prst="rect">
            <a:avLst/>
          </a:prstGeom>
        </p:spPr>
        <p:txBody>
          <a:bodyPr anchor="ctr"/>
          <a:lstStyle/>
          <a:p>
            <a:pPr>
              <a:defRPr/>
            </a:pPr>
            <a:r>
              <a:rPr lang="ru-RU" sz="2800" dirty="0">
                <a:solidFill>
                  <a:schemeClr val="tx2"/>
                </a:solidFill>
                <a:latin typeface="+mj-lt"/>
              </a:rPr>
              <a:t>ОЦЕНИВАНИЕ ПАРАМЕТРА </a:t>
            </a:r>
          </a:p>
          <a:p>
            <a:pPr>
              <a:defRPr/>
            </a:pPr>
            <a:r>
              <a:rPr lang="ru-RU" sz="2400" dirty="0">
                <a:solidFill>
                  <a:schemeClr val="tx2"/>
                </a:solidFill>
                <a:effectLst>
                  <a:reflection blurRad="6350" stA="55000" endA="300" endPos="45500" dir="5400000" sy="-100000" algn="bl" rotWithShape="0"/>
                </a:effectLst>
                <a:latin typeface="+mj-lt"/>
              </a:rPr>
              <a:t>РАДИОСИГНАЛА С НЕИЗВЕСТНОЙ НАЧАЛЬНОЙ ФАЗОЙ </a:t>
            </a:r>
            <a:r>
              <a:rPr lang="en-US" sz="2400" dirty="0">
                <a:solidFill>
                  <a:schemeClr val="tx2"/>
                </a:solidFill>
                <a:effectLst>
                  <a:reflection blurRad="6350" stA="55000" endA="300" endPos="45500" dir="5400000" sy="-100000" algn="bl" rotWithShape="0"/>
                </a:effectLst>
                <a:latin typeface="+mj-lt"/>
              </a:rPr>
              <a:t>φ</a:t>
            </a:r>
            <a:endParaRPr lang="ru-RU" sz="2400" dirty="0">
              <a:solidFill>
                <a:schemeClr val="tx2"/>
              </a:solidFill>
              <a:effectLst>
                <a:reflection blurRad="6350" stA="55000" endA="300" endPos="45500" dir="5400000" sy="-100000" algn="bl" rotWithShape="0"/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410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" name="Прямоугольник 15"/>
          <p:cNvSpPr/>
          <p:nvPr/>
        </p:nvSpPr>
        <p:spPr>
          <a:xfrm>
            <a:off x="251768" y="1053083"/>
            <a:ext cx="8568952" cy="50370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112" name="TextBox 13"/>
          <p:cNvSpPr txBox="1">
            <a:spLocks noChangeArrowheads="1"/>
          </p:cNvSpPr>
          <p:nvPr/>
        </p:nvSpPr>
        <p:spPr bwMode="auto">
          <a:xfrm>
            <a:off x="323850" y="1125538"/>
            <a:ext cx="8424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en-US" sz="1600"/>
              <a:t> Сигнал:</a:t>
            </a:r>
          </a:p>
        </p:txBody>
      </p:sp>
      <p:graphicFrame>
        <p:nvGraphicFramePr>
          <p:cNvPr id="4098" name="Object 13"/>
          <p:cNvGraphicFramePr>
            <a:graphicFrameLocks noChangeAspect="1"/>
          </p:cNvGraphicFramePr>
          <p:nvPr/>
        </p:nvGraphicFramePr>
        <p:xfrm>
          <a:off x="2268538" y="1125538"/>
          <a:ext cx="352107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2" name="Equation" r:id="rId3" imgW="2234880" imgH="228600" progId="Equation.DSMT4">
                  <p:embed/>
                </p:oleObj>
              </mc:Choice>
              <mc:Fallback>
                <p:oleObj name="Equation" r:id="rId3" imgW="223488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1125538"/>
                        <a:ext cx="3521075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3" name="Прямоугольник 18"/>
          <p:cNvSpPr>
            <a:spLocks noChangeArrowheads="1"/>
          </p:cNvSpPr>
          <p:nvPr/>
        </p:nvSpPr>
        <p:spPr bwMode="auto">
          <a:xfrm>
            <a:off x="179388" y="1557338"/>
            <a:ext cx="8785225" cy="132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en-US" sz="1600"/>
              <a:t>оптимальный приёмник в каждом канале содержит два квадратурных подканала, опорные колебания которых сдвинуты по фазе на </a:t>
            </a:r>
            <a:r>
              <a:rPr lang="el-GR" altLang="en-US" sz="1600"/>
              <a:t>π</a:t>
            </a:r>
            <a:r>
              <a:rPr lang="ru-RU" altLang="en-US" sz="1600"/>
              <a:t>/2 . Алгоритм оптимального оценивания информационного параметра λ основан на усреднении апостериорной плотности вероятности по сопутствующему параметру φ, для которого принимается равномерное распределение вероятностей в интервале [0, 2</a:t>
            </a:r>
            <a:r>
              <a:rPr lang="el-GR" altLang="en-US" sz="1600"/>
              <a:t>π</a:t>
            </a:r>
            <a:r>
              <a:rPr lang="ru-RU" altLang="en-US" sz="1600"/>
              <a:t>]</a:t>
            </a:r>
          </a:p>
        </p:txBody>
      </p:sp>
      <p:sp>
        <p:nvSpPr>
          <p:cNvPr id="25" name="Прямоугольник 24"/>
          <p:cNvSpPr/>
          <p:nvPr/>
        </p:nvSpPr>
        <p:spPr>
          <a:xfrm>
            <a:off x="251520" y="2852936"/>
            <a:ext cx="8568952" cy="331236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graphicFrame>
        <p:nvGraphicFramePr>
          <p:cNvPr id="4099" name="Object 8"/>
          <p:cNvGraphicFramePr>
            <a:graphicFrameLocks noChangeAspect="1"/>
          </p:cNvGraphicFramePr>
          <p:nvPr/>
        </p:nvGraphicFramePr>
        <p:xfrm>
          <a:off x="1619250" y="2852738"/>
          <a:ext cx="524510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3" name="Equation" r:id="rId5" imgW="3225600" imgH="482400" progId="Equation.DSMT4">
                  <p:embed/>
                </p:oleObj>
              </mc:Choice>
              <mc:Fallback>
                <p:oleObj name="Equation" r:id="rId5" imgW="3225600" imgH="482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852738"/>
                        <a:ext cx="5245100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9"/>
          <p:cNvGraphicFramePr>
            <a:graphicFrameLocks noChangeAspect="1"/>
          </p:cNvGraphicFramePr>
          <p:nvPr/>
        </p:nvGraphicFramePr>
        <p:xfrm>
          <a:off x="250825" y="3716338"/>
          <a:ext cx="249555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4" name="Equation" r:id="rId7" imgW="1612800" imgH="279360" progId="Equation.DSMT4">
                  <p:embed/>
                </p:oleObj>
              </mc:Choice>
              <mc:Fallback>
                <p:oleObj name="Equation" r:id="rId7" imgW="1612800" imgH="27936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716338"/>
                        <a:ext cx="2495550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10"/>
          <p:cNvGraphicFramePr>
            <a:graphicFrameLocks noChangeAspect="1"/>
          </p:cNvGraphicFramePr>
          <p:nvPr/>
        </p:nvGraphicFramePr>
        <p:xfrm>
          <a:off x="1619250" y="4149725"/>
          <a:ext cx="3673475" cy="138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" name="Equation" r:id="rId9" imgW="2552400" imgH="965160" progId="Equation.DSMT4">
                  <p:embed/>
                </p:oleObj>
              </mc:Choice>
              <mc:Fallback>
                <p:oleObj name="Equation" r:id="rId9" imgW="2552400" imgH="96516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149725"/>
                        <a:ext cx="3673475" cy="1387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14"/>
          <p:cNvGraphicFramePr>
            <a:graphicFrameLocks noChangeAspect="1"/>
          </p:cNvGraphicFramePr>
          <p:nvPr/>
        </p:nvGraphicFramePr>
        <p:xfrm>
          <a:off x="3086100" y="5516563"/>
          <a:ext cx="252253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6" name="Equation" r:id="rId11" imgW="1333440" imgH="266400" progId="Equation.DSMT4">
                  <p:embed/>
                </p:oleObj>
              </mc:Choice>
              <mc:Fallback>
                <p:oleObj name="Equation" r:id="rId11" imgW="1333440" imgH="2664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6100" y="5516563"/>
                        <a:ext cx="2522538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9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3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3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3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3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" name="Прямоугольник 15"/>
          <p:cNvSpPr/>
          <p:nvPr/>
        </p:nvSpPr>
        <p:spPr>
          <a:xfrm>
            <a:off x="0" y="1053083"/>
            <a:ext cx="9144000" cy="122378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0" name="Заголовок 1"/>
          <p:cNvSpPr txBox="1">
            <a:spLocks/>
          </p:cNvSpPr>
          <p:nvPr/>
        </p:nvSpPr>
        <p:spPr>
          <a:xfrm>
            <a:off x="323850" y="476250"/>
            <a:ext cx="8820150" cy="649288"/>
          </a:xfrm>
          <a:prstGeom prst="rect">
            <a:avLst/>
          </a:prstGeom>
        </p:spPr>
        <p:txBody>
          <a:bodyPr anchor="ctr"/>
          <a:lstStyle/>
          <a:p>
            <a:pPr>
              <a:defRPr/>
            </a:pPr>
            <a:r>
              <a:rPr lang="ru-RU" sz="4000" dirty="0">
                <a:solidFill>
                  <a:schemeClr val="tx2"/>
                </a:solidFill>
                <a:latin typeface="+mj-lt"/>
              </a:rPr>
              <a:t>ЗАДАЧА </a:t>
            </a:r>
            <a:r>
              <a:rPr lang="en-US" sz="4000" dirty="0">
                <a:solidFill>
                  <a:schemeClr val="tx2"/>
                </a:solidFill>
                <a:latin typeface="+mj-lt"/>
              </a:rPr>
              <a:t>5</a:t>
            </a:r>
            <a:endParaRPr lang="ru-RU" sz="40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138" name="TextBox 20"/>
          <p:cNvSpPr txBox="1">
            <a:spLocks noChangeArrowheads="1"/>
          </p:cNvSpPr>
          <p:nvPr/>
        </p:nvSpPr>
        <p:spPr bwMode="auto">
          <a:xfrm>
            <a:off x="0" y="1125538"/>
            <a:ext cx="91440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en-US" sz="1600"/>
              <a:t>На основе выражения для логарифма апостериорной плотности вероятности синтезировать структурную схему оптимального приёмника для измерения частоты несущей радиоимпульсного сигнала  </a:t>
            </a:r>
            <a:r>
              <a:rPr lang="en-US" altLang="en-US" sz="1600"/>
              <a:t>s(t)=U</a:t>
            </a:r>
            <a:r>
              <a:rPr lang="en-US" altLang="en-US" sz="1600" baseline="-25000"/>
              <a:t>c</a:t>
            </a:r>
            <a:r>
              <a:rPr lang="en-US" altLang="en-US" sz="1600"/>
              <a:t>(t)cos(2</a:t>
            </a:r>
            <a:r>
              <a:rPr lang="el-GR" altLang="en-US" sz="1600"/>
              <a:t>π</a:t>
            </a:r>
            <a:r>
              <a:rPr lang="en-US" altLang="en-US" sz="1600"/>
              <a:t>f</a:t>
            </a:r>
            <a:r>
              <a:rPr lang="en-US" altLang="en-US" sz="1600" baseline="-25000"/>
              <a:t>c</a:t>
            </a:r>
            <a:r>
              <a:rPr lang="en-US" altLang="en-US" sz="1600"/>
              <a:t>t+</a:t>
            </a:r>
            <a:r>
              <a:rPr lang="el-GR" altLang="en-US" sz="1600"/>
              <a:t>φ</a:t>
            </a:r>
            <a:r>
              <a:rPr lang="en-US" altLang="en-US" sz="1600"/>
              <a:t>)</a:t>
            </a:r>
            <a:r>
              <a:rPr lang="ru-RU" altLang="en-US" sz="1600"/>
              <a:t> с неизвестной начальной фазой </a:t>
            </a:r>
            <a:r>
              <a:rPr lang="el-GR" altLang="en-US" sz="1600"/>
              <a:t>φ</a:t>
            </a:r>
            <a:r>
              <a:rPr lang="ru-RU" altLang="en-US" sz="1600"/>
              <a:t> при равномерном априорном распределении частоты в интервале    [</a:t>
            </a:r>
            <a:r>
              <a:rPr lang="en-US" altLang="en-US" sz="1600"/>
              <a:t>f</a:t>
            </a:r>
            <a:r>
              <a:rPr lang="ru-RU" altLang="en-US" sz="1600" baseline="-25000"/>
              <a:t>с min</a:t>
            </a:r>
            <a:r>
              <a:rPr lang="ru-RU" altLang="en-US" sz="1600" i="1"/>
              <a:t>,</a:t>
            </a:r>
            <a:r>
              <a:rPr lang="en-US" altLang="en-US" sz="1600"/>
              <a:t>f</a:t>
            </a:r>
            <a:r>
              <a:rPr lang="ru-RU" altLang="en-US" sz="1600" baseline="-25000"/>
              <a:t>с max</a:t>
            </a:r>
            <a:r>
              <a:rPr lang="en-US" altLang="en-US" sz="1600"/>
              <a:t>]</a:t>
            </a:r>
            <a:r>
              <a:rPr lang="ru-RU" altLang="en-US" sz="1600" i="1"/>
              <a:t>. </a:t>
            </a:r>
            <a:endParaRPr lang="ru-RU" altLang="en-US" sz="1600"/>
          </a:p>
        </p:txBody>
      </p:sp>
      <p:graphicFrame>
        <p:nvGraphicFramePr>
          <p:cNvPr id="5122" name="Object 13"/>
          <p:cNvGraphicFramePr>
            <a:graphicFrameLocks noChangeAspect="1"/>
          </p:cNvGraphicFramePr>
          <p:nvPr/>
        </p:nvGraphicFramePr>
        <p:xfrm>
          <a:off x="1584325" y="2286000"/>
          <a:ext cx="5561013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3" name="Equation" r:id="rId3" imgW="3530520" imgH="228600" progId="Equation.DSMT4">
                  <p:embed/>
                </p:oleObj>
              </mc:Choice>
              <mc:Fallback>
                <p:oleObj name="Equation" r:id="rId3" imgW="353052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2286000"/>
                        <a:ext cx="5561013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2449051"/>
              </p:ext>
            </p:extLst>
          </p:nvPr>
        </p:nvGraphicFramePr>
        <p:xfrm>
          <a:off x="238201" y="2682008"/>
          <a:ext cx="1379538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4" name="Equation" r:id="rId5" imgW="876240" imgH="228600" progId="Equation.DSMT4">
                  <p:embed/>
                </p:oleObj>
              </mc:Choice>
              <mc:Fallback>
                <p:oleObj name="Equation" r:id="rId5" imgW="87624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201" y="2682008"/>
                        <a:ext cx="1379538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9"/>
          <p:cNvGraphicFramePr>
            <a:graphicFrameLocks noChangeAspect="1"/>
          </p:cNvGraphicFramePr>
          <p:nvPr/>
        </p:nvGraphicFramePr>
        <p:xfrm>
          <a:off x="2757488" y="2673350"/>
          <a:ext cx="3214687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5" name="Equation" r:id="rId7" imgW="2057400" imgH="228600" progId="Equation.DSMT4">
                  <p:embed/>
                </p:oleObj>
              </mc:Choice>
              <mc:Fallback>
                <p:oleObj name="Equation" r:id="rId7" imgW="2057400" imgH="228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7488" y="2673350"/>
                        <a:ext cx="3214687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Object 8"/>
          <p:cNvGraphicFramePr>
            <a:graphicFrameLocks noChangeAspect="1"/>
          </p:cNvGraphicFramePr>
          <p:nvPr/>
        </p:nvGraphicFramePr>
        <p:xfrm>
          <a:off x="1743075" y="3068638"/>
          <a:ext cx="524510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6" name="Equation" r:id="rId9" imgW="3225600" imgH="482400" progId="Equation.DSMT4">
                  <p:embed/>
                </p:oleObj>
              </mc:Choice>
              <mc:Fallback>
                <p:oleObj name="Equation" r:id="rId9" imgW="3225600" imgH="482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3075" y="3068638"/>
                        <a:ext cx="5245100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2435267"/>
              </p:ext>
            </p:extLst>
          </p:nvPr>
        </p:nvGraphicFramePr>
        <p:xfrm>
          <a:off x="261938" y="3859212"/>
          <a:ext cx="249555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7" name="Equation" r:id="rId11" imgW="1612800" imgH="279360" progId="Equation.DSMT4">
                  <p:embed/>
                </p:oleObj>
              </mc:Choice>
              <mc:Fallback>
                <p:oleObj name="Equation" r:id="rId11" imgW="1612800" imgH="27936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938" y="3859212"/>
                        <a:ext cx="249555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7" name="Object 12"/>
          <p:cNvGraphicFramePr>
            <a:graphicFrameLocks noChangeAspect="1"/>
          </p:cNvGraphicFramePr>
          <p:nvPr/>
        </p:nvGraphicFramePr>
        <p:xfrm>
          <a:off x="1414463" y="4292600"/>
          <a:ext cx="5902325" cy="171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8" name="Equation" r:id="rId13" imgW="4101840" imgH="1193760" progId="Equation.DSMT4">
                  <p:embed/>
                </p:oleObj>
              </mc:Choice>
              <mc:Fallback>
                <p:oleObj name="Equation" r:id="rId13" imgW="4101840" imgH="119376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4463" y="4292600"/>
                        <a:ext cx="5902325" cy="171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7" name="Прямая со стрелкой 26"/>
          <p:cNvCxnSpPr/>
          <p:nvPr/>
        </p:nvCxnSpPr>
        <p:spPr>
          <a:xfrm>
            <a:off x="6300192" y="2996952"/>
            <a:ext cx="360040" cy="720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/>
          <p:nvPr/>
        </p:nvCxnSpPr>
        <p:spPr>
          <a:xfrm>
            <a:off x="2843808" y="3068960"/>
            <a:ext cx="360040" cy="720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>
            <a:off x="5220072" y="2996952"/>
            <a:ext cx="360040" cy="720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512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9738946"/>
              </p:ext>
            </p:extLst>
          </p:nvPr>
        </p:nvGraphicFramePr>
        <p:xfrm>
          <a:off x="467544" y="5937250"/>
          <a:ext cx="8222231" cy="773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9" name="Equation" r:id="rId15" imgW="5130720" imgH="482400" progId="Equation.DSMT4">
                  <p:embed/>
                </p:oleObj>
              </mc:Choice>
              <mc:Fallback>
                <p:oleObj name="Equation" r:id="rId15" imgW="5130720" imgH="4824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5937250"/>
                        <a:ext cx="8222231" cy="773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15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15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15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" name="Заголовок 1"/>
          <p:cNvSpPr txBox="1">
            <a:spLocks/>
          </p:cNvSpPr>
          <p:nvPr/>
        </p:nvSpPr>
        <p:spPr>
          <a:xfrm>
            <a:off x="323850" y="476250"/>
            <a:ext cx="8820150" cy="649288"/>
          </a:xfrm>
          <a:prstGeom prst="rect">
            <a:avLst/>
          </a:prstGeom>
        </p:spPr>
        <p:txBody>
          <a:bodyPr anchor="ctr"/>
          <a:lstStyle/>
          <a:p>
            <a:pPr>
              <a:defRPr/>
            </a:pPr>
            <a:r>
              <a:rPr lang="ru-RU" sz="4000" dirty="0">
                <a:solidFill>
                  <a:schemeClr val="tx2"/>
                </a:solidFill>
                <a:latin typeface="+mj-lt"/>
              </a:rPr>
              <a:t>ЗАДАЧА </a:t>
            </a:r>
            <a:r>
              <a:rPr lang="en-US" sz="4000" dirty="0">
                <a:solidFill>
                  <a:schemeClr val="tx2"/>
                </a:solidFill>
                <a:latin typeface="+mj-lt"/>
              </a:rPr>
              <a:t>6</a:t>
            </a:r>
            <a:endParaRPr lang="ru-RU" sz="40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146" name="Object 14"/>
          <p:cNvGraphicFramePr>
            <a:graphicFrameLocks noChangeAspect="1"/>
          </p:cNvGraphicFramePr>
          <p:nvPr/>
        </p:nvGraphicFramePr>
        <p:xfrm>
          <a:off x="755650" y="1125538"/>
          <a:ext cx="2130425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4" name="Equation" r:id="rId3" imgW="1218960" imgH="355320" progId="Equation.DSMT4">
                  <p:embed/>
                </p:oleObj>
              </mc:Choice>
              <mc:Fallback>
                <p:oleObj name="Equation" r:id="rId3" imgW="1218960" imgH="35532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125538"/>
                        <a:ext cx="2130425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10"/>
          <p:cNvGraphicFramePr>
            <a:graphicFrameLocks noChangeAspect="1"/>
          </p:cNvGraphicFramePr>
          <p:nvPr/>
        </p:nvGraphicFramePr>
        <p:xfrm>
          <a:off x="3492500" y="1125538"/>
          <a:ext cx="1236663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5" name="Equation" r:id="rId5" imgW="711000" imgH="253800" progId="Equation.DSMT4">
                  <p:embed/>
                </p:oleObj>
              </mc:Choice>
              <mc:Fallback>
                <p:oleObj name="Equation" r:id="rId5" imgW="711000" imgH="253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1125538"/>
                        <a:ext cx="1236663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755" name="Picture 1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79512" y="2060848"/>
            <a:ext cx="5191125" cy="4032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1756" name="Picture 12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578475" y="1844675"/>
            <a:ext cx="3367088" cy="4032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41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41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41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4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" name="Заголовок 1"/>
          <p:cNvSpPr txBox="1">
            <a:spLocks/>
          </p:cNvSpPr>
          <p:nvPr/>
        </p:nvSpPr>
        <p:spPr>
          <a:xfrm>
            <a:off x="323850" y="476250"/>
            <a:ext cx="8820150" cy="649288"/>
          </a:xfrm>
          <a:prstGeom prst="rect">
            <a:avLst/>
          </a:prstGeom>
        </p:spPr>
        <p:txBody>
          <a:bodyPr anchor="ctr"/>
          <a:lstStyle/>
          <a:p>
            <a:pPr>
              <a:defRPr/>
            </a:pPr>
            <a:r>
              <a:rPr lang="ru-RU" sz="4000" dirty="0" smtClean="0">
                <a:solidFill>
                  <a:schemeClr val="tx2"/>
                </a:solidFill>
                <a:latin typeface="+mj-lt"/>
              </a:rPr>
              <a:t>ЗАДАЧА 7</a:t>
            </a:r>
            <a:endParaRPr lang="ru-RU" sz="40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23850" y="1268760"/>
            <a:ext cx="8496622" cy="18002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7419" name="TextBox 12"/>
          <p:cNvSpPr txBox="1">
            <a:spLocks noChangeArrowheads="1"/>
          </p:cNvSpPr>
          <p:nvPr/>
        </p:nvSpPr>
        <p:spPr bwMode="auto">
          <a:xfrm>
            <a:off x="467544" y="1384030"/>
            <a:ext cx="7992887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en-US" sz="1600" dirty="0"/>
              <a:t>Синтезировать оптимальный приёмник для измерения длительности радиоимпульса с прямоугольной огибающей, имеющего случайную начальную фазу. Длительность мпульса имеет равномерное априорное распределении вероятностей в интервале [</a:t>
            </a:r>
            <a:r>
              <a:rPr lang="ru-RU" altLang="en-US" sz="1600" i="1" dirty="0"/>
              <a:t>T</a:t>
            </a:r>
            <a:r>
              <a:rPr lang="ru-RU" altLang="en-US" sz="1600" i="1" baseline="-25000" dirty="0"/>
              <a:t>с min</a:t>
            </a:r>
            <a:r>
              <a:rPr lang="ru-RU" altLang="en-US" sz="1600" i="1" dirty="0"/>
              <a:t> , T</a:t>
            </a:r>
            <a:r>
              <a:rPr lang="ru-RU" altLang="en-US" sz="1600" i="1" baseline="-25000" dirty="0"/>
              <a:t>с max</a:t>
            </a:r>
            <a:r>
              <a:rPr lang="ru-RU" altLang="en-US" sz="1600" i="1" dirty="0"/>
              <a:t>]. </a:t>
            </a:r>
            <a:r>
              <a:rPr lang="ru-RU" altLang="en-US" sz="1600" dirty="0"/>
              <a:t>Изобразить структурную схему приёмника и эпюры напряжений в различных точках схемы (в случае отсутствия шума).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3806</TotalTime>
  <Words>260</Words>
  <Application>Microsoft Office PowerPoint</Application>
  <PresentationFormat>On-screen Show (4:3)</PresentationFormat>
  <Paragraphs>23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Corbel</vt:lpstr>
      <vt:lpstr>Basis</vt:lpstr>
      <vt:lpstr>Equation</vt:lpstr>
      <vt:lpstr>Основы оптимального приема сигналов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Занятие №3</dc:title>
  <dc:creator>buuu</dc:creator>
  <cp:lastModifiedBy>buuu</cp:lastModifiedBy>
  <cp:revision>362</cp:revision>
  <dcterms:modified xsi:type="dcterms:W3CDTF">2023-11-27T16:52:23Z</dcterms:modified>
</cp:coreProperties>
</file>