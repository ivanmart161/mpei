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03" r:id="rId1"/>
  </p:sldMasterIdLst>
  <p:sldIdLst>
    <p:sldId id="256" r:id="rId2"/>
    <p:sldId id="299" r:id="rId3"/>
    <p:sldId id="300" r:id="rId4"/>
    <p:sldId id="301" r:id="rId5"/>
    <p:sldId id="302" r:id="rId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3" autoAdjust="0"/>
    <p:restoredTop sz="94626" autoAdjust="0"/>
  </p:normalViewPr>
  <p:slideViewPr>
    <p:cSldViewPr>
      <p:cViewPr varScale="1">
        <p:scale>
          <a:sx n="105" d="100"/>
          <a:sy n="105" d="100"/>
        </p:scale>
        <p:origin x="114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79D77C7-A1B0-440D-A977-8C4426CC56AF}" type="datetimeFigureOut">
              <a:rPr lang="ru-RU" smtClean="0"/>
              <a:pPr>
                <a:defRPr/>
              </a:pPr>
              <a:t>18.12.2020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CCDCBAB-37C5-4CBF-BBAB-2B0D1A0472E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12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9D77C7-A1B0-440D-A977-8C4426CC56AF}" type="datetimeFigureOut">
              <a:rPr lang="ru-RU" smtClean="0"/>
              <a:pPr>
                <a:defRPr/>
              </a:pPr>
              <a:t>18.12.2020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CDCBAB-37C5-4CBF-BBAB-2B0D1A0472E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59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9D77C7-A1B0-440D-A977-8C4426CC56AF}" type="datetimeFigureOut">
              <a:rPr lang="ru-RU" smtClean="0"/>
              <a:pPr>
                <a:defRPr/>
              </a:pPr>
              <a:t>18.12.2020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CDCBAB-37C5-4CBF-BBAB-2B0D1A0472E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770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9D77C7-A1B0-440D-A977-8C4426CC56AF}" type="datetimeFigureOut">
              <a:rPr lang="ru-RU" smtClean="0"/>
              <a:pPr>
                <a:defRPr/>
              </a:pPr>
              <a:t>18.12.2020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CDCBAB-37C5-4CBF-BBAB-2B0D1A0472E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914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9D77C7-A1B0-440D-A977-8C4426CC56AF}" type="datetimeFigureOut">
              <a:rPr lang="ru-RU" smtClean="0"/>
              <a:pPr>
                <a:defRPr/>
              </a:pPr>
              <a:t>18.12.2020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CDCBAB-37C5-4CBF-BBAB-2B0D1A0472E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01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9D77C7-A1B0-440D-A977-8C4426CC56AF}" type="datetimeFigureOut">
              <a:rPr lang="ru-RU" smtClean="0"/>
              <a:pPr>
                <a:defRPr/>
              </a:pPr>
              <a:t>18.12.2020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CDCBAB-37C5-4CBF-BBAB-2B0D1A0472E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507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9D77C7-A1B0-440D-A977-8C4426CC56AF}" type="datetimeFigureOut">
              <a:rPr lang="ru-RU" smtClean="0"/>
              <a:pPr>
                <a:defRPr/>
              </a:pPr>
              <a:t>18.12.2020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CDCBAB-37C5-4CBF-BBAB-2B0D1A0472E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432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9D77C7-A1B0-440D-A977-8C4426CC56AF}" type="datetimeFigureOut">
              <a:rPr lang="ru-RU" smtClean="0"/>
              <a:pPr>
                <a:defRPr/>
              </a:pPr>
              <a:t>18.12.2020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CDCBAB-37C5-4CBF-BBAB-2B0D1A0472E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59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9D77C7-A1B0-440D-A977-8C4426CC56AF}" type="datetimeFigureOut">
              <a:rPr lang="ru-RU" smtClean="0"/>
              <a:pPr>
                <a:defRPr/>
              </a:pPr>
              <a:t>18.12.2020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CDCBAB-37C5-4CBF-BBAB-2B0D1A0472E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423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9D77C7-A1B0-440D-A977-8C4426CC56AF}" type="datetimeFigureOut">
              <a:rPr lang="ru-RU" smtClean="0"/>
              <a:pPr>
                <a:defRPr/>
              </a:pPr>
              <a:t>18.12.2020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CDCBAB-37C5-4CBF-BBAB-2B0D1A0472E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981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9D77C7-A1B0-440D-A977-8C4426CC56AF}" type="datetimeFigureOut">
              <a:rPr lang="ru-RU" smtClean="0"/>
              <a:pPr>
                <a:defRPr/>
              </a:pPr>
              <a:t>18.12.2020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CDCBAB-37C5-4CBF-BBAB-2B0D1A0472E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183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879D77C7-A1B0-440D-A977-8C4426CC56AF}" type="datetimeFigureOut">
              <a:rPr lang="ru-RU" smtClean="0"/>
              <a:pPr>
                <a:defRPr/>
              </a:pPr>
              <a:t>18.12.2020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CCDCBAB-37C5-4CBF-BBAB-2B0D1A0472E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035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7.jpeg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9.jpeg"/><Relationship Id="rId5" Type="http://schemas.openxmlformats.org/officeDocument/2006/relationships/image" Target="../media/image4.wmf"/><Relationship Id="rId10" Type="http://schemas.openxmlformats.org/officeDocument/2006/relationships/image" Target="../media/image6.wmf"/><Relationship Id="rId4" Type="http://schemas.openxmlformats.org/officeDocument/2006/relationships/oleObject" Target="../embeddings/oleObject4.bin"/><Relationship Id="rId9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2204864"/>
            <a:ext cx="8458200" cy="185050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200" b="1" dirty="0" smtClean="0">
                <a:latin typeface="Arial Black" panose="020B0A04020102020204" pitchFamily="34" charset="0"/>
              </a:rPr>
              <a:t>Оптимальная обработка с использованием согласованных фильтров</a:t>
            </a:r>
            <a:endParaRPr lang="ru-RU" sz="32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6" name="Прямоугольник 35"/>
          <p:cNvSpPr/>
          <p:nvPr/>
        </p:nvSpPr>
        <p:spPr>
          <a:xfrm>
            <a:off x="0" y="1052736"/>
            <a:ext cx="9144000" cy="936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3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250825" y="476250"/>
            <a:ext cx="8893175" cy="576263"/>
          </a:xfrm>
          <a:prstGeom prst="rect">
            <a:avLst/>
          </a:prstGeom>
        </p:spPr>
        <p:txBody>
          <a:bodyPr anchor="ctr"/>
          <a:lstStyle/>
          <a:p>
            <a:pPr eaLnBrk="0" hangingPunct="0">
              <a:lnSpc>
                <a:spcPct val="150000"/>
              </a:lnSpc>
              <a:defRPr/>
            </a:pPr>
            <a:r>
              <a:rPr lang="ru-RU" sz="36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СОГЛАСОВАННЫЙ ФИЛЬТР</a:t>
            </a:r>
            <a:endParaRPr lang="en-US" sz="3600" cap="all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2051720" y="1988840"/>
            <a:ext cx="4644008" cy="194421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179388" y="1125538"/>
            <a:ext cx="8964612" cy="830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sz="1600" b="1" i="1" u="sng" dirty="0">
                <a:latin typeface="+mn-lt"/>
              </a:rPr>
              <a:t>Согласованным фильтром</a:t>
            </a:r>
            <a:r>
              <a:rPr lang="ru-RU" sz="1600" dirty="0">
                <a:latin typeface="+mn-lt"/>
              </a:rPr>
              <a:t> называется такое линейное устройство, которое при действии смеси сигнала и белого шума обеспечивает на выходе максимально возможное отношение </a:t>
            </a:r>
            <a:r>
              <a:rPr lang="ru-RU" sz="1600" u="sng" dirty="0">
                <a:latin typeface="+mn-lt"/>
              </a:rPr>
              <a:t>пикового</a:t>
            </a:r>
            <a:r>
              <a:rPr lang="ru-RU" sz="1600" dirty="0">
                <a:latin typeface="+mn-lt"/>
              </a:rPr>
              <a:t> значения сигнала к среднеквадратичному значению шума.</a:t>
            </a: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2268538" y="2060575"/>
            <a:ext cx="4248150" cy="13239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1600" u="sng" dirty="0">
                <a:latin typeface="+mn-lt"/>
              </a:rPr>
              <a:t>импульсная характеристика СФ:</a:t>
            </a:r>
          </a:p>
          <a:p>
            <a:pPr>
              <a:defRPr/>
            </a:pPr>
            <a:r>
              <a:rPr lang="ru-RU" sz="1600" dirty="0">
                <a:latin typeface="+mn-lt"/>
              </a:rPr>
              <a:t>зеркально отраженный сигнал, сдвинутый (задержанным) на некоторое время t</a:t>
            </a:r>
            <a:r>
              <a:rPr lang="ru-RU" sz="1600" baseline="-25000" dirty="0">
                <a:latin typeface="+mn-lt"/>
              </a:rPr>
              <a:t>0 </a:t>
            </a:r>
            <a:r>
              <a:rPr lang="ru-RU" sz="1400" i="1" dirty="0">
                <a:latin typeface="+mn-lt"/>
              </a:rPr>
              <a:t>(момент времени, когда достигается пиковое значение сигнала на выходе СФ)</a:t>
            </a:r>
            <a:r>
              <a:rPr lang="ru-RU" sz="1600" dirty="0">
                <a:latin typeface="+mn-lt"/>
              </a:rPr>
              <a:t>:</a:t>
            </a:r>
          </a:p>
        </p:txBody>
      </p:sp>
      <p:sp>
        <p:nvSpPr>
          <p:cNvPr id="1043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026" name="Object 24"/>
          <p:cNvGraphicFramePr>
            <a:graphicFrameLocks noChangeAspect="1"/>
          </p:cNvGraphicFramePr>
          <p:nvPr/>
        </p:nvGraphicFramePr>
        <p:xfrm>
          <a:off x="3419475" y="3357563"/>
          <a:ext cx="1512888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3" imgW="1143000" imgH="228600" progId="Equation.DSMT4">
                  <p:embed/>
                </p:oleObj>
              </mc:Choice>
              <mc:Fallback>
                <p:oleObj name="Equation" r:id="rId3" imgW="1143000" imgH="228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357563"/>
                        <a:ext cx="1512888" cy="30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932363" y="3573463"/>
            <a:ext cx="1827212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1600" dirty="0">
                <a:latin typeface="+mn-lt"/>
              </a:rPr>
              <a:t>Принимают  t</a:t>
            </a:r>
            <a:r>
              <a:rPr lang="ru-RU" sz="1600" baseline="-25000" dirty="0">
                <a:latin typeface="+mn-lt"/>
              </a:rPr>
              <a:t>0</a:t>
            </a:r>
            <a:r>
              <a:rPr lang="ru-RU" sz="1600" dirty="0">
                <a:latin typeface="+mn-lt"/>
              </a:rPr>
              <a:t>= </a:t>
            </a:r>
            <a:r>
              <a:rPr lang="en-US" dirty="0">
                <a:latin typeface="Symbol" pitchFamily="18" charset="2"/>
              </a:rPr>
              <a:t>t</a:t>
            </a:r>
            <a:r>
              <a:rPr lang="ru-RU" baseline="-25000" dirty="0"/>
              <a:t>и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2124075" y="4005263"/>
            <a:ext cx="203517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1600" u="sng" dirty="0">
                <a:latin typeface="+mn-lt"/>
              </a:rPr>
              <a:t>отклик СФ на сигнал:</a:t>
            </a:r>
          </a:p>
        </p:txBody>
      </p:sp>
      <p:sp>
        <p:nvSpPr>
          <p:cNvPr id="1046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027" name="Object 26"/>
          <p:cNvGraphicFramePr>
            <a:graphicFrameLocks noChangeAspect="1"/>
          </p:cNvGraphicFramePr>
          <p:nvPr/>
        </p:nvGraphicFramePr>
        <p:xfrm>
          <a:off x="2185988" y="4292600"/>
          <a:ext cx="31845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5" imgW="2197080" imgH="495000" progId="Equation.DSMT4">
                  <p:embed/>
                </p:oleObj>
              </mc:Choice>
              <mc:Fallback>
                <p:oleObj name="Equation" r:id="rId5" imgW="2197080" imgH="4950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4292600"/>
                        <a:ext cx="3184525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124075" y="5013325"/>
            <a:ext cx="4608513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u="sng" dirty="0">
                <a:latin typeface="+mn-lt"/>
              </a:rPr>
              <a:t>Пиковое значение выходного сигнала </a:t>
            </a:r>
            <a:r>
              <a:rPr lang="ru-RU" sz="1600" dirty="0">
                <a:latin typeface="+mn-lt"/>
              </a:rPr>
              <a:t>достигается в момент времени t</a:t>
            </a:r>
            <a:r>
              <a:rPr lang="ru-RU" sz="1600" baseline="-25000" dirty="0">
                <a:latin typeface="+mn-lt"/>
              </a:rPr>
              <a:t>0</a:t>
            </a:r>
            <a:r>
              <a:rPr lang="ru-RU" sz="1600" dirty="0">
                <a:latin typeface="+mn-lt"/>
              </a:rPr>
              <a:t>:</a:t>
            </a:r>
          </a:p>
        </p:txBody>
      </p:sp>
      <p:sp>
        <p:nvSpPr>
          <p:cNvPr id="1048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028" name="Object 28"/>
          <p:cNvGraphicFramePr>
            <a:graphicFrameLocks noChangeAspect="1"/>
          </p:cNvGraphicFramePr>
          <p:nvPr/>
        </p:nvGraphicFramePr>
        <p:xfrm>
          <a:off x="2190750" y="5661025"/>
          <a:ext cx="23876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7" imgW="2565360" imgH="457200" progId="Equation.DSMT4">
                  <p:embed/>
                </p:oleObj>
              </mc:Choice>
              <mc:Fallback>
                <p:oleObj name="Equation" r:id="rId7" imgW="2565360" imgH="4572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5661025"/>
                        <a:ext cx="2387600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250825" y="476250"/>
            <a:ext cx="8893175" cy="576263"/>
          </a:xfrm>
          <a:prstGeom prst="rect">
            <a:avLst/>
          </a:prstGeom>
        </p:spPr>
        <p:txBody>
          <a:bodyPr anchor="ctr"/>
          <a:lstStyle/>
          <a:p>
            <a:pPr eaLnBrk="0" hangingPunct="0">
              <a:lnSpc>
                <a:spcPct val="150000"/>
              </a:lnSpc>
              <a:defRPr/>
            </a:pPr>
            <a:r>
              <a:rPr lang="ru-RU" sz="36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ЗАДАЧА 1</a:t>
            </a:r>
            <a:endParaRPr lang="en-US" sz="3600" cap="all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107504" y="1124744"/>
            <a:ext cx="8928992" cy="914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107950" y="1125538"/>
            <a:ext cx="9036050" cy="9223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latin typeface="+mn-lt"/>
              </a:rPr>
              <a:t>Изобразить структурную схему СФ для прямоугольного видеоимпульса длительностью </a:t>
            </a:r>
            <a:r>
              <a:rPr lang="en-US" dirty="0">
                <a:latin typeface="Symbol" pitchFamily="18" charset="2"/>
              </a:rPr>
              <a:t>t</a:t>
            </a:r>
            <a:r>
              <a:rPr lang="ru-RU" baseline="-25000" dirty="0">
                <a:latin typeface="+mn-lt"/>
              </a:rPr>
              <a:t>и</a:t>
            </a:r>
            <a:r>
              <a:rPr lang="ru-RU" dirty="0">
                <a:latin typeface="+mn-lt"/>
              </a:rPr>
              <a:t>. Изобразить эпюры напряжения в точках схемы при действии на входе сигнала, с которым согласован фильтр. </a:t>
            </a:r>
            <a:endParaRPr lang="ru-RU" baseline="-25000" dirty="0">
              <a:latin typeface="+mn-lt"/>
            </a:endParaRPr>
          </a:p>
        </p:txBody>
      </p:sp>
      <p:sp>
        <p:nvSpPr>
          <p:cNvPr id="2063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4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5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pic>
        <p:nvPicPr>
          <p:cNvPr id="26" name="Рисунок 25" descr="pic14_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388" y="2060575"/>
            <a:ext cx="4049712" cy="13731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2050" name="Object 5"/>
          <p:cNvGraphicFramePr>
            <a:graphicFrameLocks noChangeAspect="1"/>
          </p:cNvGraphicFramePr>
          <p:nvPr/>
        </p:nvGraphicFramePr>
        <p:xfrm>
          <a:off x="4500563" y="2060575"/>
          <a:ext cx="4354512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4" imgW="3288960" imgH="711000" progId="Equation.DSMT4">
                  <p:embed/>
                </p:oleObj>
              </mc:Choice>
              <mc:Fallback>
                <p:oleObj name="Equation" r:id="rId4" imgW="3288960" imgH="711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060575"/>
                        <a:ext cx="4354512" cy="938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Прямоугольник 30"/>
          <p:cNvSpPr/>
          <p:nvPr/>
        </p:nvSpPr>
        <p:spPr>
          <a:xfrm>
            <a:off x="4500563" y="2997200"/>
            <a:ext cx="2447925" cy="5032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2051" name="Object 6"/>
          <p:cNvGraphicFramePr>
            <a:graphicFrameLocks noChangeAspect="1"/>
          </p:cNvGraphicFramePr>
          <p:nvPr/>
        </p:nvGraphicFramePr>
        <p:xfrm>
          <a:off x="4500563" y="2997200"/>
          <a:ext cx="24479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6" imgW="1777680" imgH="355320" progId="Equation.DSMT4">
                  <p:embed/>
                </p:oleObj>
              </mc:Choice>
              <mc:Fallback>
                <p:oleObj name="Equation" r:id="rId6" imgW="1777680" imgH="3553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997200"/>
                        <a:ext cx="2447925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" name="Рисунок 31" descr="pic14_2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79388" y="3789363"/>
            <a:ext cx="4679950" cy="1746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2052" name="Object 7"/>
          <p:cNvGraphicFramePr>
            <a:graphicFrameLocks noChangeAspect="1"/>
          </p:cNvGraphicFramePr>
          <p:nvPr/>
        </p:nvGraphicFramePr>
        <p:xfrm>
          <a:off x="827088" y="3860800"/>
          <a:ext cx="47148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9" imgW="203040" imgH="279360" progId="Equation.DSMT4">
                  <p:embed/>
                </p:oleObj>
              </mc:Choice>
              <mc:Fallback>
                <p:oleObj name="Equation" r:id="rId9" imgW="203040" imgH="2793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860800"/>
                        <a:ext cx="471487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5" name="Рисунок 34" descr="pic14_3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5795963" y="3573463"/>
            <a:ext cx="2952750" cy="31670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1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1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1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250825" y="476250"/>
            <a:ext cx="8893175" cy="576263"/>
          </a:xfrm>
          <a:prstGeom prst="rect">
            <a:avLst/>
          </a:prstGeom>
        </p:spPr>
        <p:txBody>
          <a:bodyPr anchor="ctr"/>
          <a:lstStyle/>
          <a:p>
            <a:pPr eaLnBrk="0" hangingPunct="0">
              <a:lnSpc>
                <a:spcPct val="150000"/>
              </a:lnSpc>
              <a:defRPr/>
            </a:pPr>
            <a:r>
              <a:rPr lang="ru-RU" sz="36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ЗАДАЧА 2</a:t>
            </a:r>
            <a:endParaRPr lang="en-US" sz="3600" cap="all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107504" y="1124744"/>
            <a:ext cx="5688632" cy="12961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107950" y="1125538"/>
            <a:ext cx="5688013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latin typeface="+mn-lt"/>
              </a:rPr>
              <a:t>Изобразить структурную схему СФ для прямоугольного радиоимпульса длительностью </a:t>
            </a:r>
            <a:r>
              <a:rPr lang="en-US" dirty="0">
                <a:latin typeface="Symbol" pitchFamily="18" charset="2"/>
              </a:rPr>
              <a:t>t</a:t>
            </a:r>
            <a:r>
              <a:rPr lang="ru-RU" baseline="-25000" dirty="0">
                <a:latin typeface="+mn-lt"/>
              </a:rPr>
              <a:t>и</a:t>
            </a:r>
            <a:r>
              <a:rPr lang="ru-RU" dirty="0">
                <a:latin typeface="+mn-lt"/>
              </a:rPr>
              <a:t>. Изобразить эпюры напряжения в точках схемы при действии на входе сигнала, с которым согласован фильтр. </a:t>
            </a:r>
            <a:endParaRPr lang="ru-RU" baseline="-25000" dirty="0">
              <a:latin typeface="+mn-lt"/>
            </a:endParaRPr>
          </a:p>
        </p:txBody>
      </p:sp>
      <p:sp>
        <p:nvSpPr>
          <p:cNvPr id="13324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2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2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pic>
        <p:nvPicPr>
          <p:cNvPr id="20" name="Рисунок 19" descr="pic14_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40425" y="188913"/>
            <a:ext cx="3033713" cy="6524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" name="Рисунок 23" descr="pic14_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850" y="2565400"/>
            <a:ext cx="5311775" cy="1727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3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4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4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250825" y="476250"/>
            <a:ext cx="8893175" cy="576263"/>
          </a:xfrm>
          <a:prstGeom prst="rect">
            <a:avLst/>
          </a:prstGeom>
        </p:spPr>
        <p:txBody>
          <a:bodyPr anchor="ctr"/>
          <a:lstStyle/>
          <a:p>
            <a:pPr eaLnBrk="0" hangingPunct="0">
              <a:lnSpc>
                <a:spcPct val="150000"/>
              </a:lnSpc>
              <a:defRPr/>
            </a:pPr>
            <a:r>
              <a:rPr lang="ru-RU" sz="36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ЗАДАНИЕ для самостоятельной  работы</a:t>
            </a:r>
            <a:endParaRPr lang="en-US" sz="3600" cap="all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107504" y="1124744"/>
            <a:ext cx="4104456" cy="44644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107950" y="1125538"/>
            <a:ext cx="4032250" cy="9223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latin typeface="+mn-lt"/>
              </a:rPr>
              <a:t>Найти импульсную характеристику и изобразить структурную схему СФ для сигнала </a:t>
            </a:r>
            <a:r>
              <a:rPr lang="en-US" dirty="0">
                <a:latin typeface="+mn-lt"/>
              </a:rPr>
              <a:t>s(t)</a:t>
            </a:r>
            <a:r>
              <a:rPr lang="ru-RU" dirty="0">
                <a:latin typeface="+mn-lt"/>
              </a:rPr>
              <a:t> вида:</a:t>
            </a:r>
            <a:endParaRPr lang="ru-RU" baseline="-25000" dirty="0">
              <a:latin typeface="+mn-lt"/>
            </a:endParaRPr>
          </a:p>
        </p:txBody>
      </p:sp>
      <p:sp>
        <p:nvSpPr>
          <p:cNvPr id="14348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4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5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pic>
        <p:nvPicPr>
          <p:cNvPr id="15" name="Рисунок 14" descr="pic14_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0825" y="2060575"/>
            <a:ext cx="3097213" cy="306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Прямоугольник 17"/>
          <p:cNvSpPr/>
          <p:nvPr/>
        </p:nvSpPr>
        <p:spPr>
          <a:xfrm>
            <a:off x="4283968" y="1124744"/>
            <a:ext cx="4752528" cy="44644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4355" name="TextBox 15"/>
          <p:cNvSpPr txBox="1">
            <a:spLocks noChangeArrowheads="1"/>
          </p:cNvSpPr>
          <p:nvPr/>
        </p:nvSpPr>
        <p:spPr bwMode="auto">
          <a:xfrm>
            <a:off x="4284663" y="1125538"/>
            <a:ext cx="475138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Изобразить структурную схему СФ и его отклик для сигнала вида:</a:t>
            </a:r>
          </a:p>
        </p:txBody>
      </p:sp>
      <p:pic>
        <p:nvPicPr>
          <p:cNvPr id="17" name="Рисунок 16" descr="pic14_7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3438" y="1916113"/>
            <a:ext cx="4148137" cy="3282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4464</TotalTime>
  <Words>175</Words>
  <Application>Microsoft Office PowerPoint</Application>
  <PresentationFormat>On-screen Show (4:3)</PresentationFormat>
  <Paragraphs>15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Corbel</vt:lpstr>
      <vt:lpstr>Symbol</vt:lpstr>
      <vt:lpstr>Basis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№3</dc:title>
  <dc:creator>buuu</dc:creator>
  <cp:lastModifiedBy>buuu</cp:lastModifiedBy>
  <cp:revision>427</cp:revision>
  <dcterms:modified xsi:type="dcterms:W3CDTF">2020-12-18T08:16:56Z</dcterms:modified>
</cp:coreProperties>
</file>