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handoutMasterIdLst>
    <p:handoutMasterId r:id="rId62"/>
  </p:handoutMasterIdLst>
  <p:sldIdLst>
    <p:sldId id="382" r:id="rId2"/>
    <p:sldId id="381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84" r:id="rId13"/>
    <p:sldId id="385" r:id="rId14"/>
    <p:sldId id="386" r:id="rId15"/>
    <p:sldId id="387" r:id="rId16"/>
    <p:sldId id="388" r:id="rId17"/>
    <p:sldId id="389" r:id="rId18"/>
    <p:sldId id="390" r:id="rId19"/>
    <p:sldId id="391" r:id="rId20"/>
    <p:sldId id="392" r:id="rId21"/>
    <p:sldId id="393" r:id="rId22"/>
    <p:sldId id="394" r:id="rId23"/>
    <p:sldId id="395" r:id="rId24"/>
    <p:sldId id="396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  <p:sldId id="416" r:id="rId45"/>
    <p:sldId id="417" r:id="rId46"/>
    <p:sldId id="418" r:id="rId47"/>
    <p:sldId id="419" r:id="rId48"/>
    <p:sldId id="420" r:id="rId49"/>
    <p:sldId id="421" r:id="rId50"/>
    <p:sldId id="422" r:id="rId51"/>
    <p:sldId id="423" r:id="rId52"/>
    <p:sldId id="424" r:id="rId53"/>
    <p:sldId id="425" r:id="rId54"/>
    <p:sldId id="426" r:id="rId55"/>
    <p:sldId id="427" r:id="rId56"/>
    <p:sldId id="428" r:id="rId57"/>
    <p:sldId id="429" r:id="rId58"/>
    <p:sldId id="430" r:id="rId59"/>
    <p:sldId id="431" r:id="rId60"/>
    <p:sldId id="432" r:id="rId6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BD"/>
    <a:srgbClr val="FFECAF"/>
    <a:srgbClr val="CCFFCC"/>
    <a:srgbClr val="3BCCFF"/>
    <a:srgbClr val="81F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0" autoAdjust="0"/>
    <p:restoredTop sz="94660"/>
  </p:normalViewPr>
  <p:slideViewPr>
    <p:cSldViewPr>
      <p:cViewPr varScale="1">
        <p:scale>
          <a:sx n="105" d="100"/>
          <a:sy n="105" d="100"/>
        </p:scale>
        <p:origin x="118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4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4" Type="http://schemas.openxmlformats.org/officeDocument/2006/relationships/image" Target="../media/image7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9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7" Type="http://schemas.openxmlformats.org/officeDocument/2006/relationships/image" Target="../media/image84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10" Type="http://schemas.openxmlformats.org/officeDocument/2006/relationships/image" Target="../media/image113.wmf"/><Relationship Id="rId4" Type="http://schemas.openxmlformats.org/officeDocument/2006/relationships/image" Target="../media/image107.wmf"/><Relationship Id="rId9" Type="http://schemas.openxmlformats.org/officeDocument/2006/relationships/image" Target="../media/image11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10" Type="http://schemas.openxmlformats.org/officeDocument/2006/relationships/image" Target="../media/image130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4" Type="http://schemas.openxmlformats.org/officeDocument/2006/relationships/image" Target="../media/image134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4" Type="http://schemas.openxmlformats.org/officeDocument/2006/relationships/image" Target="../media/image141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0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109.wmf"/><Relationship Id="rId1" Type="http://schemas.openxmlformats.org/officeDocument/2006/relationships/image" Target="../media/image105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9" Type="http://schemas.openxmlformats.org/officeDocument/2006/relationships/image" Target="../media/image10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5" Type="http://schemas.openxmlformats.org/officeDocument/2006/relationships/image" Target="../media/image170.wmf"/><Relationship Id="rId4" Type="http://schemas.openxmlformats.org/officeDocument/2006/relationships/image" Target="../media/image169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image" Target="../media/image175.wmf"/><Relationship Id="rId1" Type="http://schemas.openxmlformats.org/officeDocument/2006/relationships/image" Target="../media/image174.wmf"/><Relationship Id="rId5" Type="http://schemas.openxmlformats.org/officeDocument/2006/relationships/image" Target="../media/image147.wmf"/><Relationship Id="rId4" Type="http://schemas.openxmlformats.org/officeDocument/2006/relationships/image" Target="../media/image177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wmf"/><Relationship Id="rId1" Type="http://schemas.openxmlformats.org/officeDocument/2006/relationships/image" Target="../media/image17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4" Type="http://schemas.openxmlformats.org/officeDocument/2006/relationships/image" Target="../media/image190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wmf"/><Relationship Id="rId3" Type="http://schemas.openxmlformats.org/officeDocument/2006/relationships/image" Target="../media/image194.wmf"/><Relationship Id="rId7" Type="http://schemas.openxmlformats.org/officeDocument/2006/relationships/image" Target="../media/image197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6.wmf"/><Relationship Id="rId5" Type="http://schemas.openxmlformats.org/officeDocument/2006/relationships/image" Target="../media/image101.wmf"/><Relationship Id="rId4" Type="http://schemas.openxmlformats.org/officeDocument/2006/relationships/image" Target="../media/image195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image" Target="../media/image200.wmf"/><Relationship Id="rId7" Type="http://schemas.openxmlformats.org/officeDocument/2006/relationships/image" Target="../media/image203.wmf"/><Relationship Id="rId2" Type="http://schemas.openxmlformats.org/officeDocument/2006/relationships/image" Target="../media/image105.wmf"/><Relationship Id="rId1" Type="http://schemas.openxmlformats.org/officeDocument/2006/relationships/image" Target="../media/image199.wmf"/><Relationship Id="rId6" Type="http://schemas.openxmlformats.org/officeDocument/2006/relationships/image" Target="../media/image109.wmf"/><Relationship Id="rId5" Type="http://schemas.openxmlformats.org/officeDocument/2006/relationships/image" Target="../media/image202.wmf"/><Relationship Id="rId10" Type="http://schemas.openxmlformats.org/officeDocument/2006/relationships/image" Target="../media/image206.wmf"/><Relationship Id="rId4" Type="http://schemas.openxmlformats.org/officeDocument/2006/relationships/image" Target="../media/image201.wmf"/><Relationship Id="rId9" Type="http://schemas.openxmlformats.org/officeDocument/2006/relationships/image" Target="../media/image20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7.wmf"/><Relationship Id="rId4" Type="http://schemas.openxmlformats.org/officeDocument/2006/relationships/image" Target="../media/image210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1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4" Type="http://schemas.openxmlformats.org/officeDocument/2006/relationships/image" Target="../media/image21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Relationship Id="rId4" Type="http://schemas.openxmlformats.org/officeDocument/2006/relationships/image" Target="../media/image220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4" Type="http://schemas.openxmlformats.org/officeDocument/2006/relationships/image" Target="../media/image224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wmf"/><Relationship Id="rId1" Type="http://schemas.openxmlformats.org/officeDocument/2006/relationships/image" Target="../media/image228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wmf"/><Relationship Id="rId1" Type="http://schemas.openxmlformats.org/officeDocument/2006/relationships/image" Target="../media/image231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7" Type="http://schemas.openxmlformats.org/officeDocument/2006/relationships/image" Target="../media/image239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42E148C2-AC71-401A-AD6A-DDFFCC3F69A1}" type="datetimeFigureOut">
              <a:rPr lang="ru-RU"/>
              <a:pPr>
                <a:defRPr/>
              </a:pPr>
              <a:t>11.12.2020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876F7B40-8F31-4B95-8D2A-8A159B6DEE1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EACAF8-6E70-4B4E-8A5A-1D374C6E7EF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989229-6CB2-4149-8E32-33C4248AD11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0D4114-7FE9-4421-8E79-4ABF10B413C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2BDFDE-2C35-43E7-B535-539557ABF8C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DD77EE-B5F0-416F-9FDB-8C8FAF879D6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A88315-EEC2-4303-AA58-1CEA7D00712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AEFED3-3C3F-432D-BBCA-F70692CCEB2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43099F-0D15-4EC8-B7CB-39C8FC0EA15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88211FE7-8DB0-4AF4-9A40-F7EF15BADC2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F5CF12-D065-409E-8B42-48F05B5FFBE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D5AC25-3EA4-425A-97F3-442D150C8C8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C665B6B2-884A-45D9-AB0B-0070DE5CA7A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4.bin"/><Relationship Id="rId21" Type="http://schemas.openxmlformats.org/officeDocument/2006/relationships/image" Target="../media/image11.wmf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2.bin"/><Relationship Id="rId25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.wmf"/><Relationship Id="rId20" Type="http://schemas.openxmlformats.org/officeDocument/2006/relationships/oleObject" Target="../embeddings/oleObject14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6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1.bin"/><Relationship Id="rId23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19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8.wmf"/><Relationship Id="rId22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image" Target="../media/image20.e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3.bin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5.emf"/><Relationship Id="rId4" Type="http://schemas.openxmlformats.org/officeDocument/2006/relationships/image" Target="../media/image22.wmf"/><Relationship Id="rId9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7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49.emf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5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57.emf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7" Type="http://schemas.openxmlformats.org/officeDocument/2006/relationships/image" Target="../media/image6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3.wmf"/><Relationship Id="rId11" Type="http://schemas.openxmlformats.org/officeDocument/2006/relationships/image" Target="../media/image75.wmf"/><Relationship Id="rId5" Type="http://schemas.openxmlformats.org/officeDocument/2006/relationships/oleObject" Target="../embeddings/oleObject65.bin"/><Relationship Id="rId10" Type="http://schemas.openxmlformats.org/officeDocument/2006/relationships/oleObject" Target="../embeddings/oleObject67.bin"/><Relationship Id="rId4" Type="http://schemas.openxmlformats.org/officeDocument/2006/relationships/image" Target="../media/image72.wmf"/><Relationship Id="rId9" Type="http://schemas.openxmlformats.org/officeDocument/2006/relationships/image" Target="../media/image7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80.emf"/><Relationship Id="rId4" Type="http://schemas.openxmlformats.org/officeDocument/2006/relationships/image" Target="../media/image7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90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86.bin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4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100.wmf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0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0.wmf"/><Relationship Id="rId20" Type="http://schemas.openxmlformats.org/officeDocument/2006/relationships/image" Target="../media/image112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7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09.wmf"/><Relationship Id="rId22" Type="http://schemas.openxmlformats.org/officeDocument/2006/relationships/image" Target="../media/image113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0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1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19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6.wmf"/><Relationship Id="rId22" Type="http://schemas.openxmlformats.org/officeDocument/2006/relationships/image" Target="../media/image130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2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7" Type="http://schemas.openxmlformats.org/officeDocument/2006/relationships/image" Target="../media/image1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41.wmf"/><Relationship Id="rId4" Type="http://schemas.openxmlformats.org/officeDocument/2006/relationships/image" Target="../media/image138.wmf"/><Relationship Id="rId9" Type="http://schemas.openxmlformats.org/officeDocument/2006/relationships/oleObject" Target="../embeddings/oleObject13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7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44.emf"/><Relationship Id="rId4" Type="http://schemas.openxmlformats.org/officeDocument/2006/relationships/image" Target="../media/image14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38.bin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50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44.bin"/><Relationship Id="rId18" Type="http://schemas.openxmlformats.org/officeDocument/2006/relationships/image" Target="../media/image158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12" Type="http://schemas.openxmlformats.org/officeDocument/2006/relationships/image" Target="../media/image155.wmf"/><Relationship Id="rId17" Type="http://schemas.openxmlformats.org/officeDocument/2006/relationships/oleObject" Target="../embeddings/oleObject14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43.bin"/><Relationship Id="rId5" Type="http://schemas.openxmlformats.org/officeDocument/2006/relationships/oleObject" Target="../embeddings/oleObject140.bin"/><Relationship Id="rId15" Type="http://schemas.openxmlformats.org/officeDocument/2006/relationships/oleObject" Target="../embeddings/oleObject145.bin"/><Relationship Id="rId10" Type="http://schemas.openxmlformats.org/officeDocument/2006/relationships/image" Target="../media/image154.wmf"/><Relationship Id="rId19" Type="http://schemas.openxmlformats.org/officeDocument/2006/relationships/image" Target="../media/image159.jpeg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142.bin"/><Relationship Id="rId14" Type="http://schemas.openxmlformats.org/officeDocument/2006/relationships/image" Target="../media/image15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52.bin"/><Relationship Id="rId18" Type="http://schemas.openxmlformats.org/officeDocument/2006/relationships/image" Target="../media/image165.wmf"/><Relationship Id="rId3" Type="http://schemas.openxmlformats.org/officeDocument/2006/relationships/oleObject" Target="../embeddings/oleObject147.bin"/><Relationship Id="rId7" Type="http://schemas.openxmlformats.org/officeDocument/2006/relationships/oleObject" Target="../embeddings/oleObject149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5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4.wmf"/><Relationship Id="rId20" Type="http://schemas.openxmlformats.org/officeDocument/2006/relationships/image" Target="../media/image101.w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9.wmf"/><Relationship Id="rId11" Type="http://schemas.openxmlformats.org/officeDocument/2006/relationships/oleObject" Target="../embeddings/oleObject151.bin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3.bin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55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6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69.wmf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5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73.emf"/><Relationship Id="rId5" Type="http://schemas.openxmlformats.org/officeDocument/2006/relationships/image" Target="../media/image172.emf"/><Relationship Id="rId4" Type="http://schemas.openxmlformats.org/officeDocument/2006/relationships/image" Target="../media/image17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75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177.wmf"/><Relationship Id="rId4" Type="http://schemas.openxmlformats.org/officeDocument/2006/relationships/image" Target="../media/image174.wmf"/><Relationship Id="rId9" Type="http://schemas.openxmlformats.org/officeDocument/2006/relationships/oleObject" Target="../embeddings/oleObject165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4" Type="http://schemas.openxmlformats.org/officeDocument/2006/relationships/image" Target="../media/image178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83.wmf"/><Relationship Id="rId11" Type="http://schemas.openxmlformats.org/officeDocument/2006/relationships/oleObject" Target="../embeddings/oleObject173.bin"/><Relationship Id="rId5" Type="http://schemas.openxmlformats.org/officeDocument/2006/relationships/oleObject" Target="../embeddings/oleObject170.bin"/><Relationship Id="rId10" Type="http://schemas.openxmlformats.org/officeDocument/2006/relationships/image" Target="../media/image185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172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3" Type="http://schemas.openxmlformats.org/officeDocument/2006/relationships/oleObject" Target="../embeddings/oleObject174.bin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175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177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13" Type="http://schemas.openxmlformats.org/officeDocument/2006/relationships/oleObject" Target="../embeddings/oleObject183.bin"/><Relationship Id="rId18" Type="http://schemas.openxmlformats.org/officeDocument/2006/relationships/image" Target="../media/image198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8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7.wmf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93.wmf"/><Relationship Id="rId11" Type="http://schemas.openxmlformats.org/officeDocument/2006/relationships/oleObject" Target="../embeddings/oleObject182.bin"/><Relationship Id="rId5" Type="http://schemas.openxmlformats.org/officeDocument/2006/relationships/oleObject" Target="../embeddings/oleObject179.bin"/><Relationship Id="rId15" Type="http://schemas.openxmlformats.org/officeDocument/2006/relationships/oleObject" Target="../embeddings/oleObject184.bin"/><Relationship Id="rId10" Type="http://schemas.openxmlformats.org/officeDocument/2006/relationships/image" Target="../media/image195.wmf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181.bin"/><Relationship Id="rId14" Type="http://schemas.openxmlformats.org/officeDocument/2006/relationships/image" Target="../media/image196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204.wmf"/><Relationship Id="rId3" Type="http://schemas.openxmlformats.org/officeDocument/2006/relationships/oleObject" Target="../embeddings/oleObject186.bin"/><Relationship Id="rId21" Type="http://schemas.openxmlformats.org/officeDocument/2006/relationships/oleObject" Target="../embeddings/oleObject195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202.wmf"/><Relationship Id="rId17" Type="http://schemas.openxmlformats.org/officeDocument/2006/relationships/oleObject" Target="../embeddings/oleObject19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3.wmf"/><Relationship Id="rId20" Type="http://schemas.openxmlformats.org/officeDocument/2006/relationships/image" Target="../media/image205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10" Type="http://schemas.openxmlformats.org/officeDocument/2006/relationships/image" Target="../media/image201.wmf"/><Relationship Id="rId19" Type="http://schemas.openxmlformats.org/officeDocument/2006/relationships/oleObject" Target="../embeddings/oleObject194.bin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109.wmf"/><Relationship Id="rId22" Type="http://schemas.openxmlformats.org/officeDocument/2006/relationships/image" Target="../media/image20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08.wmf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210.wmf"/><Relationship Id="rId4" Type="http://schemas.openxmlformats.org/officeDocument/2006/relationships/image" Target="../media/image207.wmf"/><Relationship Id="rId9" Type="http://schemas.openxmlformats.org/officeDocument/2006/relationships/oleObject" Target="../embeddings/oleObject199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5" Type="http://schemas.openxmlformats.org/officeDocument/2006/relationships/image" Target="../media/image212.emf"/><Relationship Id="rId4" Type="http://schemas.openxmlformats.org/officeDocument/2006/relationships/image" Target="../media/image211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oleObject" Target="../embeddings/oleObject201.bin"/><Relationship Id="rId7" Type="http://schemas.openxmlformats.org/officeDocument/2006/relationships/oleObject" Target="../embeddings/oleObject2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02.bin"/><Relationship Id="rId10" Type="http://schemas.openxmlformats.org/officeDocument/2006/relationships/image" Target="../media/image216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0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wmf"/><Relationship Id="rId3" Type="http://schemas.openxmlformats.org/officeDocument/2006/relationships/oleObject" Target="../embeddings/oleObject205.bin"/><Relationship Id="rId7" Type="http://schemas.openxmlformats.org/officeDocument/2006/relationships/oleObject" Target="../embeddings/oleObject2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206.bin"/><Relationship Id="rId10" Type="http://schemas.openxmlformats.org/officeDocument/2006/relationships/image" Target="../media/image220.wmf"/><Relationship Id="rId4" Type="http://schemas.openxmlformats.org/officeDocument/2006/relationships/image" Target="../media/image217.wmf"/><Relationship Id="rId9" Type="http://schemas.openxmlformats.org/officeDocument/2006/relationships/oleObject" Target="../embeddings/oleObject208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3" Type="http://schemas.openxmlformats.org/officeDocument/2006/relationships/oleObject" Target="../embeddings/oleObject209.bin"/><Relationship Id="rId7" Type="http://schemas.openxmlformats.org/officeDocument/2006/relationships/oleObject" Target="../embeddings/oleObject2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222.wmf"/><Relationship Id="rId5" Type="http://schemas.openxmlformats.org/officeDocument/2006/relationships/oleObject" Target="../embeddings/oleObject210.bin"/><Relationship Id="rId10" Type="http://schemas.openxmlformats.org/officeDocument/2006/relationships/image" Target="../media/image224.wmf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12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13.bin"/><Relationship Id="rId7" Type="http://schemas.openxmlformats.org/officeDocument/2006/relationships/oleObject" Target="../embeddings/oleObject2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214.bin"/><Relationship Id="rId4" Type="http://schemas.openxmlformats.org/officeDocument/2006/relationships/image" Target="../media/image225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emf"/><Relationship Id="rId7" Type="http://schemas.openxmlformats.org/officeDocument/2006/relationships/image" Target="../media/image2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217.bin"/><Relationship Id="rId5" Type="http://schemas.openxmlformats.org/officeDocument/2006/relationships/image" Target="../media/image228.wmf"/><Relationship Id="rId4" Type="http://schemas.openxmlformats.org/officeDocument/2006/relationships/oleObject" Target="../embeddings/oleObject216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19.bin"/><Relationship Id="rId4" Type="http://schemas.openxmlformats.org/officeDocument/2006/relationships/image" Target="../media/image231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3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9.wmf"/><Relationship Id="rId1" Type="http://schemas.openxmlformats.org/officeDocument/2006/relationships/vmlDrawing" Target="../drawings/vmlDrawing51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10" Type="http://schemas.openxmlformats.org/officeDocument/2006/relationships/image" Target="../media/image236.wmf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38.w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5" Type="http://schemas.openxmlformats.org/officeDocument/2006/relationships/image" Target="../media/image242.emf"/><Relationship Id="rId4" Type="http://schemas.openxmlformats.org/officeDocument/2006/relationships/image" Target="../media/image24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Тема 3: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Основы оптимальной обработки сигналов. </a:t>
            </a:r>
          </a:p>
          <a:p>
            <a:r>
              <a:rPr lang="ru-RU" dirty="0" smtClean="0"/>
              <a:t>Оптимальная оценка параметра сигнала.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5750" y="1500188"/>
            <a:ext cx="8572500" cy="1138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b="1" i="1" dirty="0">
                <a:latin typeface="Calibri" pitchFamily="34" charset="0"/>
                <a:cs typeface="Arial" pitchFamily="34" charset="0"/>
              </a:rPr>
              <a:t>Оптимальный приёмник 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 устройство обработки, обеспечивающее наилучшее выделение полезной информации из сигнала, принимаемого в смеси с аддитивной шумовой помехой </a:t>
            </a:r>
            <a:r>
              <a:rPr lang="ru-RU" sz="2000" i="1" dirty="0">
                <a:latin typeface="Calibri" pitchFamily="34" charset="0"/>
                <a:cs typeface="Arial" pitchFamily="34" charset="0"/>
              </a:rPr>
              <a:t>  </a:t>
            </a: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0" y="2619375"/>
            <a:ext cx="8572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b="1" i="1" dirty="0">
                <a:latin typeface="Calibri" pitchFamily="34" charset="0"/>
                <a:cs typeface="Arial" pitchFamily="34" charset="0"/>
              </a:rPr>
              <a:t>Шумовая помеха 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 нормальный белый шум </a:t>
            </a:r>
            <a:r>
              <a:rPr lang="ru-RU" sz="2000" i="1" dirty="0">
                <a:latin typeface="Calibri" pitchFamily="34" charset="0"/>
                <a:cs typeface="Arial" pitchFamily="34" charset="0"/>
              </a:rPr>
              <a:t>  </a:t>
            </a: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5750" y="3143250"/>
            <a:ext cx="8572500" cy="1016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b="1" i="1" dirty="0">
                <a:latin typeface="Calibri" pitchFamily="34" charset="0"/>
                <a:cs typeface="Arial" pitchFamily="34" charset="0"/>
              </a:rPr>
              <a:t>Синтез оптимального приёмника 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 нахождение структуры и параметров устройства обработки, обеспечивающее наилучшее выделение полезной информации из определённого типа сигнала</a:t>
            </a:r>
            <a:endParaRPr lang="ru-RU" sz="800" dirty="0">
              <a:latin typeface="+mj-lt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5750" y="4364038"/>
            <a:ext cx="85725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b="1" i="1" dirty="0">
                <a:latin typeface="Calibri" pitchFamily="34" charset="0"/>
                <a:cs typeface="Arial" pitchFamily="34" charset="0"/>
              </a:rPr>
              <a:t>Критерий оптимальности приёмника 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 правило, которое определяет, какой способ выделения полезной информации считается наилучшим</a:t>
            </a:r>
            <a:endParaRPr lang="ru-RU" sz="800" dirty="0">
              <a:latin typeface="+mj-lt"/>
              <a:cs typeface="+mn-cs"/>
            </a:endParaRPr>
          </a:p>
        </p:txBody>
      </p:sp>
      <p:sp>
        <p:nvSpPr>
          <p:cNvPr id="11271" name="TextBox 14"/>
          <p:cNvSpPr txBox="1">
            <a:spLocks noChangeArrowheads="1"/>
          </p:cNvSpPr>
          <p:nvPr/>
        </p:nvSpPr>
        <p:spPr bwMode="auto">
          <a:xfrm>
            <a:off x="1714500" y="5286375"/>
            <a:ext cx="60721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 i="1">
                <a:latin typeface="Arial" charset="0"/>
              </a:rPr>
              <a:t>Примеры:</a:t>
            </a:r>
          </a:p>
          <a:p>
            <a:r>
              <a:rPr lang="ru-RU">
                <a:latin typeface="Arial" charset="0"/>
              </a:rPr>
              <a:t>- критерий минимума СКО</a:t>
            </a:r>
          </a:p>
          <a:p>
            <a:r>
              <a:rPr lang="ru-RU">
                <a:latin typeface="Arial" charset="0"/>
              </a:rPr>
              <a:t>- критерий максимума апостериорной вероятности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115616" y="764704"/>
            <a:ext cx="714375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Основные понятия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4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5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6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2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1115616" y="764704"/>
            <a:ext cx="7143750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Задачи, решаемые в теории оптимального приёма сигналов</a:t>
            </a:r>
          </a:p>
        </p:txBody>
      </p:sp>
      <p:sp>
        <p:nvSpPr>
          <p:cNvPr id="12329" name="Прямоугольник 41"/>
          <p:cNvSpPr>
            <a:spLocks noChangeArrowheads="1"/>
          </p:cNvSpPr>
          <p:nvPr/>
        </p:nvSpPr>
        <p:spPr bwMode="auto">
          <a:xfrm>
            <a:off x="785813" y="2000250"/>
            <a:ext cx="8215312" cy="217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400" i="1">
                <a:solidFill>
                  <a:srgbClr val="000000"/>
                </a:solidFill>
                <a:latin typeface="Calibri" pitchFamily="34" charset="0"/>
              </a:rPr>
              <a:t>Обнаружение сигнала на фоне помех</a:t>
            </a:r>
          </a:p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400" i="1">
                <a:solidFill>
                  <a:srgbClr val="000000"/>
                </a:solidFill>
                <a:latin typeface="Calibri" pitchFamily="34" charset="0"/>
              </a:rPr>
              <a:t>Различение двух или нескольких сигналов на фоне помех</a:t>
            </a:r>
          </a:p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400" i="1">
                <a:solidFill>
                  <a:srgbClr val="FF0000"/>
                </a:solidFill>
                <a:latin typeface="Calibri" pitchFamily="34" charset="0"/>
              </a:rPr>
              <a:t>Оценка одного или нескольких параметров сигнала, принимаемого в смеси с помехами</a:t>
            </a:r>
          </a:p>
          <a:p>
            <a:pPr marL="457200" indent="-457200">
              <a:spcAft>
                <a:spcPts val="600"/>
              </a:spcAft>
              <a:buFontTx/>
              <a:buAutoNum type="arabicPeriod"/>
            </a:pPr>
            <a:r>
              <a:rPr lang="ru-RU" sz="2400" i="1">
                <a:solidFill>
                  <a:srgbClr val="000000"/>
                </a:solidFill>
                <a:latin typeface="Calibri" pitchFamily="34" charset="0"/>
              </a:rPr>
              <a:t>Фильтрация (выделение) сигнала  из смеси с помехами</a:t>
            </a:r>
            <a:endParaRPr lang="ru-RU" sz="2400"/>
          </a:p>
        </p:txBody>
      </p:sp>
      <p:sp>
        <p:nvSpPr>
          <p:cNvPr id="44" name="Левая фигурная скобка 43"/>
          <p:cNvSpPr/>
          <p:nvPr/>
        </p:nvSpPr>
        <p:spPr>
          <a:xfrm>
            <a:off x="571500" y="2143125"/>
            <a:ext cx="214313" cy="200025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2331" name="TextBox 44"/>
          <p:cNvSpPr txBox="1">
            <a:spLocks noChangeArrowheads="1"/>
          </p:cNvSpPr>
          <p:nvPr/>
        </p:nvSpPr>
        <p:spPr bwMode="auto">
          <a:xfrm>
            <a:off x="1928813" y="5214938"/>
            <a:ext cx="54292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>
                <a:latin typeface="Arial" charset="0"/>
              </a:rPr>
              <a:t>(Задачи 1 и 2 – частный случай задачи 3)</a:t>
            </a:r>
          </a:p>
        </p:txBody>
      </p:sp>
      <p:sp>
        <p:nvSpPr>
          <p:cNvPr id="12332" name="TextBox 44"/>
          <p:cNvSpPr txBox="1">
            <a:spLocks noChangeArrowheads="1"/>
          </p:cNvSpPr>
          <p:nvPr/>
        </p:nvSpPr>
        <p:spPr bwMode="auto">
          <a:xfrm rot="-5400000">
            <a:off x="-560387" y="2989263"/>
            <a:ext cx="185737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1400">
                <a:latin typeface="Tahoma" pitchFamily="34" charset="0"/>
                <a:cs typeface="Tahoma" pitchFamily="34" charset="0"/>
              </a:rPr>
              <a:t>изучаются в курсе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1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2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285750" y="1416050"/>
            <a:ext cx="8501063" cy="5222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Априорная и апостериорная вероятности</a:t>
            </a:r>
          </a:p>
        </p:txBody>
      </p:sp>
      <p:sp>
        <p:nvSpPr>
          <p:cNvPr id="1068" name="Прямоугольник 41"/>
          <p:cNvSpPr>
            <a:spLocks noChangeArrowheads="1"/>
          </p:cNvSpPr>
          <p:nvPr/>
        </p:nvSpPr>
        <p:spPr bwMode="auto">
          <a:xfrm>
            <a:off x="1163638" y="2008188"/>
            <a:ext cx="7194550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spcAft>
                <a:spcPts val="600"/>
              </a:spcAft>
            </a:pPr>
            <a:r>
              <a:rPr lang="en-US" sz="2400" i="1">
                <a:solidFill>
                  <a:srgbClr val="000000"/>
                </a:solidFill>
                <a:latin typeface="Calibri" pitchFamily="34" charset="0"/>
              </a:rPr>
              <a:t>a  priori </a:t>
            </a:r>
            <a:r>
              <a:rPr lang="en-US" sz="2400" i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 </a:t>
            </a:r>
            <a:r>
              <a:rPr lang="ru-RU" sz="2400" i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«из предыдущего» (до «опыта»)</a:t>
            </a:r>
          </a:p>
          <a:p>
            <a:pPr marL="457200" indent="-457200">
              <a:spcAft>
                <a:spcPts val="600"/>
              </a:spcAft>
            </a:pPr>
            <a:r>
              <a:rPr lang="en-US" sz="2400" i="1">
                <a:solidFill>
                  <a:srgbClr val="000000"/>
                </a:solidFill>
                <a:latin typeface="Calibri" pitchFamily="34" charset="0"/>
              </a:rPr>
              <a:t>a  posteriori </a:t>
            </a:r>
            <a:r>
              <a:rPr lang="en-US" sz="2400" i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 </a:t>
            </a:r>
            <a:r>
              <a:rPr lang="ru-RU" sz="2400" i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«из последующего» (после «опыта»)</a:t>
            </a:r>
            <a:endParaRPr lang="ru-RU" sz="2400" i="1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5013" y="3579813"/>
            <a:ext cx="7858125" cy="1400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До начала обработки известно (априорная информация):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вид  сигнала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распределение вероятностей шума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априорное распределение вероятностей параметра </a:t>
            </a:r>
            <a:r>
              <a:rPr lang="ru-RU" sz="2000" dirty="0">
                <a:latin typeface="Arial" pitchFamily="34" charset="0"/>
                <a:cs typeface="Arial" pitchFamily="34" charset="0"/>
                <a:sym typeface="Symbol"/>
              </a:rPr>
              <a:t></a:t>
            </a: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70" name="Rectangle 17"/>
          <p:cNvSpPr>
            <a:spLocks noChangeArrowheads="1"/>
          </p:cNvSpPr>
          <p:nvPr/>
        </p:nvSpPr>
        <p:spPr bwMode="auto">
          <a:xfrm>
            <a:off x="735013" y="3008313"/>
            <a:ext cx="5572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400" b="1" i="1"/>
              <a:t>Принимаемая смесь сигнала и шума: 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092825" y="3000375"/>
          <a:ext cx="25511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3" imgW="977760" imgH="203040" progId="Equation.DSMT4">
                  <p:embed/>
                </p:oleObj>
              </mc:Choice>
              <mc:Fallback>
                <p:oleObj name="Equation" r:id="rId3" imgW="97776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825" y="3000375"/>
                        <a:ext cx="2551113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1" name="Прямоугольник 47"/>
          <p:cNvSpPr>
            <a:spLocks noChangeArrowheads="1"/>
          </p:cNvSpPr>
          <p:nvPr/>
        </p:nvSpPr>
        <p:spPr bwMode="auto">
          <a:xfrm>
            <a:off x="1357313" y="5072063"/>
            <a:ext cx="6397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000" i="1">
                <a:solidFill>
                  <a:srgbClr val="000000"/>
                </a:solidFill>
                <a:latin typeface="Calibri" pitchFamily="34" charset="0"/>
              </a:rPr>
              <a:t>Обрабатываются </a:t>
            </a:r>
            <a:r>
              <a:rPr lang="en-US" sz="2000" i="1">
                <a:solidFill>
                  <a:srgbClr val="000000"/>
                </a:solidFill>
                <a:latin typeface="Calibri" pitchFamily="34" charset="0"/>
              </a:rPr>
              <a:t>N </a:t>
            </a:r>
            <a:r>
              <a:rPr lang="ru-RU" sz="2000" i="1">
                <a:solidFill>
                  <a:srgbClr val="000000"/>
                </a:solidFill>
                <a:latin typeface="Calibri" pitchFamily="34" charset="0"/>
              </a:rPr>
              <a:t>отсчётов принятого колебания:</a:t>
            </a:r>
            <a:endParaRPr lang="ru-RU" sz="2000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500313" y="5357813"/>
          <a:ext cx="381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Equation" r:id="rId5" imgW="1460160" imgH="228600" progId="Equation.DSMT4">
                  <p:embed/>
                </p:oleObj>
              </mc:Choice>
              <mc:Fallback>
                <p:oleObj name="Equation" r:id="rId5" imgW="146016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357813"/>
                        <a:ext cx="38100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395536" y="404664"/>
            <a:ext cx="8501062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ru-RU" sz="3200" b="1" kern="0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 </a:t>
            </a:r>
            <a:r>
              <a:rPr lang="ru-RU" sz="3200" b="1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Оптимальная </a:t>
            </a:r>
            <a:r>
              <a:rPr lang="ru-RU" sz="3200" b="1" kern="0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оценка параметра </a:t>
            </a:r>
            <a:r>
              <a:rPr lang="ru-RU" sz="3200" b="1" kern="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сигнала</a:t>
            </a:r>
          </a:p>
        </p:txBody>
      </p:sp>
      <p:sp>
        <p:nvSpPr>
          <p:cNvPr id="1073" name="Прямоугольник 47"/>
          <p:cNvSpPr>
            <a:spLocks noChangeArrowheads="1"/>
          </p:cNvSpPr>
          <p:nvPr/>
        </p:nvSpPr>
        <p:spPr bwMode="auto">
          <a:xfrm>
            <a:off x="1500188" y="6000750"/>
            <a:ext cx="20177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000" i="1">
                <a:solidFill>
                  <a:srgbClr val="000000"/>
                </a:solidFill>
                <a:latin typeface="Calibri" pitchFamily="34" charset="0"/>
              </a:rPr>
              <a:t>или реализация </a:t>
            </a:r>
            <a:endParaRPr lang="ru-RU" sz="2000"/>
          </a:p>
        </p:txBody>
      </p:sp>
      <p:graphicFrame>
        <p:nvGraphicFramePr>
          <p:cNvPr id="1028" name="Object 48"/>
          <p:cNvGraphicFramePr>
            <a:graphicFrameLocks noChangeAspect="1"/>
          </p:cNvGraphicFramePr>
          <p:nvPr/>
        </p:nvGraphicFramePr>
        <p:xfrm>
          <a:off x="3500438" y="5929313"/>
          <a:ext cx="2357437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7" imgW="977760" imgH="203040" progId="Equation.DSMT4">
                  <p:embed/>
                </p:oleObj>
              </mc:Choice>
              <mc:Fallback>
                <p:oleObj name="Equation" r:id="rId7" imgW="977760" imgH="20304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5929313"/>
                        <a:ext cx="2357437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285750" y="285750"/>
            <a:ext cx="8501063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kern="0" dirty="0">
                <a:solidFill>
                  <a:srgbClr val="002060"/>
                </a:solidFill>
                <a:cs typeface="+mn-cs"/>
              </a:rPr>
              <a:t>Формула полной вероятности</a:t>
            </a:r>
            <a:endParaRPr lang="ru-RU" sz="3200" kern="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01" name="Прямоугольник 41"/>
          <p:cNvSpPr>
            <a:spLocks noChangeArrowheads="1"/>
          </p:cNvSpPr>
          <p:nvPr/>
        </p:nvSpPr>
        <p:spPr bwMode="auto">
          <a:xfrm>
            <a:off x="1643063" y="1527175"/>
            <a:ext cx="57864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ctr">
              <a:spcAft>
                <a:spcPts val="600"/>
              </a:spcAft>
            </a:pPr>
            <a:r>
              <a:rPr lang="ru-RU" sz="2400" i="1">
                <a:solidFill>
                  <a:srgbClr val="000000"/>
                </a:solidFill>
                <a:latin typeface="Calibri" pitchFamily="34" charset="0"/>
              </a:rPr>
              <a:t>Совместная плотность вероятности</a:t>
            </a:r>
            <a:br>
              <a:rPr lang="ru-RU" sz="2400" i="1">
                <a:solidFill>
                  <a:srgbClr val="000000"/>
                </a:solidFill>
                <a:latin typeface="Calibri" pitchFamily="34" charset="0"/>
              </a:rPr>
            </a:br>
            <a:r>
              <a:rPr lang="ru-RU" sz="2400" i="1">
                <a:solidFill>
                  <a:srgbClr val="000000"/>
                </a:solidFill>
                <a:latin typeface="Calibri" pitchFamily="34" charset="0"/>
              </a:rPr>
              <a:t>отсчётов        и параметра  </a:t>
            </a:r>
            <a:r>
              <a:rPr lang="ru-RU" sz="240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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4286250" y="1857375"/>
          <a:ext cx="357188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3" imgW="126720" imgH="190440" progId="Equation.DSMT4">
                  <p:embed/>
                </p:oleObj>
              </mc:Choice>
              <mc:Fallback>
                <p:oleObj name="Equation" r:id="rId3" imgW="126720" imgH="1904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1857375"/>
                        <a:ext cx="357188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7"/>
          <p:cNvGraphicFramePr>
            <a:graphicFrameLocks noChangeAspect="1"/>
          </p:cNvGraphicFramePr>
          <p:nvPr/>
        </p:nvGraphicFramePr>
        <p:xfrm>
          <a:off x="4214813" y="2665413"/>
          <a:ext cx="45878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5" imgW="1828800" imgH="190440" progId="Equation.DSMT4">
                  <p:embed/>
                </p:oleObj>
              </mc:Choice>
              <mc:Fallback>
                <p:oleObj name="Equation" r:id="rId5" imgW="182880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2665413"/>
                        <a:ext cx="4587875" cy="477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02" name="Группа 64"/>
          <p:cNvGrpSpPr>
            <a:grpSpLocks/>
          </p:cNvGrpSpPr>
          <p:nvPr/>
        </p:nvGrpSpPr>
        <p:grpSpPr bwMode="auto">
          <a:xfrm>
            <a:off x="395288" y="3643313"/>
            <a:ext cx="8462962" cy="830262"/>
            <a:chOff x="395270" y="3714752"/>
            <a:chExt cx="8462950" cy="830997"/>
          </a:xfrm>
        </p:grpSpPr>
        <p:sp>
          <p:nvSpPr>
            <p:cNvPr id="54" name="TextBox 53"/>
            <p:cNvSpPr txBox="1"/>
            <p:nvPr/>
          </p:nvSpPr>
          <p:spPr>
            <a:xfrm>
              <a:off x="1928793" y="3714752"/>
              <a:ext cx="6929427" cy="8309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just">
                <a:defRPr/>
              </a:pPr>
              <a:r>
                <a:rPr lang="ru-RU" sz="2000" i="1" dirty="0">
                  <a:latin typeface="Calibri" pitchFamily="34" charset="0"/>
                  <a:cs typeface="Arial" pitchFamily="34" charset="0"/>
                  <a:sym typeface="Symbol"/>
                </a:rPr>
                <a:t> условная плотность вероятности отсчётов    при условии, что параметр равен </a:t>
              </a:r>
              <a:r>
                <a:rPr lang="ru-RU" sz="2000" b="1" dirty="0">
                  <a:solidFill>
                    <a:schemeClr val="dk1"/>
                  </a:solidFill>
                  <a:latin typeface="Calibri" pitchFamily="34" charset="0"/>
                  <a:cs typeface="+mn-cs"/>
                  <a:sym typeface="Symbol"/>
                </a:rPr>
                <a:t> </a:t>
              </a:r>
              <a:r>
                <a:rPr lang="ru-RU" sz="2000" i="1" dirty="0">
                  <a:solidFill>
                    <a:schemeClr val="dk1"/>
                  </a:solidFill>
                  <a:latin typeface="Calibri" pitchFamily="34" charset="0"/>
                  <a:cs typeface="+mn-cs"/>
                  <a:sym typeface="Symbol"/>
                </a:rPr>
                <a:t>(функция правдоподобия)</a:t>
              </a:r>
              <a:endParaRPr lang="ru-RU" sz="2000" i="1" dirty="0">
                <a:latin typeface="Calibri" pitchFamily="34" charset="0"/>
                <a:cs typeface="Arial" pitchFamily="34" charset="0"/>
              </a:endParaRPr>
            </a:p>
            <a:p>
              <a:pPr>
                <a:defRPr/>
              </a:pPr>
              <a:endParaRPr lang="ru-RU" sz="800" dirty="0">
                <a:latin typeface="+mj-lt"/>
                <a:cs typeface="+mn-cs"/>
              </a:endParaRPr>
            </a:p>
          </p:txBody>
        </p:sp>
        <p:graphicFrame>
          <p:nvGraphicFramePr>
            <p:cNvPr id="2057" name="Object 8"/>
            <p:cNvGraphicFramePr>
              <a:graphicFrameLocks noChangeAspect="1"/>
            </p:cNvGraphicFramePr>
            <p:nvPr/>
          </p:nvGraphicFramePr>
          <p:xfrm>
            <a:off x="395270" y="3762375"/>
            <a:ext cx="1676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5" name="Equation" r:id="rId7" imgW="838080" imgH="190440" progId="Equation.DSMT4">
                    <p:embed/>
                  </p:oleObj>
                </mc:Choice>
                <mc:Fallback>
                  <p:oleObj name="Equation" r:id="rId7" imgW="838080" imgH="19044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70" y="3762375"/>
                          <a:ext cx="1676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9"/>
            <p:cNvGraphicFramePr>
              <a:graphicFrameLocks noChangeAspect="1"/>
            </p:cNvGraphicFramePr>
            <p:nvPr/>
          </p:nvGraphicFramePr>
          <p:xfrm>
            <a:off x="7929162" y="3714752"/>
            <a:ext cx="286176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6" name="Equation" r:id="rId9" imgW="126720" imgH="190440" progId="Equation.DSMT4">
                    <p:embed/>
                  </p:oleObj>
                </mc:Choice>
                <mc:Fallback>
                  <p:oleObj name="Equation" r:id="rId9" imgW="126720" imgH="1904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9162" y="3714752"/>
                          <a:ext cx="286176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03" name="Группа 65"/>
          <p:cNvGrpSpPr>
            <a:grpSpLocks/>
          </p:cNvGrpSpPr>
          <p:nvPr/>
        </p:nvGrpSpPr>
        <p:grpSpPr bwMode="auto">
          <a:xfrm>
            <a:off x="500063" y="4429125"/>
            <a:ext cx="7929562" cy="523875"/>
            <a:chOff x="500034" y="4429132"/>
            <a:chExt cx="7929618" cy="523220"/>
          </a:xfrm>
        </p:grpSpPr>
        <p:graphicFrame>
          <p:nvGraphicFramePr>
            <p:cNvPr id="2056" name="Object 10"/>
            <p:cNvGraphicFramePr>
              <a:graphicFrameLocks noChangeAspect="1"/>
            </p:cNvGraphicFramePr>
            <p:nvPr/>
          </p:nvGraphicFramePr>
          <p:xfrm>
            <a:off x="500034" y="4429132"/>
            <a:ext cx="1662113" cy="455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" name="Equation" r:id="rId10" imgW="787320" imgH="215640" progId="Equation.DSMT4">
                    <p:embed/>
                  </p:oleObj>
                </mc:Choice>
                <mc:Fallback>
                  <p:oleObj name="Equation" r:id="rId10" imgW="787320" imgH="2156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4429132"/>
                          <a:ext cx="1662113" cy="455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TextBox 57"/>
            <p:cNvSpPr txBox="1"/>
            <p:nvPr/>
          </p:nvSpPr>
          <p:spPr>
            <a:xfrm>
              <a:off x="2285984" y="4429132"/>
              <a:ext cx="6143668" cy="52322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just">
                <a:defRPr/>
              </a:pPr>
              <a:r>
                <a:rPr lang="ru-RU" sz="2000" i="1" dirty="0">
                  <a:latin typeface="Calibri" pitchFamily="34" charset="0"/>
                  <a:cs typeface="Arial" pitchFamily="34" charset="0"/>
                  <a:sym typeface="Symbol"/>
                </a:rPr>
                <a:t>  априорная плотность вероятности параметра </a:t>
              </a:r>
              <a:r>
                <a:rPr lang="ru-RU" sz="2000" b="1" dirty="0">
                  <a:solidFill>
                    <a:schemeClr val="dk1"/>
                  </a:solidFill>
                  <a:latin typeface="Calibri" pitchFamily="34" charset="0"/>
                  <a:cs typeface="+mn-cs"/>
                  <a:sym typeface="Symbol"/>
                </a:rPr>
                <a:t></a:t>
              </a:r>
              <a:endParaRPr lang="ru-RU" sz="2000" i="1" dirty="0">
                <a:latin typeface="Calibri" pitchFamily="34" charset="0"/>
                <a:cs typeface="Arial" pitchFamily="34" charset="0"/>
              </a:endParaRPr>
            </a:p>
            <a:p>
              <a:pPr>
                <a:defRPr/>
              </a:pPr>
              <a:endParaRPr lang="ru-RU" sz="800" dirty="0">
                <a:latin typeface="+mj-lt"/>
                <a:cs typeface="+mn-cs"/>
              </a:endParaRPr>
            </a:p>
          </p:txBody>
        </p:sp>
      </p:grpSp>
      <p:grpSp>
        <p:nvGrpSpPr>
          <p:cNvPr id="2104" name="Группа 67"/>
          <p:cNvGrpSpPr>
            <a:grpSpLocks/>
          </p:cNvGrpSpPr>
          <p:nvPr/>
        </p:nvGrpSpPr>
        <p:grpSpPr bwMode="auto">
          <a:xfrm>
            <a:off x="500063" y="5691188"/>
            <a:ext cx="6858000" cy="523875"/>
            <a:chOff x="500034" y="5691862"/>
            <a:chExt cx="6858048" cy="523220"/>
          </a:xfrm>
        </p:grpSpPr>
        <p:graphicFrame>
          <p:nvGraphicFramePr>
            <p:cNvPr id="2054" name="Object 12"/>
            <p:cNvGraphicFramePr>
              <a:graphicFrameLocks noChangeAspect="1"/>
            </p:cNvGraphicFramePr>
            <p:nvPr/>
          </p:nvGraphicFramePr>
          <p:xfrm>
            <a:off x="5786446" y="5691862"/>
            <a:ext cx="2857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" name="Equation" r:id="rId12" imgW="126720" imgH="190440" progId="Equation.DSMT4">
                    <p:embed/>
                  </p:oleObj>
                </mc:Choice>
                <mc:Fallback>
                  <p:oleObj name="Equation" r:id="rId12" imgW="126720" imgH="1904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6446" y="5691862"/>
                          <a:ext cx="28575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13"/>
            <p:cNvGraphicFramePr>
              <a:graphicFrameLocks noChangeAspect="1"/>
            </p:cNvGraphicFramePr>
            <p:nvPr/>
          </p:nvGraphicFramePr>
          <p:xfrm>
            <a:off x="500034" y="5691862"/>
            <a:ext cx="685805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9" name="Equation" r:id="rId13" imgW="304560" imgH="190440" progId="Equation.DSMT4">
                    <p:embed/>
                  </p:oleObj>
                </mc:Choice>
                <mc:Fallback>
                  <p:oleObj name="Equation" r:id="rId13" imgW="304560" imgH="19044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5691862"/>
                          <a:ext cx="685805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TextBox 62"/>
            <p:cNvSpPr txBox="1"/>
            <p:nvPr/>
          </p:nvSpPr>
          <p:spPr>
            <a:xfrm>
              <a:off x="1214414" y="5691862"/>
              <a:ext cx="6143668" cy="52322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just">
                <a:defRPr/>
              </a:pPr>
              <a:r>
                <a:rPr lang="ru-RU" sz="2000" i="1" dirty="0">
                  <a:latin typeface="Calibri" pitchFamily="34" charset="0"/>
                  <a:cs typeface="Arial" pitchFamily="34" charset="0"/>
                  <a:sym typeface="Symbol"/>
                </a:rPr>
                <a:t>  плотность вероятности отсчётов </a:t>
              </a:r>
              <a:endParaRPr lang="ru-RU" sz="2000" i="1" dirty="0">
                <a:latin typeface="Calibri" pitchFamily="34" charset="0"/>
                <a:cs typeface="Arial" pitchFamily="34" charset="0"/>
              </a:endParaRPr>
            </a:p>
            <a:p>
              <a:pPr>
                <a:defRPr/>
              </a:pPr>
              <a:endParaRPr lang="ru-RU" sz="800" dirty="0">
                <a:latin typeface="+mj-lt"/>
                <a:cs typeface="+mn-cs"/>
              </a:endParaRPr>
            </a:p>
          </p:txBody>
        </p:sp>
      </p:grpSp>
      <p:grpSp>
        <p:nvGrpSpPr>
          <p:cNvPr id="2105" name="Группа 66"/>
          <p:cNvGrpSpPr>
            <a:grpSpLocks/>
          </p:cNvGrpSpPr>
          <p:nvPr/>
        </p:nvGrpSpPr>
        <p:grpSpPr bwMode="auto">
          <a:xfrm>
            <a:off x="500063" y="4929188"/>
            <a:ext cx="8501062" cy="830262"/>
            <a:chOff x="500034" y="4929198"/>
            <a:chExt cx="8501122" cy="830997"/>
          </a:xfrm>
        </p:grpSpPr>
        <p:graphicFrame>
          <p:nvGraphicFramePr>
            <p:cNvPr id="2052" name="Object 11"/>
            <p:cNvGraphicFramePr>
              <a:graphicFrameLocks noChangeAspect="1"/>
            </p:cNvGraphicFramePr>
            <p:nvPr/>
          </p:nvGraphicFramePr>
          <p:xfrm>
            <a:off x="500034" y="4976813"/>
            <a:ext cx="1762125" cy="404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" name="Equation" r:id="rId15" imgW="939600" imgH="215640" progId="Equation.DSMT4">
                    <p:embed/>
                  </p:oleObj>
                </mc:Choice>
                <mc:Fallback>
                  <p:oleObj name="Equation" r:id="rId15" imgW="939600" imgH="2156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4" y="4976813"/>
                          <a:ext cx="1762125" cy="4048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TextBox 59"/>
            <p:cNvSpPr txBox="1"/>
            <p:nvPr/>
          </p:nvSpPr>
          <p:spPr>
            <a:xfrm>
              <a:off x="2285984" y="4929198"/>
              <a:ext cx="6715172" cy="83099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just">
                <a:defRPr/>
              </a:pPr>
              <a:r>
                <a:rPr lang="ru-RU" sz="2000" i="1" dirty="0">
                  <a:latin typeface="Calibri" pitchFamily="34" charset="0"/>
                  <a:cs typeface="Arial" pitchFamily="34" charset="0"/>
                  <a:sym typeface="Symbol"/>
                </a:rPr>
                <a:t> апостериорная плотность вероятности параметра </a:t>
              </a:r>
              <a:r>
                <a:rPr lang="ru-RU" sz="2000" b="1" dirty="0">
                  <a:solidFill>
                    <a:schemeClr val="dk1"/>
                  </a:solidFill>
                  <a:latin typeface="Calibri" pitchFamily="34" charset="0"/>
                  <a:cs typeface="+mn-cs"/>
                  <a:sym typeface="Symbol"/>
                </a:rPr>
                <a:t> </a:t>
              </a:r>
              <a:r>
                <a:rPr lang="ru-RU" sz="2000" i="1" dirty="0">
                  <a:latin typeface="Calibri" pitchFamily="34" charset="0"/>
                  <a:cs typeface="Arial" pitchFamily="34" charset="0"/>
                  <a:sym typeface="Symbol"/>
                </a:rPr>
                <a:t>при условии, что приняты отсчёты </a:t>
              </a:r>
            </a:p>
            <a:p>
              <a:pPr>
                <a:defRPr/>
              </a:pPr>
              <a:endParaRPr lang="ru-RU" sz="800" dirty="0">
                <a:latin typeface="+mj-lt"/>
                <a:cs typeface="+mn-cs"/>
              </a:endParaRPr>
            </a:p>
          </p:txBody>
        </p:sp>
        <p:graphicFrame>
          <p:nvGraphicFramePr>
            <p:cNvPr id="2053" name="Object 14"/>
            <p:cNvGraphicFramePr>
              <a:graphicFrameLocks noChangeAspect="1"/>
            </p:cNvGraphicFramePr>
            <p:nvPr/>
          </p:nvGraphicFramePr>
          <p:xfrm>
            <a:off x="6643702" y="5214953"/>
            <a:ext cx="2857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1" name="Equation" r:id="rId17" imgW="126720" imgH="190440" progId="Equation.DSMT4">
                    <p:embed/>
                  </p:oleObj>
                </mc:Choice>
                <mc:Fallback>
                  <p:oleObj name="Equation" r:id="rId17" imgW="126720" imgH="19044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3702" y="5214953"/>
                          <a:ext cx="285750" cy="428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06" name="Группа 66"/>
          <p:cNvGrpSpPr>
            <a:grpSpLocks/>
          </p:cNvGrpSpPr>
          <p:nvPr/>
        </p:nvGrpSpPr>
        <p:grpSpPr bwMode="auto">
          <a:xfrm>
            <a:off x="571500" y="2571750"/>
            <a:ext cx="3341688" cy="928688"/>
            <a:chOff x="571472" y="2571744"/>
            <a:chExt cx="3341688" cy="928687"/>
          </a:xfrm>
        </p:grpSpPr>
        <p:graphicFrame>
          <p:nvGraphicFramePr>
            <p:cNvPr id="2059" name="Object 2"/>
            <p:cNvGraphicFramePr>
              <a:graphicFrameLocks noChangeAspect="1"/>
            </p:cNvGraphicFramePr>
            <p:nvPr/>
          </p:nvGraphicFramePr>
          <p:xfrm>
            <a:off x="571472" y="2804563"/>
            <a:ext cx="1018279" cy="404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2" name="Equation" r:id="rId18" imgW="431640" imgH="190440" progId="Equation.DSMT4">
                    <p:embed/>
                  </p:oleObj>
                </mc:Choice>
                <mc:Fallback>
                  <p:oleObj name="Equation" r:id="rId18" imgW="431640" imgH="19044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472" y="2804563"/>
                          <a:ext cx="1018279" cy="4048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0" name="Object 5"/>
            <p:cNvGraphicFramePr>
              <a:graphicFrameLocks noChangeAspect="1"/>
            </p:cNvGraphicFramePr>
            <p:nvPr/>
          </p:nvGraphicFramePr>
          <p:xfrm>
            <a:off x="2055875" y="2571744"/>
            <a:ext cx="1857285" cy="404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" name="Equation" r:id="rId20" imgW="787320" imgH="190440" progId="Equation.DSMT4">
                    <p:embed/>
                  </p:oleObj>
                </mc:Choice>
                <mc:Fallback>
                  <p:oleObj name="Equation" r:id="rId20" imgW="787320" imgH="1904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875" y="2571744"/>
                          <a:ext cx="1857285" cy="4048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1" name="Object 6"/>
            <p:cNvGraphicFramePr>
              <a:graphicFrameLocks noChangeAspect="1"/>
            </p:cNvGraphicFramePr>
            <p:nvPr/>
          </p:nvGraphicFramePr>
          <p:xfrm>
            <a:off x="2055875" y="3095587"/>
            <a:ext cx="1857284" cy="404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4" name="Equation" r:id="rId22" imgW="787320" imgH="190440" progId="Equation.DSMT4">
                    <p:embed/>
                  </p:oleObj>
                </mc:Choice>
                <mc:Fallback>
                  <p:oleObj name="Equation" r:id="rId22" imgW="787320" imgH="1904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5875" y="3095587"/>
                          <a:ext cx="1857284" cy="4048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7" name="TextBox 64"/>
            <p:cNvSpPr txBox="1">
              <a:spLocks noChangeArrowheads="1"/>
            </p:cNvSpPr>
            <p:nvPr/>
          </p:nvSpPr>
          <p:spPr bwMode="auto">
            <a:xfrm rot="1622377">
              <a:off x="1585583" y="2989948"/>
              <a:ext cx="3571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>
                  <a:latin typeface="Arial" charset="0"/>
                </a:rPr>
                <a:t>=</a:t>
              </a:r>
              <a:endParaRPr lang="ru-RU" sz="2400">
                <a:latin typeface="Arial" charset="0"/>
              </a:endParaRPr>
            </a:p>
          </p:txBody>
        </p:sp>
        <p:sp>
          <p:nvSpPr>
            <p:cNvPr id="2108" name="TextBox 65"/>
            <p:cNvSpPr txBox="1">
              <a:spLocks noChangeArrowheads="1"/>
            </p:cNvSpPr>
            <p:nvPr/>
          </p:nvSpPr>
          <p:spPr bwMode="auto">
            <a:xfrm rot="-1641018">
              <a:off x="1586252" y="2627991"/>
              <a:ext cx="3571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2400">
                  <a:latin typeface="Arial" charset="0"/>
                </a:rPr>
                <a:t>=</a:t>
              </a:r>
              <a:endParaRPr lang="ru-RU" sz="2400">
                <a:latin typeface="Arial" charset="0"/>
              </a:endParaRPr>
            </a:p>
          </p:txBody>
        </p:sp>
      </p:grpSp>
      <p:sp>
        <p:nvSpPr>
          <p:cNvPr id="2114" name="Rectangle 6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113" name="Object 65"/>
          <p:cNvGraphicFramePr>
            <a:graphicFrameLocks noChangeAspect="1"/>
          </p:cNvGraphicFramePr>
          <p:nvPr/>
        </p:nvGraphicFramePr>
        <p:xfrm>
          <a:off x="1691680" y="908720"/>
          <a:ext cx="5616624" cy="721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" name="Equation" r:id="rId24" imgW="2374900" imgH="304800" progId="Equation.DSMT4">
                  <p:embed/>
                </p:oleObj>
              </mc:Choice>
              <mc:Fallback>
                <p:oleObj name="Equation" r:id="rId24" imgW="2374900" imgH="30480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908720"/>
                        <a:ext cx="5616624" cy="7218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429625" y="6286500"/>
            <a:ext cx="5715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400" kern="0" dirty="0">
                <a:cs typeface="+mn-cs"/>
              </a:rPr>
              <a:t>5</a:t>
            </a:r>
            <a:endParaRPr lang="ru-RU" sz="2400" dirty="0">
              <a:cs typeface="+mn-cs"/>
            </a:endParaRPr>
          </a:p>
        </p:txBody>
      </p:sp>
      <p:sp>
        <p:nvSpPr>
          <p:cNvPr id="30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0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1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2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8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395536" y="908720"/>
            <a:ext cx="8501063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3200" kern="0" dirty="0">
                <a:solidFill>
                  <a:srgbClr val="002060"/>
                </a:solidFill>
                <a:cs typeface="+mn-cs"/>
              </a:rPr>
              <a:t>Формула Байеса. Функция правдоподобия</a:t>
            </a:r>
            <a:endParaRPr lang="ru-RU" sz="3200" kern="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074" name="Object 7"/>
          <p:cNvGraphicFramePr>
            <a:graphicFrameLocks noChangeAspect="1"/>
          </p:cNvGraphicFramePr>
          <p:nvPr/>
        </p:nvGraphicFramePr>
        <p:xfrm>
          <a:off x="1176338" y="1785938"/>
          <a:ext cx="6681787" cy="107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2374560" imgH="380880" progId="Equation.DSMT4">
                  <p:embed/>
                </p:oleObj>
              </mc:Choice>
              <mc:Fallback>
                <p:oleObj name="Equation" r:id="rId3" imgW="2374560" imgH="380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1785938"/>
                        <a:ext cx="6681787" cy="10715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428625" y="3429000"/>
            <a:ext cx="8429625" cy="1692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400" i="1" dirty="0">
                <a:solidFill>
                  <a:schemeClr val="dk1"/>
                </a:solidFill>
                <a:latin typeface="Calibri" pitchFamily="34" charset="0"/>
                <a:cs typeface="+mn-cs"/>
                <a:sym typeface="Symbol"/>
              </a:rPr>
              <a:t>Функция правдоподобия                                                      </a:t>
            </a:r>
            <a:r>
              <a:rPr lang="ru-RU" sz="2400" i="1" dirty="0">
                <a:latin typeface="Calibri" pitchFamily="34" charset="0"/>
                <a:cs typeface="Arial" pitchFamily="34" charset="0"/>
                <a:sym typeface="Symbol"/>
              </a:rPr>
              <a:t> условная плотность вероятности отсчётов принятой смеси сигнала и шума, </a:t>
            </a:r>
            <a:r>
              <a:rPr lang="ru-RU" sz="2400" b="1" i="1" dirty="0">
                <a:latin typeface="Calibri" pitchFamily="34" charset="0"/>
                <a:cs typeface="Arial" pitchFamily="34" charset="0"/>
                <a:sym typeface="Symbol"/>
              </a:rPr>
              <a:t>рассматриваемая как функция параметра  </a:t>
            </a:r>
            <a:r>
              <a:rPr lang="ru-RU" sz="2400" b="1" dirty="0">
                <a:solidFill>
                  <a:schemeClr val="dk1"/>
                </a:solidFill>
                <a:latin typeface="Calibri" pitchFamily="34" charset="0"/>
                <a:cs typeface="+mn-cs"/>
                <a:sym typeface="Symbol"/>
              </a:rPr>
              <a:t></a:t>
            </a:r>
            <a:endParaRPr lang="ru-RU" sz="2400" b="1" i="1" dirty="0">
              <a:latin typeface="Calibri" pitchFamily="34" charset="0"/>
              <a:cs typeface="Arial" pitchFamily="34" charset="0"/>
            </a:endParaRP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graphicFrame>
        <p:nvGraphicFramePr>
          <p:cNvPr id="3075" name="Object 8"/>
          <p:cNvGraphicFramePr>
            <a:graphicFrameLocks noChangeAspect="1"/>
          </p:cNvGraphicFramePr>
          <p:nvPr/>
        </p:nvGraphicFramePr>
        <p:xfrm>
          <a:off x="3886200" y="3438525"/>
          <a:ext cx="45878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1968480" imgH="203040" progId="Equation.DSMT4">
                  <p:embed/>
                </p:oleObj>
              </mc:Choice>
              <mc:Fallback>
                <p:oleObj name="Equation" r:id="rId5" imgW="196848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438525"/>
                        <a:ext cx="45878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323528" y="476672"/>
            <a:ext cx="8501062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800" kern="0" dirty="0">
                <a:solidFill>
                  <a:srgbClr val="002060"/>
                </a:solidFill>
                <a:cs typeface="+mn-cs"/>
              </a:rPr>
              <a:t>Функция правдоподобия</a:t>
            </a:r>
            <a:r>
              <a:rPr lang="en-US" sz="280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ru-RU" sz="2800" kern="0" dirty="0">
                <a:solidFill>
                  <a:srgbClr val="002060"/>
                </a:solidFill>
                <a:cs typeface="+mn-cs"/>
              </a:rPr>
              <a:t>параметра сигнала, принимаемого на фоне нормального белого шума</a:t>
            </a:r>
            <a:endParaRPr lang="ru-RU" sz="2800" kern="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5750" y="1571625"/>
            <a:ext cx="771525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b="1" i="1" dirty="0">
                <a:solidFill>
                  <a:schemeClr val="dk1"/>
                </a:solidFill>
                <a:cs typeface="Times New Roman" pitchFamily="18" charset="0"/>
                <a:sym typeface="Symbol"/>
              </a:rPr>
              <a:t>1-й шаг - </a:t>
            </a:r>
            <a:r>
              <a:rPr lang="ru-RU" sz="2000" i="1" dirty="0">
                <a:solidFill>
                  <a:schemeClr val="dk1"/>
                </a:solidFill>
                <a:cs typeface="Times New Roman" pitchFamily="18" charset="0"/>
                <a:sym typeface="Symbol"/>
              </a:rPr>
              <a:t>находим функцию правдоподобия при следующих условиях:</a:t>
            </a:r>
            <a:endParaRPr lang="ru-RU" sz="1400" i="1" dirty="0">
              <a:solidFill>
                <a:schemeClr val="dk1"/>
              </a:solidFill>
              <a:cs typeface="Times New Roman" pitchFamily="18" charset="0"/>
              <a:sym typeface="Symbol"/>
            </a:endParaRP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428625" y="2000250"/>
          <a:ext cx="4857750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3" imgW="2679480" imgH="850680" progId="Equation.DSMT4">
                  <p:embed/>
                </p:oleObj>
              </mc:Choice>
              <mc:Fallback>
                <p:oleObj name="Equation" r:id="rId3" imgW="2679480" imgH="850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2000250"/>
                        <a:ext cx="4857750" cy="154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2" name="TextBox 44"/>
          <p:cNvSpPr txBox="1">
            <a:spLocks noChangeArrowheads="1"/>
          </p:cNvSpPr>
          <p:nvPr/>
        </p:nvSpPr>
        <p:spPr bwMode="auto">
          <a:xfrm>
            <a:off x="357188" y="4171950"/>
            <a:ext cx="36433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ru-RU" sz="2000" b="1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2-й шаг - </a:t>
            </a:r>
            <a:r>
              <a:rPr lang="ru-RU" sz="2000" i="1">
                <a:solidFill>
                  <a:srgbClr val="000000"/>
                </a:solidFill>
                <a:cs typeface="Times New Roman" pitchFamily="18" charset="0"/>
                <a:sym typeface="Symbol" pitchFamily="18" charset="2"/>
              </a:rPr>
              <a:t>переходим к пределу:</a:t>
            </a:r>
            <a:endParaRPr lang="ru-RU" sz="2000" b="1" i="1">
              <a:cs typeface="Times New Roman" pitchFamily="18" charset="0"/>
            </a:endParaRPr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285750" y="4670425"/>
          <a:ext cx="57435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5" imgW="3174840" imgH="419040" progId="Equation.DSMT4">
                  <p:embed/>
                </p:oleObj>
              </mc:Choice>
              <mc:Fallback>
                <p:oleObj name="Equation" r:id="rId5" imgW="3174840" imgH="419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4670425"/>
                        <a:ext cx="5743575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8"/>
          <p:cNvGraphicFramePr>
            <a:graphicFrameLocks noChangeAspect="1"/>
          </p:cNvGraphicFramePr>
          <p:nvPr/>
        </p:nvGraphicFramePr>
        <p:xfrm>
          <a:off x="1071563" y="3571875"/>
          <a:ext cx="398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7" imgW="2057400" imgH="203040" progId="Equation.DSMT4">
                  <p:embed/>
                </p:oleObj>
              </mc:Choice>
              <mc:Fallback>
                <p:oleObj name="Equation" r:id="rId7" imgW="2057400" imgH="203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571875"/>
                        <a:ext cx="398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7"/>
          <p:cNvGraphicFramePr>
            <a:graphicFrameLocks noChangeAspect="1"/>
          </p:cNvGraphicFramePr>
          <p:nvPr/>
        </p:nvGraphicFramePr>
        <p:xfrm>
          <a:off x="1143000" y="5572125"/>
          <a:ext cx="312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9" imgW="1562040" imgH="190440" progId="Equation.DSMT4">
                  <p:embed/>
                </p:oleObj>
              </mc:Choice>
              <mc:Fallback>
                <p:oleObj name="Equation" r:id="rId9" imgW="1562040" imgH="190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72125"/>
                        <a:ext cx="3124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43" name="Рисунок 48" descr="Спектр с ограниченной верхней частотой.emf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143625" y="2000250"/>
            <a:ext cx="2636838" cy="1870075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  <a:miter lim="800000"/>
            <a:headEnd/>
            <a:tailEnd/>
          </a:ln>
        </p:spPr>
      </p:pic>
      <p:pic>
        <p:nvPicPr>
          <p:cNvPr id="4144" name="Рисунок 49" descr="Спектр с неограниченной верхней частотой.emf"/>
          <p:cNvPicPr>
            <a:picLocks noChangeAspect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143625" y="4122738"/>
            <a:ext cx="2643188" cy="1870075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8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179512" y="752823"/>
            <a:ext cx="8786812" cy="5159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750" kern="0" dirty="0">
                <a:solidFill>
                  <a:srgbClr val="002060"/>
                </a:solidFill>
                <a:cs typeface="+mn-cs"/>
              </a:rPr>
              <a:t>Функция правдоподобия</a:t>
            </a:r>
            <a:r>
              <a:rPr lang="en-US" sz="275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ru-RU" sz="2750" kern="0" dirty="0">
                <a:solidFill>
                  <a:srgbClr val="002060"/>
                </a:solidFill>
                <a:cs typeface="+mn-cs"/>
              </a:rPr>
              <a:t>при ограниченной частоте </a:t>
            </a:r>
            <a:r>
              <a:rPr lang="en-US" sz="2750" i="1" kern="0" dirty="0">
                <a:solidFill>
                  <a:srgbClr val="002060"/>
                </a:solidFill>
                <a:cs typeface="+mn-cs"/>
              </a:rPr>
              <a:t>f</a:t>
            </a:r>
            <a:r>
              <a:rPr lang="ru-RU" sz="2750" kern="0" baseline="-25000" dirty="0">
                <a:solidFill>
                  <a:srgbClr val="002060"/>
                </a:solidFill>
                <a:cs typeface="+mn-cs"/>
              </a:rPr>
              <a:t>в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5750" y="1571625"/>
            <a:ext cx="164306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dirty="0">
                <a:solidFill>
                  <a:schemeClr val="dk1"/>
                </a:solidFill>
                <a:cs typeface="Times New Roman" pitchFamily="18" charset="0"/>
                <a:sym typeface="Symbol"/>
              </a:rPr>
              <a:t>АКФ шума</a:t>
            </a:r>
            <a:endParaRPr lang="ru-RU" sz="2000" dirty="0">
              <a:cs typeface="Times New Roman" pitchFamily="18" charset="0"/>
            </a:endParaRP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357188" y="2000250"/>
          <a:ext cx="5294312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Equation" r:id="rId3" imgW="2565360" imgH="825480" progId="Equation.DSMT4">
                  <p:embed/>
                </p:oleObj>
              </mc:Choice>
              <mc:Fallback>
                <p:oleObj name="Equation" r:id="rId3" imgW="256536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000250"/>
                        <a:ext cx="5294312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65" name="Рисунок 51" descr="АКФ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05488" y="1500188"/>
            <a:ext cx="3055937" cy="2428875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53" name="TextBox 52"/>
          <p:cNvSpPr txBox="1"/>
          <p:nvPr/>
        </p:nvSpPr>
        <p:spPr bwMode="auto">
          <a:xfrm>
            <a:off x="500063" y="4219575"/>
            <a:ext cx="8286750" cy="1138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u-RU" sz="2000" i="1" dirty="0">
                <a:solidFill>
                  <a:schemeClr val="dk1"/>
                </a:solidFill>
                <a:latin typeface="Calibri" pitchFamily="34" charset="0"/>
                <a:cs typeface="+mn-cs"/>
                <a:sym typeface="Symbol"/>
              </a:rPr>
              <a:t>Отсчёты шума, взятые с интервалом дискретизации           </a:t>
            </a:r>
            <a:br>
              <a:rPr lang="ru-RU" sz="2000" i="1" dirty="0">
                <a:solidFill>
                  <a:schemeClr val="dk1"/>
                </a:solidFill>
                <a:latin typeface="Calibri" pitchFamily="34" charset="0"/>
                <a:cs typeface="+mn-cs"/>
                <a:sym typeface="Symbol"/>
              </a:rPr>
            </a:b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  </a:t>
            </a:r>
            <a:r>
              <a:rPr lang="ru-RU" sz="2000" i="1" dirty="0" err="1">
                <a:latin typeface="Calibri" pitchFamily="34" charset="0"/>
                <a:cs typeface="Arial" pitchFamily="34" charset="0"/>
                <a:sym typeface="Symbol"/>
              </a:rPr>
              <a:t>некоррелированны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 и </a:t>
            </a:r>
            <a:r>
              <a:rPr lang="ru-RU" sz="2000" b="1" i="1" dirty="0">
                <a:latin typeface="Calibri" pitchFamily="34" charset="0"/>
                <a:cs typeface="Arial" pitchFamily="34" charset="0"/>
                <a:sym typeface="Symbol"/>
              </a:rPr>
              <a:t>статистически независимы</a:t>
            </a:r>
            <a:r>
              <a:rPr lang="ru-RU" sz="2000" i="1" dirty="0">
                <a:latin typeface="Calibri" pitchFamily="34" charset="0"/>
                <a:cs typeface="Arial" pitchFamily="34" charset="0"/>
                <a:sym typeface="Symbol"/>
              </a:rPr>
              <a:t> (т.к. имеют нормальное распределение) </a:t>
            </a:r>
            <a:endParaRPr lang="ru-RU" sz="2000" b="1" i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ru-RU" sz="800" dirty="0">
              <a:latin typeface="+mj-lt"/>
              <a:cs typeface="+mn-cs"/>
            </a:endParaRPr>
          </a:p>
        </p:txBody>
      </p:sp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7000875" y="4127500"/>
          <a:ext cx="1806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Equation" r:id="rId6" imgW="965160" imgH="380880" progId="Equation.DSMT4">
                  <p:embed/>
                </p:oleObj>
              </mc:Choice>
              <mc:Fallback>
                <p:oleObj name="Equation" r:id="rId6" imgW="965160" imgH="380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4127500"/>
                        <a:ext cx="1806575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500063" y="5357813"/>
          <a:ext cx="78581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Equation" r:id="rId8" imgW="3924000" imgH="393480" progId="Equation.DSMT4">
                  <p:embed/>
                </p:oleObj>
              </mc:Choice>
              <mc:Fallback>
                <p:oleObj name="Equation" r:id="rId8" imgW="39240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5357813"/>
                        <a:ext cx="7858125" cy="787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6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2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357188" y="908720"/>
            <a:ext cx="8786812" cy="5159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750" kern="0" dirty="0">
                <a:solidFill>
                  <a:srgbClr val="002060"/>
                </a:solidFill>
                <a:cs typeface="+mn-cs"/>
              </a:rPr>
              <a:t>Функция правдоподобия</a:t>
            </a:r>
            <a:r>
              <a:rPr lang="en-US" sz="275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ru-RU" sz="2750" kern="0" dirty="0">
                <a:solidFill>
                  <a:srgbClr val="002060"/>
                </a:solidFill>
                <a:cs typeface="+mn-cs"/>
              </a:rPr>
              <a:t>при ограниченной частоте </a:t>
            </a:r>
            <a:r>
              <a:rPr lang="en-US" sz="2750" i="1" kern="0" dirty="0">
                <a:solidFill>
                  <a:srgbClr val="002060"/>
                </a:solidFill>
                <a:cs typeface="+mn-cs"/>
              </a:rPr>
              <a:t>f</a:t>
            </a:r>
            <a:r>
              <a:rPr lang="ru-RU" sz="2750" kern="0" baseline="-25000" dirty="0">
                <a:solidFill>
                  <a:srgbClr val="002060"/>
                </a:solidFill>
                <a:cs typeface="+mn-cs"/>
              </a:rPr>
              <a:t>в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571625" y="1500188"/>
            <a:ext cx="61436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000" dirty="0">
                <a:solidFill>
                  <a:schemeClr val="dk1"/>
                </a:solidFill>
                <a:cs typeface="Times New Roman" pitchFamily="18" charset="0"/>
                <a:sym typeface="Symbol"/>
              </a:rPr>
              <a:t>Нормальное распределение вероятностей отсчётов: </a:t>
            </a:r>
            <a:endParaRPr lang="ru-RU" sz="2000" dirty="0">
              <a:cs typeface="Times New Roman" pitchFamily="18" charset="0"/>
            </a:endParaRPr>
          </a:p>
          <a:p>
            <a:pPr>
              <a:defRPr/>
            </a:pPr>
            <a:endParaRPr lang="ru-RU" sz="800" dirty="0">
              <a:latin typeface="+mj-lt"/>
              <a:cs typeface="+mn-cs"/>
            </a:endParaRPr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714375" y="1903413"/>
          <a:ext cx="7578725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3" imgW="3771720" imgH="469800" progId="Equation.DSMT4">
                  <p:embed/>
                </p:oleObj>
              </mc:Choice>
              <mc:Fallback>
                <p:oleObj name="Equation" r:id="rId3" imgW="377172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903413"/>
                        <a:ext cx="7578725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8"/>
          <p:cNvGraphicFramePr>
            <a:graphicFrameLocks noChangeAspect="1"/>
          </p:cNvGraphicFramePr>
          <p:nvPr/>
        </p:nvGraphicFramePr>
        <p:xfrm>
          <a:off x="538163" y="2917825"/>
          <a:ext cx="794385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5" imgW="4394160" imgH="482400" progId="Equation.DSMT4">
                  <p:embed/>
                </p:oleObj>
              </mc:Choice>
              <mc:Fallback>
                <p:oleObj name="Equation" r:id="rId5" imgW="439416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3" y="2917825"/>
                        <a:ext cx="794385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7"/>
          <p:cNvGraphicFramePr>
            <a:graphicFrameLocks noChangeAspect="1"/>
          </p:cNvGraphicFramePr>
          <p:nvPr/>
        </p:nvGraphicFramePr>
        <p:xfrm>
          <a:off x="2255838" y="3984625"/>
          <a:ext cx="5018087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7" imgW="2768400" imgH="1244520" progId="Equation.DSMT4">
                  <p:embed/>
                </p:oleObj>
              </mc:Choice>
              <mc:Fallback>
                <p:oleObj name="Equation" r:id="rId7" imgW="2768400" imgH="1244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984625"/>
                        <a:ext cx="5018087" cy="225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7477125" y="5505450"/>
          <a:ext cx="10826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9" imgW="583920" imgH="304560" progId="Equation.DSMT4">
                  <p:embed/>
                </p:oleObj>
              </mc:Choice>
              <mc:Fallback>
                <p:oleObj name="Equation" r:id="rId9" imgW="583920" imgH="304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25" y="5505450"/>
                        <a:ext cx="1082675" cy="566738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Прямая со стрелкой 46"/>
          <p:cNvCxnSpPr/>
          <p:nvPr/>
        </p:nvCxnSpPr>
        <p:spPr>
          <a:xfrm rot="10800000">
            <a:off x="7215188" y="5000625"/>
            <a:ext cx="714375" cy="500063"/>
          </a:xfrm>
          <a:prstGeom prst="straightConnector1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7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8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1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498574" y="836712"/>
            <a:ext cx="6929437" cy="5159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750" kern="0" dirty="0">
                <a:solidFill>
                  <a:srgbClr val="002060"/>
                </a:solidFill>
                <a:cs typeface="+mn-cs"/>
              </a:rPr>
              <a:t>Функция правдоподобия</a:t>
            </a:r>
            <a:r>
              <a:rPr lang="en-US" sz="2750" kern="0" dirty="0">
                <a:solidFill>
                  <a:srgbClr val="002060"/>
                </a:solidFill>
                <a:cs typeface="+mn-cs"/>
              </a:rPr>
              <a:t> </a:t>
            </a:r>
            <a:r>
              <a:rPr lang="ru-RU" sz="2750" kern="0" dirty="0">
                <a:solidFill>
                  <a:srgbClr val="002060"/>
                </a:solidFill>
                <a:cs typeface="+mn-cs"/>
              </a:rPr>
              <a:t>при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170" name="Object 7"/>
          <p:cNvGraphicFramePr>
            <a:graphicFrameLocks noChangeAspect="1"/>
          </p:cNvGraphicFramePr>
          <p:nvPr/>
        </p:nvGraphicFramePr>
        <p:xfrm>
          <a:off x="193675" y="1663700"/>
          <a:ext cx="8769350" cy="168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3" imgW="6235560" imgH="1143000" progId="Equation.DSMT4">
                  <p:embed/>
                </p:oleObj>
              </mc:Choice>
              <mc:Fallback>
                <p:oleObj name="Equation" r:id="rId3" imgW="6235560" imgH="1143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1663700"/>
                        <a:ext cx="8769350" cy="168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6588224" y="836712"/>
          <a:ext cx="11255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5" imgW="457200" imgH="203040" progId="Equation.DSMT4">
                  <p:embed/>
                </p:oleObj>
              </mc:Choice>
              <mc:Fallback>
                <p:oleObj name="Equation" r:id="rId5" imgW="45720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836712"/>
                        <a:ext cx="1125537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/>
          <p:cNvGraphicFramePr>
            <a:graphicFrameLocks noChangeAspect="1"/>
          </p:cNvGraphicFramePr>
          <p:nvPr/>
        </p:nvGraphicFramePr>
        <p:xfrm>
          <a:off x="155575" y="3430588"/>
          <a:ext cx="8815388" cy="185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8" name="Equation" r:id="rId7" imgW="5181480" imgH="1091880" progId="Equation.DSMT4">
                  <p:embed/>
                </p:oleObj>
              </mc:Choice>
              <mc:Fallback>
                <p:oleObj name="Equation" r:id="rId7" imgW="5181480" imgH="1091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575" y="3430588"/>
                        <a:ext cx="8815388" cy="185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3127375" y="5429250"/>
          <a:ext cx="323056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9" name="Equation" r:id="rId9" imgW="1473120" imgH="330120" progId="Equation.DSMT4">
                  <p:embed/>
                </p:oleObj>
              </mc:Choice>
              <mc:Fallback>
                <p:oleObj name="Equation" r:id="rId9" imgW="1473120" imgH="3301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5429250"/>
                        <a:ext cx="3230563" cy="723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1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2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39552" y="764704"/>
            <a:ext cx="8215312" cy="515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750" kern="0" dirty="0">
                <a:solidFill>
                  <a:srgbClr val="002060"/>
                </a:solidFill>
                <a:cs typeface="+mn-cs"/>
              </a:rPr>
              <a:t>Апостериорная плотность вероятности параметра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194" name="Object 7"/>
          <p:cNvGraphicFramePr>
            <a:graphicFrameLocks noChangeAspect="1"/>
          </p:cNvGraphicFramePr>
          <p:nvPr/>
        </p:nvGraphicFramePr>
        <p:xfrm>
          <a:off x="899592" y="3717032"/>
          <a:ext cx="7507287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3" imgW="3759120" imgH="482400" progId="Equation.DSMT4">
                  <p:embed/>
                </p:oleObj>
              </mc:Choice>
              <mc:Fallback>
                <p:oleObj name="Equation" r:id="rId3" imgW="375912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17032"/>
                        <a:ext cx="7507287" cy="962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ChangeAspect="1"/>
          </p:cNvGraphicFramePr>
          <p:nvPr/>
        </p:nvGraphicFramePr>
        <p:xfrm>
          <a:off x="187325" y="1428750"/>
          <a:ext cx="86709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5" imgW="4051080" imgH="342720" progId="Equation.DSMT4">
                  <p:embed/>
                </p:oleObj>
              </mc:Choice>
              <mc:Fallback>
                <p:oleObj name="Equation" r:id="rId5" imgW="4051080" imgH="3427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1428750"/>
                        <a:ext cx="86709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0"/>
          <p:cNvGraphicFramePr>
            <a:graphicFrameLocks noChangeAspect="1"/>
          </p:cNvGraphicFramePr>
          <p:nvPr/>
        </p:nvGraphicFramePr>
        <p:xfrm>
          <a:off x="975792" y="4860032"/>
          <a:ext cx="5643562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7" imgW="3848040" imgH="545760" progId="Equation.DSMT4">
                  <p:embed/>
                </p:oleObj>
              </mc:Choice>
              <mc:Fallback>
                <p:oleObj name="Equation" r:id="rId7" imgW="3848040" imgH="54576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792" y="4860032"/>
                        <a:ext cx="5643562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1"/>
          <p:cNvGraphicFramePr>
            <a:graphicFrameLocks noChangeAspect="1"/>
          </p:cNvGraphicFramePr>
          <p:nvPr/>
        </p:nvGraphicFramePr>
        <p:xfrm>
          <a:off x="1047229" y="5612507"/>
          <a:ext cx="3643313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8" name="Equation" r:id="rId9" imgW="2641320" imgH="545760" progId="Equation.DSMT4">
                  <p:embed/>
                </p:oleObj>
              </mc:Choice>
              <mc:Fallback>
                <p:oleObj name="Equation" r:id="rId9" imgW="2641320" imgH="54576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229" y="5612507"/>
                        <a:ext cx="3643313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8" name="Прямоугольник 45"/>
          <p:cNvSpPr>
            <a:spLocks noChangeArrowheads="1"/>
          </p:cNvSpPr>
          <p:nvPr/>
        </p:nvSpPr>
        <p:spPr bwMode="auto">
          <a:xfrm>
            <a:off x="683568" y="2267025"/>
            <a:ext cx="79835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ru-RU" i="1" dirty="0">
                <a:latin typeface="Calibri" pitchFamily="34" charset="0"/>
                <a:sym typeface="Symbol" pitchFamily="18" charset="2"/>
              </a:rPr>
              <a:t>Оценка параметра по критерию максимума апостериорной вероятности:</a:t>
            </a:r>
            <a:endParaRPr lang="ru-RU" dirty="0"/>
          </a:p>
        </p:txBody>
      </p:sp>
      <p:graphicFrame>
        <p:nvGraphicFramePr>
          <p:cNvPr id="8239" name="Object 12"/>
          <p:cNvGraphicFramePr>
            <a:graphicFrameLocks noChangeAspect="1"/>
          </p:cNvGraphicFramePr>
          <p:nvPr/>
        </p:nvGraphicFramePr>
        <p:xfrm>
          <a:off x="1763688" y="2780928"/>
          <a:ext cx="51022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name="Equation" r:id="rId11" imgW="2717640" imgH="304560" progId="Equation.DSMT4">
                  <p:embed/>
                </p:oleObj>
              </mc:Choice>
              <mc:Fallback>
                <p:oleObj name="Equation" r:id="rId11" imgW="2717640" imgH="30456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780928"/>
                        <a:ext cx="5102225" cy="5715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2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4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515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428625" y="214313"/>
            <a:ext cx="8215313" cy="796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Оценка параметра полностью известного сигнала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(корреляционный приёмник)</a:t>
            </a:r>
          </a:p>
        </p:txBody>
      </p:sp>
      <p:pic>
        <p:nvPicPr>
          <p:cNvPr id="5161" name="Рисунок 41" descr="Оптимальный корреляционный приёмник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5938" y="1571625"/>
            <a:ext cx="8199437" cy="4643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1971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4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4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0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1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2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5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6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8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7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8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8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8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618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539552" y="764704"/>
            <a:ext cx="8215312" cy="515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Оценка неэнергетического параметра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85" name="Прямоугольник 45"/>
          <p:cNvSpPr>
            <a:spLocks noChangeArrowheads="1"/>
          </p:cNvSpPr>
          <p:nvPr/>
        </p:nvSpPr>
        <p:spPr bwMode="auto">
          <a:xfrm>
            <a:off x="2643188" y="1447800"/>
            <a:ext cx="3825875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Неэнергетические параметры:</a:t>
            </a:r>
          </a:p>
          <a:p>
            <a:pPr>
              <a:buFontTx/>
              <a:buChar char="-"/>
            </a:pPr>
            <a:r>
              <a:rPr lang="en-US" i="1">
                <a:latin typeface="Calibri" pitchFamily="34" charset="0"/>
                <a:sym typeface="Symbol" pitchFamily="18" charset="2"/>
              </a:rPr>
              <a:t> </a:t>
            </a:r>
            <a:r>
              <a:rPr lang="ru-RU" i="1">
                <a:latin typeface="Calibri" pitchFamily="34" charset="0"/>
                <a:sym typeface="Symbol" pitchFamily="18" charset="2"/>
              </a:rPr>
              <a:t> задержка</a:t>
            </a:r>
          </a:p>
          <a:p>
            <a:pPr>
              <a:buFontTx/>
              <a:buChar char="-"/>
            </a:pPr>
            <a:r>
              <a:rPr lang="ru-RU" i="1">
                <a:latin typeface="Calibri" pitchFamily="34" charset="0"/>
                <a:sym typeface="Symbol" pitchFamily="18" charset="2"/>
              </a:rPr>
              <a:t> </a:t>
            </a:r>
            <a:r>
              <a:rPr lang="en-US" i="1">
                <a:latin typeface="Calibri" pitchFamily="34" charset="0"/>
                <a:sym typeface="Symbol" pitchFamily="18" charset="2"/>
              </a:rPr>
              <a:t> </a:t>
            </a:r>
            <a:r>
              <a:rPr lang="ru-RU" i="1">
                <a:latin typeface="Calibri" pitchFamily="34" charset="0"/>
                <a:sym typeface="Symbol" pitchFamily="18" charset="2"/>
              </a:rPr>
              <a:t>фаза</a:t>
            </a:r>
          </a:p>
          <a:p>
            <a:pPr>
              <a:buFontTx/>
              <a:buChar char="-"/>
            </a:pPr>
            <a:r>
              <a:rPr lang="en-US" i="1">
                <a:latin typeface="Calibri" pitchFamily="34" charset="0"/>
                <a:sym typeface="Symbol" pitchFamily="18" charset="2"/>
              </a:rPr>
              <a:t> </a:t>
            </a:r>
            <a:r>
              <a:rPr lang="ru-RU" i="1">
                <a:latin typeface="Calibri" pitchFamily="34" charset="0"/>
                <a:sym typeface="Symbol" pitchFamily="18" charset="2"/>
              </a:rPr>
              <a:t> частота </a:t>
            </a:r>
            <a:endParaRPr lang="ru-RU">
              <a:latin typeface="Calibri" pitchFamily="34" charset="0"/>
            </a:endParaRPr>
          </a:p>
        </p:txBody>
      </p:sp>
      <p:sp>
        <p:nvSpPr>
          <p:cNvPr id="46" name="Правая фигурная скобка 45"/>
          <p:cNvSpPr/>
          <p:nvPr/>
        </p:nvSpPr>
        <p:spPr>
          <a:xfrm>
            <a:off x="4214813" y="2185988"/>
            <a:ext cx="142875" cy="500062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187" name="Прямоугольник 46"/>
          <p:cNvSpPr>
            <a:spLocks noChangeArrowheads="1"/>
          </p:cNvSpPr>
          <p:nvPr/>
        </p:nvSpPr>
        <p:spPr bwMode="auto">
          <a:xfrm>
            <a:off x="4429125" y="2214563"/>
            <a:ext cx="13049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1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при </a:t>
            </a:r>
            <a:r>
              <a:rPr lang="en-US" i="1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T &gt;&gt; T</a:t>
            </a:r>
            <a:r>
              <a:rPr lang="en-US" i="1" baseline="-2500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0</a:t>
            </a:r>
            <a:r>
              <a:rPr lang="ru-RU" i="1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 </a:t>
            </a:r>
            <a:endParaRPr lang="ru-RU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47" name="Правая фигурная скобка 46"/>
          <p:cNvSpPr/>
          <p:nvPr/>
        </p:nvSpPr>
        <p:spPr>
          <a:xfrm rot="5400000">
            <a:off x="2321720" y="4107656"/>
            <a:ext cx="214312" cy="3571875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pic>
        <p:nvPicPr>
          <p:cNvPr id="6189" name="Рисунок 47" descr="Энергия радиоимпульсов 1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2714625"/>
            <a:ext cx="3989387" cy="3113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0" name="Рисунок 49" descr="Энергия радиоимпульсов 2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6313" y="2714625"/>
            <a:ext cx="3992562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" name="Правая фигурная скобка 50"/>
          <p:cNvSpPr/>
          <p:nvPr/>
        </p:nvSpPr>
        <p:spPr>
          <a:xfrm rot="5400000">
            <a:off x="6607970" y="4107656"/>
            <a:ext cx="214312" cy="3571875"/>
          </a:xfrm>
          <a:prstGeom prst="rightBrac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6192" name="Прямоугольник 46"/>
          <p:cNvSpPr>
            <a:spLocks noChangeArrowheads="1"/>
          </p:cNvSpPr>
          <p:nvPr/>
        </p:nvSpPr>
        <p:spPr bwMode="auto">
          <a:xfrm>
            <a:off x="2000250" y="6000750"/>
            <a:ext cx="857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Calibri" pitchFamily="34" charset="0"/>
                <a:sym typeface="Symbol" pitchFamily="18" charset="2"/>
              </a:rPr>
              <a:t>T &gt;&gt; T</a:t>
            </a:r>
            <a:r>
              <a:rPr lang="en-US" b="1" i="1" baseline="-25000">
                <a:latin typeface="Calibri" pitchFamily="34" charset="0"/>
                <a:sym typeface="Symbol" pitchFamily="18" charset="2"/>
              </a:rPr>
              <a:t>0</a:t>
            </a:r>
            <a:r>
              <a:rPr lang="ru-RU" b="1" i="1">
                <a:latin typeface="Calibri" pitchFamily="34" charset="0"/>
                <a:sym typeface="Symbol" pitchFamily="18" charset="2"/>
              </a:rPr>
              <a:t> </a:t>
            </a:r>
            <a:endParaRPr lang="ru-RU">
              <a:latin typeface="Calibri" pitchFamily="34" charset="0"/>
            </a:endParaRPr>
          </a:p>
        </p:txBody>
      </p:sp>
      <p:sp>
        <p:nvSpPr>
          <p:cNvPr id="6193" name="Прямоугольник 46"/>
          <p:cNvSpPr>
            <a:spLocks noChangeArrowheads="1"/>
          </p:cNvSpPr>
          <p:nvPr/>
        </p:nvSpPr>
        <p:spPr bwMode="auto">
          <a:xfrm>
            <a:off x="6357938" y="6000750"/>
            <a:ext cx="857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>
                <a:latin typeface="Calibri" pitchFamily="34" charset="0"/>
                <a:sym typeface="Symbol" pitchFamily="18" charset="2"/>
              </a:rPr>
              <a:t>T  ~ T</a:t>
            </a:r>
            <a:r>
              <a:rPr lang="en-US" b="1" i="1" baseline="-25000">
                <a:latin typeface="Calibri" pitchFamily="34" charset="0"/>
                <a:sym typeface="Symbol" pitchFamily="18" charset="2"/>
              </a:rPr>
              <a:t>0</a:t>
            </a:r>
            <a:r>
              <a:rPr lang="ru-RU" b="1" i="1">
                <a:latin typeface="Calibri" pitchFamily="34" charset="0"/>
                <a:sym typeface="Symbol" pitchFamily="18" charset="2"/>
              </a:rPr>
              <a:t> </a:t>
            </a:r>
            <a:endParaRPr lang="ru-RU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37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95536" y="1484784"/>
            <a:ext cx="8496944" cy="4608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268538" y="1556445"/>
          <a:ext cx="40322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3" imgW="2400120" imgH="266400" progId="Equation.DSMT4">
                  <p:embed/>
                </p:oleObj>
              </mc:Choice>
              <mc:Fallback>
                <p:oleObj name="Equation" r:id="rId3" imgW="2400120" imgH="266400" progId="Equation.DSMT4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556445"/>
                        <a:ext cx="4032250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1619250" y="2061270"/>
          <a:ext cx="5586413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5" imgW="3644640" imgH="469800" progId="Equation.DSMT4">
                  <p:embed/>
                </p:oleObj>
              </mc:Choice>
              <mc:Fallback>
                <p:oleObj name="Equation" r:id="rId5" imgW="3644640" imgH="469800" progId="Equation.DSMT4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061270"/>
                        <a:ext cx="5586413" cy="719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Прямая со стрелкой 6"/>
          <p:cNvCxnSpPr/>
          <p:nvPr/>
        </p:nvCxnSpPr>
        <p:spPr>
          <a:xfrm>
            <a:off x="2699792" y="2060848"/>
            <a:ext cx="360040" cy="6480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>
            <a:off x="7740352" y="3501008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37"/>
          <p:cNvSpPr txBox="1">
            <a:spLocks noChangeArrowheads="1"/>
          </p:cNvSpPr>
          <p:nvPr/>
        </p:nvSpPr>
        <p:spPr bwMode="auto">
          <a:xfrm>
            <a:off x="1835150" y="2996307"/>
            <a:ext cx="67564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solidFill>
                  <a:schemeClr val="tx2"/>
                </a:solidFill>
              </a:rPr>
              <a:t>При равномерном априорном распределении в интервале </a:t>
            </a:r>
            <a:r>
              <a:rPr lang="en-US" sz="1600">
                <a:solidFill>
                  <a:schemeClr val="tx2"/>
                </a:solidFill>
              </a:rPr>
              <a:t>[</a:t>
            </a:r>
            <a:r>
              <a:rPr lang="el-GR" sz="1600">
                <a:solidFill>
                  <a:schemeClr val="tx2"/>
                </a:solidFill>
              </a:rPr>
              <a:t>λ</a:t>
            </a:r>
            <a:r>
              <a:rPr lang="en-US" sz="1600" baseline="-25000">
                <a:solidFill>
                  <a:schemeClr val="tx2"/>
                </a:solidFill>
              </a:rPr>
              <a:t>min</a:t>
            </a:r>
            <a:r>
              <a:rPr lang="en-US" sz="1600">
                <a:solidFill>
                  <a:schemeClr val="tx2"/>
                </a:solidFill>
              </a:rPr>
              <a:t>, </a:t>
            </a:r>
            <a:r>
              <a:rPr lang="el-GR" sz="1600">
                <a:solidFill>
                  <a:schemeClr val="tx2"/>
                </a:solidFill>
              </a:rPr>
              <a:t>λ</a:t>
            </a:r>
            <a:r>
              <a:rPr lang="en-US" sz="1600" baseline="-25000">
                <a:solidFill>
                  <a:schemeClr val="tx2"/>
                </a:solidFill>
              </a:rPr>
              <a:t>max</a:t>
            </a:r>
            <a:r>
              <a:rPr lang="en-US" sz="1600">
                <a:solidFill>
                  <a:schemeClr val="tx2"/>
                </a:solidFill>
              </a:rPr>
              <a:t>]</a:t>
            </a:r>
            <a:endParaRPr lang="ru-RU" sz="1600">
              <a:solidFill>
                <a:schemeClr val="tx2"/>
              </a:solidFill>
            </a:endParaRP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900113" y="3429695"/>
          <a:ext cx="7496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7" imgW="4178160" imgH="482400" progId="Equation.DSMT4">
                  <p:embed/>
                </p:oleObj>
              </mc:Choice>
              <mc:Fallback>
                <p:oleObj name="Equation" r:id="rId7" imgW="4178160" imgH="482400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429695"/>
                        <a:ext cx="74961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Прямая со стрелкой 12"/>
          <p:cNvCxnSpPr/>
          <p:nvPr/>
        </p:nvCxnSpPr>
        <p:spPr>
          <a:xfrm>
            <a:off x="6812632" y="2213248"/>
            <a:ext cx="360040" cy="720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40"/>
          <p:cNvSpPr txBox="1">
            <a:spLocks noChangeArrowheads="1"/>
          </p:cNvSpPr>
          <p:nvPr/>
        </p:nvSpPr>
        <p:spPr bwMode="auto">
          <a:xfrm>
            <a:off x="7092950" y="4509195"/>
            <a:ext cx="176847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1600">
                <a:solidFill>
                  <a:schemeClr val="tx2"/>
                </a:solidFill>
              </a:rPr>
              <a:t>Если </a:t>
            </a:r>
            <a:r>
              <a:rPr lang="ru-RU" sz="1600" i="1">
                <a:solidFill>
                  <a:schemeClr val="tx2"/>
                </a:solidFill>
              </a:rPr>
              <a:t>Е</a:t>
            </a:r>
            <a:r>
              <a:rPr lang="ru-RU" sz="1600" i="1" baseline="-25000">
                <a:solidFill>
                  <a:schemeClr val="tx2"/>
                </a:solidFill>
              </a:rPr>
              <a:t>с</a:t>
            </a:r>
            <a:r>
              <a:rPr lang="ru-RU" sz="1600" i="1">
                <a:solidFill>
                  <a:schemeClr val="tx2"/>
                </a:solidFill>
              </a:rPr>
              <a:t>(</a:t>
            </a:r>
            <a:r>
              <a:rPr lang="el-GR" sz="1600" i="1">
                <a:solidFill>
                  <a:schemeClr val="tx2"/>
                </a:solidFill>
              </a:rPr>
              <a:t>λ</a:t>
            </a:r>
            <a:r>
              <a:rPr lang="ru-RU" sz="1600" i="1">
                <a:solidFill>
                  <a:schemeClr val="tx2"/>
                </a:solidFill>
              </a:rPr>
              <a:t>)=</a:t>
            </a:r>
            <a:r>
              <a:rPr lang="en-US" sz="1600" i="1">
                <a:solidFill>
                  <a:schemeClr val="tx2"/>
                </a:solidFill>
              </a:rPr>
              <a:t>const</a:t>
            </a:r>
            <a:endParaRPr lang="ru-RU" sz="1600" i="1">
              <a:solidFill>
                <a:schemeClr val="tx2"/>
              </a:solidFill>
            </a:endParaRP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2041525" y="4622800"/>
          <a:ext cx="48053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9" imgW="2679480" imgH="469800" progId="Equation.DSMT4">
                  <p:embed/>
                </p:oleObj>
              </mc:Choice>
              <mc:Fallback>
                <p:oleObj name="Equation" r:id="rId9" imgW="2679480" imgH="469800" progId="Equation.DSMT4">
                  <p:embed/>
                  <p:pic>
                    <p:nvPicPr>
                      <p:cNvPr id="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4622800"/>
                        <a:ext cx="4805363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Прямоугольник 16"/>
          <p:cNvSpPr/>
          <p:nvPr/>
        </p:nvSpPr>
        <p:spPr>
          <a:xfrm>
            <a:off x="539552" y="548680"/>
            <a:ext cx="8215312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Оценка неэнергетического </a:t>
            </a:r>
            <a:r>
              <a:rPr lang="ru-RU" sz="2750" kern="0" dirty="0" smtClean="0">
                <a:solidFill>
                  <a:srgbClr val="002060"/>
                </a:solidFill>
                <a:latin typeface="+mn-lt"/>
                <a:cs typeface="+mn-cs"/>
              </a:rPr>
              <a:t>параметра с равномерным априорным распределением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432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1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2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4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106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467544" y="548680"/>
            <a:ext cx="8215312" cy="938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Корреляционный приёмник</a:t>
            </a:r>
            <a:b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</a:b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для оценки задержки известного сигнала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68" name="Группа 46"/>
          <p:cNvGrpSpPr>
            <a:grpSpLocks/>
          </p:cNvGrpSpPr>
          <p:nvPr/>
        </p:nvGrpSpPr>
        <p:grpSpPr bwMode="auto">
          <a:xfrm>
            <a:off x="1500188" y="1998663"/>
            <a:ext cx="6357937" cy="4287837"/>
            <a:chOff x="1500188" y="1998682"/>
            <a:chExt cx="6357937" cy="4287838"/>
          </a:xfrm>
        </p:grpSpPr>
        <p:pic>
          <p:nvPicPr>
            <p:cNvPr id="1069" name="Рисунок 47" descr="Приёмник известного сигнала (измерение задержки).emf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500188" y="1998682"/>
              <a:ext cx="6357937" cy="4287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aphicFrame>
          <p:nvGraphicFramePr>
            <p:cNvPr id="1026" name="Object 2"/>
            <p:cNvGraphicFramePr>
              <a:graphicFrameLocks noChangeAspect="1"/>
            </p:cNvGraphicFramePr>
            <p:nvPr/>
          </p:nvGraphicFramePr>
          <p:xfrm>
            <a:off x="4714876" y="3643332"/>
            <a:ext cx="883575" cy="357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8" name="Equation" r:id="rId4" imgW="596880" imgH="241200" progId="Equation.DSMT4">
                    <p:embed/>
                  </p:oleObj>
                </mc:Choice>
                <mc:Fallback>
                  <p:oleObj name="Equation" r:id="rId4" imgW="596880" imgH="241200" progId="Equation.DSMT4">
                    <p:embed/>
                    <p:pic>
                      <p:nvPicPr>
                        <p:cNvPr id="102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4876" y="3643332"/>
                          <a:ext cx="883575" cy="357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3"/>
            <p:cNvGraphicFramePr>
              <a:graphicFrameLocks noChangeAspect="1"/>
            </p:cNvGraphicFramePr>
            <p:nvPr/>
          </p:nvGraphicFramePr>
          <p:xfrm>
            <a:off x="4714876" y="5786472"/>
            <a:ext cx="1016000" cy="35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9" name="Equation" r:id="rId6" imgW="685800" imgH="241200" progId="Equation.DSMT4">
                    <p:embed/>
                  </p:oleObj>
                </mc:Choice>
                <mc:Fallback>
                  <p:oleObj name="Equation" r:id="rId6" imgW="685800" imgH="241200" progId="Equation.DSMT4">
                    <p:embed/>
                    <p:pic>
                      <p:nvPicPr>
                        <p:cNvPr id="102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4876" y="5786472"/>
                          <a:ext cx="1016000" cy="357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857750" y="1516063"/>
          <a:ext cx="41100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8" imgW="3060360" imgH="520560" progId="Equation.DSMT4">
                  <p:embed/>
                </p:oleObj>
              </mc:Choice>
              <mc:Fallback>
                <p:oleObj name="Equation" r:id="rId8" imgW="3060360" imgH="520560" progId="Equation.DSMT4">
                  <p:embed/>
                  <p:pic>
                    <p:nvPicPr>
                      <p:cNvPr id="10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1516063"/>
                        <a:ext cx="4110038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83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429625" y="6286500"/>
            <a:ext cx="5715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kern="0" dirty="0">
                <a:latin typeface="Times New Roman" pitchFamily="18" charset="0"/>
                <a:cs typeface="Times New Roman" pitchFamily="18" charset="0"/>
              </a:rPr>
              <a:t>14</a:t>
            </a:r>
          </a:p>
        </p:txBody>
      </p:sp>
      <p:sp>
        <p:nvSpPr>
          <p:cNvPr id="205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5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6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7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208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323528" y="404664"/>
            <a:ext cx="8501062" cy="938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Эпюры напряжений в корреляционном приёмнике прямоугольного видеоимпульса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090" name="Рисунок 43" descr="Эпюры напряжения в оптимальном приёмнике измерения задержки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1406525"/>
            <a:ext cx="3382963" cy="4951413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pic>
        <p:nvPicPr>
          <p:cNvPr id="2091" name="Рисунок 44" descr="Значения R(tau_m).emf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8" y="1714500"/>
            <a:ext cx="4830762" cy="171450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</p:pic>
      <p:sp>
        <p:nvSpPr>
          <p:cNvPr id="20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graphicFrame>
        <p:nvGraphicFramePr>
          <p:cNvPr id="2050" name="Object 1"/>
          <p:cNvGraphicFramePr>
            <a:graphicFrameLocks noChangeAspect="1"/>
          </p:cNvGraphicFramePr>
          <p:nvPr/>
        </p:nvGraphicFramePr>
        <p:xfrm>
          <a:off x="5791200" y="4214813"/>
          <a:ext cx="2205038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5" imgW="1587240" imgH="711000" progId="Equation.DSMT4">
                  <p:embed/>
                </p:oleObj>
              </mc:Choice>
              <mc:Fallback>
                <p:oleObj name="Equation" r:id="rId5" imgW="1587240" imgH="711000" progId="Equation.DSMT4">
                  <p:embed/>
                  <p:pic>
                    <p:nvPicPr>
                      <p:cNvPr id="2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4214813"/>
                        <a:ext cx="2205038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5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0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2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3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4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5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8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09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0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311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libri" pitchFamily="34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500063" y="133350"/>
            <a:ext cx="8215312" cy="938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Корреляционный приёмник</a:t>
            </a:r>
            <a:b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</a:br>
            <a:r>
              <a:rPr lang="ru-RU" sz="2750" kern="0" dirty="0">
                <a:solidFill>
                  <a:srgbClr val="002060"/>
                </a:solidFill>
                <a:latin typeface="+mn-lt"/>
                <a:cs typeface="+mn-cs"/>
              </a:rPr>
              <a:t>для оценки неэнергетического параметра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117" name="Рисунок 43" descr="Приёмник известного сигнала 1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75" y="1552575"/>
            <a:ext cx="555625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500813" y="5191125"/>
          <a:ext cx="2160587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4" imgW="1612800" imgH="761760" progId="Equation.DSMT4">
                  <p:embed/>
                </p:oleObj>
              </mc:Choice>
              <mc:Fallback>
                <p:oleObj name="Equation" r:id="rId4" imgW="1612800" imgH="761760" progId="Equation.DSMT4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5191125"/>
                        <a:ext cx="2160587" cy="10239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4572000" y="2967038"/>
          <a:ext cx="85725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6" imgW="647640" imgH="241200" progId="Equation.DSMT4">
                  <p:embed/>
                </p:oleObj>
              </mc:Choice>
              <mc:Fallback>
                <p:oleObj name="Equation" r:id="rId6" imgW="647640" imgH="241200" progId="Equation.DSMT4">
                  <p:embed/>
                  <p:pic>
                    <p:nvPicPr>
                      <p:cNvPr id="3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967038"/>
                        <a:ext cx="857250" cy="319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4518025" y="4857750"/>
          <a:ext cx="10922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8" imgW="736560" imgH="241200" progId="Equation.DSMT4">
                  <p:embed/>
                </p:oleObj>
              </mc:Choice>
              <mc:Fallback>
                <p:oleObj name="Equation" r:id="rId8" imgW="736560" imgH="241200" progId="Equation.DSMT4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025" y="4857750"/>
                        <a:ext cx="10922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431800" y="5500688"/>
          <a:ext cx="42116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10" imgW="3136680" imgH="520560" progId="Equation.DSMT4">
                  <p:embed/>
                </p:oleObj>
              </mc:Choice>
              <mc:Fallback>
                <p:oleObj name="Equation" r:id="rId10" imgW="3136680" imgH="520560" progId="Equation.DSMT4">
                  <p:embed/>
                  <p:pic>
                    <p:nvPicPr>
                      <p:cNvPr id="3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5500688"/>
                        <a:ext cx="4211638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402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0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2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3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4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5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0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611560" y="260648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67" name="Прямоугольник 45"/>
          <p:cNvSpPr>
            <a:spLocks noChangeArrowheads="1"/>
          </p:cNvSpPr>
          <p:nvPr/>
        </p:nvSpPr>
        <p:spPr bwMode="auto">
          <a:xfrm>
            <a:off x="6000750" y="1143000"/>
            <a:ext cx="24574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Совместная оценка</a:t>
            </a:r>
            <a:br>
              <a:rPr lang="ru-RU" sz="2000" b="1" i="1">
                <a:latin typeface="Calibri" pitchFamily="34" charset="0"/>
                <a:sym typeface="Symbol" pitchFamily="18" charset="2"/>
              </a:rPr>
            </a:br>
            <a:r>
              <a:rPr lang="ru-RU" sz="2000" b="1" i="1">
                <a:latin typeface="Calibri" pitchFamily="34" charset="0"/>
                <a:sym typeface="Symbol" pitchFamily="18" charset="2"/>
              </a:rPr>
              <a:t>задержки и фазы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572125" y="2071688"/>
          <a:ext cx="31257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3" imgW="2222280" imgH="558720" progId="Equation.DSMT4">
                  <p:embed/>
                </p:oleObj>
              </mc:Choice>
              <mc:Fallback>
                <p:oleObj name="Equation" r:id="rId3" imgW="2222280" imgH="558720" progId="Equation.DSMT4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5" y="2071688"/>
                        <a:ext cx="31257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8" name="Прямоугольник 45"/>
          <p:cNvSpPr>
            <a:spLocks noChangeArrowheads="1"/>
          </p:cNvSpPr>
          <p:nvPr/>
        </p:nvSpPr>
        <p:spPr bwMode="auto">
          <a:xfrm>
            <a:off x="357188" y="1214438"/>
            <a:ext cx="48577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r>
              <a:rPr lang="ru-RU" b="1" i="1">
                <a:latin typeface="Calibri" pitchFamily="34" charset="0"/>
                <a:sym typeface="Symbol" pitchFamily="18" charset="2"/>
              </a:rPr>
              <a:t>Сигнал с неизвестной начальной фазой</a:t>
            </a: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28625" y="1689100"/>
          <a:ext cx="41878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5" imgW="3213000" imgH="622080" progId="Equation.DSMT4">
                  <p:embed/>
                </p:oleObj>
              </mc:Choice>
              <mc:Fallback>
                <p:oleObj name="Equation" r:id="rId5" imgW="3213000" imgH="622080" progId="Equation.DSMT4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689100"/>
                        <a:ext cx="4187825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69" name="Рисунок 45" descr="2-мерная функция.emf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5750" y="2906713"/>
            <a:ext cx="5929313" cy="373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888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7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8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1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42875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dirty="0">
              <a:solidFill>
                <a:srgbClr val="002060"/>
              </a:solidFill>
            </a:endParaRPr>
          </a:p>
        </p:txBody>
      </p:sp>
      <p:sp>
        <p:nvSpPr>
          <p:cNvPr id="2093" name="Прямоугольник 45"/>
          <p:cNvSpPr>
            <a:spLocks noChangeArrowheads="1"/>
          </p:cNvSpPr>
          <p:nvPr/>
        </p:nvSpPr>
        <p:spPr bwMode="auto">
          <a:xfrm>
            <a:off x="2214563" y="1214438"/>
            <a:ext cx="490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Усреднение по случайной начальной фазе</a:t>
            </a: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357188" y="1714500"/>
          <a:ext cx="849788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Equation" r:id="rId3" imgW="5803560" imgH="1002960" progId="Equation.DSMT4">
                  <p:embed/>
                </p:oleObj>
              </mc:Choice>
              <mc:Fallback>
                <p:oleObj name="Equation" r:id="rId3" imgW="5803560" imgH="1002960" progId="Equation.DSMT4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714500"/>
                        <a:ext cx="8497887" cy="147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1276350" y="3929063"/>
          <a:ext cx="65833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Equation" r:id="rId5" imgW="3873240" imgH="545760" progId="Equation.DSMT4">
                  <p:embed/>
                </p:oleObj>
              </mc:Choice>
              <mc:Fallback>
                <p:oleObj name="Equation" r:id="rId5" imgW="3873240" imgH="545760" progId="Equation.DSMT4">
                  <p:embed/>
                  <p:pic>
                    <p:nvPicPr>
                      <p:cNvPr id="20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3929063"/>
                        <a:ext cx="6583363" cy="928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2428875" y="5214938"/>
          <a:ext cx="42783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7" imgW="2336760" imgH="545760" progId="Equation.DSMT4">
                  <p:embed/>
                </p:oleObj>
              </mc:Choice>
              <mc:Fallback>
                <p:oleObj name="Equation" r:id="rId7" imgW="2336760" imgH="545760" progId="Equation.DSMT4">
                  <p:embed/>
                  <p:pic>
                    <p:nvPicPr>
                      <p:cNvPr id="205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5214938"/>
                        <a:ext cx="4278313" cy="10001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1820863" y="3394075"/>
          <a:ext cx="56642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Equation" r:id="rId9" imgW="3822480" imgH="215640" progId="Equation.DSMT4">
                  <p:embed/>
                </p:oleObj>
              </mc:Choice>
              <mc:Fallback>
                <p:oleObj name="Equation" r:id="rId9" imgW="3822480" imgH="215640" progId="Equation.DSMT4">
                  <p:embed/>
                  <p:pic>
                    <p:nvPicPr>
                      <p:cNvPr id="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0863" y="3394075"/>
                        <a:ext cx="56642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08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79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0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1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2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3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4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9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42875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dirty="0">
              <a:solidFill>
                <a:srgbClr val="002060"/>
              </a:solidFill>
            </a:endParaRPr>
          </a:p>
        </p:txBody>
      </p:sp>
      <p:sp>
        <p:nvSpPr>
          <p:cNvPr id="3116" name="Прямоугольник 45"/>
          <p:cNvSpPr>
            <a:spLocks noChangeArrowheads="1"/>
          </p:cNvSpPr>
          <p:nvPr/>
        </p:nvSpPr>
        <p:spPr bwMode="auto">
          <a:xfrm>
            <a:off x="2928938" y="1214438"/>
            <a:ext cx="32940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Корреляционный интеграл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428625" y="1643063"/>
          <a:ext cx="8002588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3" imgW="5562360" imgH="774360" progId="Equation.DSMT4">
                  <p:embed/>
                </p:oleObj>
              </mc:Choice>
              <mc:Fallback>
                <p:oleObj name="Equation" r:id="rId3" imgW="5562360" imgH="774360" progId="Equation.DSMT4">
                  <p:embed/>
                  <p:pic>
                    <p:nvPicPr>
                      <p:cNvPr id="307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643063"/>
                        <a:ext cx="8002588" cy="1114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874713" y="3000375"/>
          <a:ext cx="72691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5" imgW="5054400" imgH="596880" progId="Equation.DSMT4">
                  <p:embed/>
                </p:oleObj>
              </mc:Choice>
              <mc:Fallback>
                <p:oleObj name="Equation" r:id="rId5" imgW="5054400" imgH="596880" progId="Equation.DSMT4">
                  <p:embed/>
                  <p:pic>
                    <p:nvPicPr>
                      <p:cNvPr id="307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3000375"/>
                        <a:ext cx="7269162" cy="857250"/>
                      </a:xfrm>
                      <a:prstGeom prst="rect">
                        <a:avLst/>
                      </a:prstGeom>
                      <a:noFill/>
                      <a:ln w="28575" cap="rnd">
                        <a:solidFill>
                          <a:schemeClr val="accent2"/>
                        </a:solidFill>
                        <a:prstDash val="sysDot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1709738" y="4000500"/>
          <a:ext cx="5862637" cy="239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7" imgW="4076640" imgH="1663560" progId="Equation.DSMT4">
                  <p:embed/>
                </p:oleObj>
              </mc:Choice>
              <mc:Fallback>
                <p:oleObj name="Equation" r:id="rId7" imgW="4076640" imgH="1663560" progId="Equation.DSMT4">
                  <p:embed/>
                  <p:pic>
                    <p:nvPicPr>
                      <p:cNvPr id="30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4000500"/>
                        <a:ext cx="5862637" cy="2395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Прямая со стрелкой 45"/>
          <p:cNvCxnSpPr/>
          <p:nvPr/>
        </p:nvCxnSpPr>
        <p:spPr>
          <a:xfrm rot="5400000" flipH="1" flipV="1">
            <a:off x="7822407" y="2607468"/>
            <a:ext cx="571500" cy="214313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/>
          <p:nvPr/>
        </p:nvCxnSpPr>
        <p:spPr>
          <a:xfrm>
            <a:off x="1071563" y="3857625"/>
            <a:ext cx="571500" cy="428625"/>
          </a:xfrm>
          <a:prstGeom prst="straightConnector1">
            <a:avLst/>
          </a:prstGeom>
          <a:ln w="15875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10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42875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dirty="0">
              <a:solidFill>
                <a:srgbClr val="002060"/>
              </a:solidFill>
            </a:endParaRPr>
          </a:p>
        </p:txBody>
      </p:sp>
      <p:sp>
        <p:nvSpPr>
          <p:cNvPr id="4141" name="Прямоугольник 45"/>
          <p:cNvSpPr>
            <a:spLocks noChangeArrowheads="1"/>
          </p:cNvSpPr>
          <p:nvPr/>
        </p:nvSpPr>
        <p:spPr bwMode="auto">
          <a:xfrm>
            <a:off x="2928938" y="1143000"/>
            <a:ext cx="32940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Корреляционный интеграл</a:t>
            </a: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357188" y="1660525"/>
          <a:ext cx="83581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Equation" r:id="rId3" imgW="5943600" imgH="495000" progId="Equation.DSMT4">
                  <p:embed/>
                </p:oleObj>
              </mc:Choice>
              <mc:Fallback>
                <p:oleObj name="Equation" r:id="rId3" imgW="5943600" imgH="495000" progId="Equation.DSMT4">
                  <p:embed/>
                  <p:pic>
                    <p:nvPicPr>
                      <p:cNvPr id="40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1660525"/>
                        <a:ext cx="8358187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1000125" y="2500313"/>
          <a:ext cx="72548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5" imgW="5067000" imgH="317160" progId="Equation.DSMT4">
                  <p:embed/>
                </p:oleObj>
              </mc:Choice>
              <mc:Fallback>
                <p:oleObj name="Equation" r:id="rId5" imgW="5067000" imgH="317160" progId="Equation.DSMT4">
                  <p:embed/>
                  <p:pic>
                    <p:nvPicPr>
                      <p:cNvPr id="409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500313"/>
                        <a:ext cx="72548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2" name="Прямоугольник 45"/>
          <p:cNvSpPr>
            <a:spLocks noChangeArrowheads="1"/>
          </p:cNvSpPr>
          <p:nvPr/>
        </p:nvSpPr>
        <p:spPr bwMode="auto">
          <a:xfrm>
            <a:off x="1643063" y="3100388"/>
            <a:ext cx="6180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Апостериорная плотность вероятности задержки</a:t>
            </a:r>
          </a:p>
        </p:txBody>
      </p:sp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1000125" y="3643313"/>
          <a:ext cx="7143750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7" imgW="5016240" imgH="952200" progId="Equation.DSMT4">
                  <p:embed/>
                </p:oleObj>
              </mc:Choice>
              <mc:Fallback>
                <p:oleObj name="Equation" r:id="rId7" imgW="5016240" imgH="952200" progId="Equation.DSMT4">
                  <p:embed/>
                  <p:pic>
                    <p:nvPicPr>
                      <p:cNvPr id="410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3643313"/>
                        <a:ext cx="7143750" cy="135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8"/>
          <p:cNvGraphicFramePr>
            <a:graphicFrameLocks noChangeAspect="1"/>
          </p:cNvGraphicFramePr>
          <p:nvPr/>
        </p:nvGraphicFramePr>
        <p:xfrm>
          <a:off x="2643188" y="5286375"/>
          <a:ext cx="39084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9" imgW="2286000" imgH="545760" progId="Equation.DSMT4">
                  <p:embed/>
                </p:oleObj>
              </mc:Choice>
              <mc:Fallback>
                <p:oleObj name="Equation" r:id="rId9" imgW="2286000" imgH="545760" progId="Equation.DSMT4">
                  <p:embed/>
                  <p:pic>
                    <p:nvPicPr>
                      <p:cNvPr id="410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286375"/>
                        <a:ext cx="3908425" cy="9334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273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0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1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2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3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8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3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42875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dirty="0">
              <a:solidFill>
                <a:srgbClr val="002060"/>
              </a:solidFill>
            </a:endParaRPr>
          </a:p>
        </p:txBody>
      </p:sp>
      <p:sp>
        <p:nvSpPr>
          <p:cNvPr id="5165" name="Прямоугольник 45"/>
          <p:cNvSpPr>
            <a:spLocks noChangeArrowheads="1"/>
          </p:cNvSpPr>
          <p:nvPr/>
        </p:nvSpPr>
        <p:spPr bwMode="auto">
          <a:xfrm>
            <a:off x="1071563" y="1285875"/>
            <a:ext cx="7550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Логарифм апостериорной плотности вероятности задержки</a:t>
            </a:r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/>
        </p:nvGraphicFramePr>
        <p:xfrm>
          <a:off x="2143125" y="1857375"/>
          <a:ext cx="52149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3" imgW="3149280" imgH="545760" progId="Equation.DSMT4">
                  <p:embed/>
                </p:oleObj>
              </mc:Choice>
              <mc:Fallback>
                <p:oleObj name="Equation" r:id="rId3" imgW="3149280" imgH="545760" progId="Equation.DSMT4">
                  <p:embed/>
                  <p:pic>
                    <p:nvPicPr>
                      <p:cNvPr id="512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1857375"/>
                        <a:ext cx="52149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571500" y="3000375"/>
          <a:ext cx="3406775" cy="1436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5" imgW="2527200" imgH="1066680" progId="Equation.DSMT4">
                  <p:embed/>
                </p:oleObj>
              </mc:Choice>
              <mc:Fallback>
                <p:oleObj name="Equation" r:id="rId5" imgW="2527200" imgH="1066680" progId="Equation.DSMT4">
                  <p:embed/>
                  <p:pic>
                    <p:nvPicPr>
                      <p:cNvPr id="51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3000375"/>
                        <a:ext cx="3406775" cy="14366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3000375" y="4932363"/>
          <a:ext cx="5297488" cy="135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7" imgW="3225600" imgH="825480" progId="Equation.DSMT4">
                  <p:embed/>
                </p:oleObj>
              </mc:Choice>
              <mc:Fallback>
                <p:oleObj name="Equation" r:id="rId7" imgW="3225600" imgH="825480" progId="Equation.DSMT4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932363"/>
                        <a:ext cx="5297488" cy="1354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67" name="Прямоугольник 46"/>
          <p:cNvSpPr>
            <a:spLocks noChangeArrowheads="1"/>
          </p:cNvSpPr>
          <p:nvPr/>
        </p:nvSpPr>
        <p:spPr bwMode="auto">
          <a:xfrm>
            <a:off x="428625" y="4962525"/>
            <a:ext cx="205898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i="1">
                <a:latin typeface="Calibri" pitchFamily="34" charset="0"/>
                <a:sym typeface="Symbol" pitchFamily="18" charset="2"/>
              </a:rPr>
              <a:t>Оценка задержки:</a:t>
            </a:r>
          </a:p>
        </p:txBody>
      </p:sp>
      <p:pic>
        <p:nvPicPr>
          <p:cNvPr id="5168" name="Рисунок 48" descr="ln I0(x).emf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572000" y="3000375"/>
            <a:ext cx="2143125" cy="1576388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5169" name="Прямоугольник 49"/>
          <p:cNvSpPr>
            <a:spLocks noChangeArrowheads="1"/>
          </p:cNvSpPr>
          <p:nvPr/>
        </p:nvSpPr>
        <p:spPr bwMode="auto">
          <a:xfrm>
            <a:off x="7304088" y="3233738"/>
            <a:ext cx="1697037" cy="938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1400" b="1" i="1">
                <a:latin typeface="Calibri" pitchFamily="34" charset="0"/>
                <a:sym typeface="Symbol" pitchFamily="18" charset="2"/>
              </a:rPr>
              <a:t>          </a:t>
            </a:r>
            <a:r>
              <a:rPr lang="en-US" sz="1400" b="1" i="1">
                <a:latin typeface="Calibri" pitchFamily="34" charset="0"/>
                <a:sym typeface="Symbol" pitchFamily="18" charset="2"/>
              </a:rPr>
              <a:t>− </a:t>
            </a:r>
            <a:r>
              <a:rPr lang="ru-RU" sz="1500" i="1">
                <a:latin typeface="Calibri" pitchFamily="34" charset="0"/>
                <a:sym typeface="Symbol" pitchFamily="18" charset="2"/>
              </a:rPr>
              <a:t>монотонно</a:t>
            </a:r>
          </a:p>
          <a:p>
            <a:pPr>
              <a:spcAft>
                <a:spcPts val="600"/>
              </a:spcAft>
            </a:pPr>
            <a:r>
              <a:rPr lang="ru-RU" sz="1500" i="1">
                <a:latin typeface="Calibri" pitchFamily="34" charset="0"/>
                <a:sym typeface="Symbol" pitchFamily="18" charset="2"/>
              </a:rPr>
              <a:t>возрастающая</a:t>
            </a:r>
          </a:p>
          <a:p>
            <a:pPr>
              <a:spcAft>
                <a:spcPts val="600"/>
              </a:spcAft>
            </a:pPr>
            <a:r>
              <a:rPr lang="ru-RU" sz="1500" i="1">
                <a:latin typeface="Calibri" pitchFamily="34" charset="0"/>
                <a:sym typeface="Symbol" pitchFamily="18" charset="2"/>
              </a:rPr>
              <a:t>функция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6953250" y="3214688"/>
          <a:ext cx="8286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10" imgW="596880" imgH="266400" progId="Equation.DSMT4">
                  <p:embed/>
                </p:oleObj>
              </mc:Choice>
              <mc:Fallback>
                <p:oleObj name="Equation" r:id="rId10" imgW="596880" imgH="266400" progId="Equation.DSMT4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3214688"/>
                        <a:ext cx="8286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92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0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1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0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5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42875"/>
            <a:ext cx="8215313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Оценка задержки радиосигнала с неизвестной начальной фазой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endParaRPr lang="ru-RU" sz="2400" kern="0" dirty="0" smtClean="0">
              <a:solidFill>
                <a:srgbClr val="002060"/>
              </a:solidFill>
            </a:endParaRPr>
          </a:p>
        </p:txBody>
      </p:sp>
      <p:sp>
        <p:nvSpPr>
          <p:cNvPr id="6187" name="Прямоугольник 45"/>
          <p:cNvSpPr>
            <a:spLocks noChangeArrowheads="1"/>
          </p:cNvSpPr>
          <p:nvPr/>
        </p:nvSpPr>
        <p:spPr bwMode="auto">
          <a:xfrm>
            <a:off x="3000375" y="2171700"/>
            <a:ext cx="34083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Алгоритм оценки задержки</a:t>
            </a:r>
          </a:p>
        </p:txBody>
      </p:sp>
      <p:sp>
        <p:nvSpPr>
          <p:cNvPr id="618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6146" name="Object 7"/>
          <p:cNvGraphicFramePr>
            <a:graphicFrameLocks noChangeAspect="1"/>
          </p:cNvGraphicFramePr>
          <p:nvPr/>
        </p:nvGraphicFramePr>
        <p:xfrm>
          <a:off x="1985963" y="2857500"/>
          <a:ext cx="5657850" cy="315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3" imgW="3390840" imgH="1892160" progId="Equation.DSMT4">
                  <p:embed/>
                </p:oleObj>
              </mc:Choice>
              <mc:Fallback>
                <p:oleObj name="Equation" r:id="rId3" imgW="3390840" imgH="1892160" progId="Equation.DSMT4">
                  <p:embed/>
                  <p:pic>
                    <p:nvPicPr>
                      <p:cNvPr id="614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2857500"/>
                        <a:ext cx="5657850" cy="315753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61963" y="1428750"/>
          <a:ext cx="83137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5" imgW="5410080" imgH="279360" progId="Equation.DSMT4">
                  <p:embed/>
                </p:oleObj>
              </mc:Choice>
              <mc:Fallback>
                <p:oleObj name="Equation" r:id="rId5" imgW="5410080" imgH="279360" progId="Equation.DSMT4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1428750"/>
                        <a:ext cx="831373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379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71500" y="133350"/>
            <a:ext cx="8215313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</a:rPr>
              <a:t>Оптимальный корреляционный приёмник радиосигнала с неизвестной начальной фазой</a:t>
            </a:r>
            <a:endParaRPr lang="ru-RU" sz="240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21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7170" name="Object 1"/>
          <p:cNvGraphicFramePr>
            <a:graphicFrameLocks noChangeAspect="1"/>
          </p:cNvGraphicFramePr>
          <p:nvPr/>
        </p:nvGraphicFramePr>
        <p:xfrm>
          <a:off x="6432550" y="4067175"/>
          <a:ext cx="22828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3" imgW="1676160" imgH="736560" progId="Equation.DSMT4">
                  <p:embed/>
                </p:oleObj>
              </mc:Choice>
              <mc:Fallback>
                <p:oleObj name="Equation" r:id="rId3" imgW="1676160" imgH="736560" progId="Equation.DSMT4">
                  <p:embed/>
                  <p:pic>
                    <p:nvPicPr>
                      <p:cNvPr id="717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4067175"/>
                        <a:ext cx="228282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11" name="Рисунок 43" descr="Приёмник сигнала со случайной фазой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5813" y="1000125"/>
            <a:ext cx="5357812" cy="557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804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539552" y="260648"/>
            <a:ext cx="82153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Максимальное отношение сигнал-шум</a:t>
            </a:r>
            <a:b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на выходе </a:t>
            </a:r>
            <a:r>
              <a:rPr lang="ru-RU" sz="2400" kern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коррелятора</a:t>
            </a:r>
          </a:p>
          <a:p>
            <a:pPr algn="ctr">
              <a:defRPr/>
            </a:pPr>
            <a:r>
              <a:rPr lang="ru-RU" sz="2400" kern="0" baseline="-25000" dirty="0" smtClean="0">
                <a:solidFill>
                  <a:srgbClr val="002060"/>
                </a:solidFill>
                <a:latin typeface="Arial" pitchFamily="34" charset="0"/>
                <a:ea typeface="+mj-ea"/>
                <a:cs typeface="Arial" pitchFamily="34" charset="0"/>
              </a:rPr>
              <a:t>Пример: корреляционный приемник для оценки задержки импульса</a:t>
            </a:r>
            <a:endParaRPr lang="ru-RU" sz="240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7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71" name="Прямоугольник 44"/>
          <p:cNvSpPr>
            <a:spLocks noChangeArrowheads="1"/>
          </p:cNvSpPr>
          <p:nvPr/>
        </p:nvSpPr>
        <p:spPr bwMode="auto">
          <a:xfrm>
            <a:off x="611560" y="3140968"/>
            <a:ext cx="32940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Корреляционный интеграл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4139952" y="2924944"/>
          <a:ext cx="3894832" cy="72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3" imgW="3288960" imgH="609480" progId="Equation.DSMT4">
                  <p:embed/>
                </p:oleObj>
              </mc:Choice>
              <mc:Fallback>
                <p:oleObj name="Equation" r:id="rId3" imgW="3288960" imgH="609480" progId="Equation.DSMT4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2924944"/>
                        <a:ext cx="3894832" cy="72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2" name="Прямоугольник 46"/>
          <p:cNvSpPr>
            <a:spLocks noChangeArrowheads="1"/>
          </p:cNvSpPr>
          <p:nvPr/>
        </p:nvSpPr>
        <p:spPr bwMode="auto">
          <a:xfrm>
            <a:off x="899592" y="1484784"/>
            <a:ext cx="30210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Принимаемое колебание</a:t>
            </a:r>
          </a:p>
        </p:txBody>
      </p:sp>
      <p:sp>
        <p:nvSpPr>
          <p:cNvPr id="10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4572000" y="1484784"/>
          <a:ext cx="2448272" cy="391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Equation" r:id="rId5" imgW="1726920" imgH="279360" progId="Equation.DSMT4">
                  <p:embed/>
                </p:oleObj>
              </mc:Choice>
              <mc:Fallback>
                <p:oleObj name="Equation" r:id="rId5" imgW="1726920" imgH="279360" progId="Equation.DSMT4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484784"/>
                        <a:ext cx="2448272" cy="3914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612130" y="3643312"/>
          <a:ext cx="300037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7" imgW="2438400" imgH="609600" progId="Equation.DSMT4">
                  <p:embed/>
                </p:oleObj>
              </mc:Choice>
              <mc:Fallback>
                <p:oleObj name="Equation" r:id="rId7" imgW="2438400" imgH="609600" progId="Equation.DSMT4">
                  <p:embed/>
                  <p:pic>
                    <p:nvPicPr>
                      <p:cNvPr id="10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30" y="3643312"/>
                        <a:ext cx="300037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" name="Прямоугольник 51"/>
          <p:cNvSpPr>
            <a:spLocks noChangeArrowheads="1"/>
          </p:cNvSpPr>
          <p:nvPr/>
        </p:nvSpPr>
        <p:spPr bwMode="auto">
          <a:xfrm>
            <a:off x="3898255" y="3786187"/>
            <a:ext cx="40263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- </a:t>
            </a:r>
            <a:r>
              <a:rPr lang="ru-RU" sz="2000" i="1" dirty="0" smtClean="0">
                <a:latin typeface="Calibri" pitchFamily="34" charset="0"/>
                <a:sym typeface="Symbol" pitchFamily="18" charset="2"/>
              </a:rPr>
              <a:t>сигнальная функция (регулярная)</a:t>
            </a:r>
            <a:endParaRPr lang="ru-RU" sz="2000" i="1" dirty="0">
              <a:latin typeface="Calibri" pitchFamily="34" charset="0"/>
              <a:sym typeface="Symbol" pitchFamily="18" charset="2"/>
            </a:endParaRPr>
          </a:p>
        </p:txBody>
      </p:sp>
      <p:sp>
        <p:nvSpPr>
          <p:cNvPr id="107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540693" y="4572000"/>
          <a:ext cx="26431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Equation" r:id="rId9" imgW="2133600" imgH="609600" progId="Equation.DSMT4">
                  <p:embed/>
                </p:oleObj>
              </mc:Choice>
              <mc:Fallback>
                <p:oleObj name="Equation" r:id="rId9" imgW="2133600" imgH="609600" progId="Equation.DSMT4">
                  <p:embed/>
                  <p:pic>
                    <p:nvPicPr>
                      <p:cNvPr id="1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693" y="4572000"/>
                        <a:ext cx="2643187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7" name="Прямоугольник 55"/>
          <p:cNvSpPr>
            <a:spLocks noChangeArrowheads="1"/>
          </p:cNvSpPr>
          <p:nvPr/>
        </p:nvSpPr>
        <p:spPr bwMode="auto">
          <a:xfrm>
            <a:off x="3898255" y="4643437"/>
            <a:ext cx="362445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- </a:t>
            </a:r>
            <a:r>
              <a:rPr lang="ru-RU" sz="2000" i="1" dirty="0" smtClean="0">
                <a:latin typeface="Calibri" pitchFamily="34" charset="0"/>
                <a:sym typeface="Symbol" pitchFamily="18" charset="2"/>
              </a:rPr>
              <a:t>шумовая функция (случайная)</a:t>
            </a:r>
            <a:endParaRPr lang="ru-RU" sz="2000" i="1" dirty="0">
              <a:latin typeface="Calibri" pitchFamily="34" charset="0"/>
              <a:sym typeface="Symbol" pitchFamily="18" charset="2"/>
            </a:endParaRPr>
          </a:p>
        </p:txBody>
      </p:sp>
      <p:sp>
        <p:nvSpPr>
          <p:cNvPr id="1078" name="Прямоугольник 56"/>
          <p:cNvSpPr>
            <a:spLocks noChangeArrowheads="1"/>
          </p:cNvSpPr>
          <p:nvPr/>
        </p:nvSpPr>
        <p:spPr bwMode="auto">
          <a:xfrm>
            <a:off x="1612255" y="5357812"/>
            <a:ext cx="66135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Максимальное отношение сигнал-шум по напряжению:</a:t>
            </a:r>
          </a:p>
        </p:txBody>
      </p:sp>
      <p:sp>
        <p:nvSpPr>
          <p:cNvPr id="107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3563888" y="5805264"/>
          <a:ext cx="1872208" cy="774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quation" r:id="rId11" imgW="1434960" imgH="596880" progId="Equation.DSMT4">
                  <p:embed/>
                </p:oleObj>
              </mc:Choice>
              <mc:Fallback>
                <p:oleObj name="Equation" r:id="rId11" imgW="1434960" imgH="596880" progId="Equation.DSMT4">
                  <p:embed/>
                  <p:pic>
                    <p:nvPicPr>
                      <p:cNvPr id="10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5805264"/>
                        <a:ext cx="1872208" cy="77479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9" name="Object 10"/>
          <p:cNvGraphicFramePr>
            <a:graphicFrameLocks noChangeAspect="1"/>
          </p:cNvGraphicFramePr>
          <p:nvPr/>
        </p:nvGraphicFramePr>
        <p:xfrm>
          <a:off x="1143000" y="1900238"/>
          <a:ext cx="64214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Equation" r:id="rId13" imgW="3581280" imgH="533160" progId="Equation.DSMT4">
                  <p:embed/>
                </p:oleObj>
              </mc:Choice>
              <mc:Fallback>
                <p:oleObj name="Equation" r:id="rId13" imgW="3581280" imgH="533160" progId="Equation.DSMT4">
                  <p:embed/>
                  <p:pic>
                    <p:nvPicPr>
                      <p:cNvPr id="4403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0238"/>
                        <a:ext cx="6421438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0623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7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8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1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755576" y="357188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kern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Вычисление максимума сигнальной функции </a:t>
            </a:r>
            <a:endParaRPr lang="ru-RU" sz="240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2286000" y="1571625"/>
          <a:ext cx="491648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3" imgW="3492360" imgH="609480" progId="Equation.DSMT4">
                  <p:embed/>
                </p:oleObj>
              </mc:Choice>
              <mc:Fallback>
                <p:oleObj name="Equation" r:id="rId3" imgW="3492360" imgH="609480" progId="Equation.DSMT4">
                  <p:embed/>
                  <p:pic>
                    <p:nvPicPr>
                      <p:cNvPr id="20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571625"/>
                        <a:ext cx="4916488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6" name="Прямоугольник 51"/>
          <p:cNvSpPr>
            <a:spLocks noChangeArrowheads="1"/>
          </p:cNvSpPr>
          <p:nvPr/>
        </p:nvSpPr>
        <p:spPr bwMode="auto">
          <a:xfrm>
            <a:off x="1000125" y="1000125"/>
            <a:ext cx="70564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Сигнальная функция как скалярное произведение векторов:</a:t>
            </a:r>
          </a:p>
        </p:txBody>
      </p:sp>
      <p:sp>
        <p:nvSpPr>
          <p:cNvPr id="209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7884368" y="260648"/>
          <a:ext cx="8382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5" imgW="431640" imgH="279360" progId="Equation.DSMT4">
                  <p:embed/>
                </p:oleObj>
              </mc:Choice>
              <mc:Fallback>
                <p:oleObj name="Equation" r:id="rId5" imgW="431640" imgH="279360" progId="Equation.DSMT4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260648"/>
                        <a:ext cx="8382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100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1285875" y="2643188"/>
          <a:ext cx="6643688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7" imgW="5117760" imgH="1803240" progId="Equation.DSMT4">
                  <p:embed/>
                </p:oleObj>
              </mc:Choice>
              <mc:Fallback>
                <p:oleObj name="Equation" r:id="rId7" imgW="5117760" imgH="1803240" progId="Equation.DSMT4">
                  <p:embed/>
                  <p:pic>
                    <p:nvPicPr>
                      <p:cNvPr id="2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643188"/>
                        <a:ext cx="6643688" cy="232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2085975" y="5357813"/>
          <a:ext cx="468788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9" imgW="3606480" imgH="609480" progId="Equation.DSMT4">
                  <p:embed/>
                </p:oleObj>
              </mc:Choice>
              <mc:Fallback>
                <p:oleObj name="Equation" r:id="rId9" imgW="3606480" imgH="609480" progId="Equation.DSMT4">
                  <p:embed/>
                  <p:pic>
                    <p:nvPicPr>
                      <p:cNvPr id="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5357813"/>
                        <a:ext cx="4687888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875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3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4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5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6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7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1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1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2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7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3" name="Прямоугольник 42"/>
          <p:cNvSpPr/>
          <p:nvPr/>
        </p:nvSpPr>
        <p:spPr>
          <a:xfrm>
            <a:off x="683568" y="214313"/>
            <a:ext cx="6480720" cy="5155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400" kern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Вычисление СКО шумовой функции</a:t>
            </a:r>
            <a:r>
              <a:rPr lang="ru-RU" sz="2750" b="1" kern="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ru-RU" sz="2750" b="1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1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2" name="Прямоугольник 51"/>
          <p:cNvSpPr>
            <a:spLocks noChangeArrowheads="1"/>
          </p:cNvSpPr>
          <p:nvPr/>
        </p:nvSpPr>
        <p:spPr bwMode="auto">
          <a:xfrm>
            <a:off x="611560" y="908720"/>
            <a:ext cx="35702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Дисперсия шумовой функции:</a:t>
            </a:r>
          </a:p>
        </p:txBody>
      </p:sp>
      <p:sp>
        <p:nvSpPr>
          <p:cNvPr id="312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28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660232" y="188640"/>
          <a:ext cx="5492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3" imgW="304536" imgH="304536" progId="Equation.DSMT4">
                  <p:embed/>
                </p:oleObj>
              </mc:Choice>
              <mc:Fallback>
                <p:oleObj name="Equation" r:id="rId3" imgW="304536" imgH="304536" progId="Equation.DSMT4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188640"/>
                        <a:ext cx="549275" cy="550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3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31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2143125" y="3289300"/>
          <a:ext cx="48577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5" imgW="4330440" imgH="507960" progId="Equation.DSMT4">
                  <p:embed/>
                </p:oleObj>
              </mc:Choice>
              <mc:Fallback>
                <p:oleObj name="Equation" r:id="rId5" imgW="4330440" imgH="507960" progId="Equation.DSMT4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289300"/>
                        <a:ext cx="48577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71"/>
          <p:cNvGrpSpPr>
            <a:grpSpLocks/>
          </p:cNvGrpSpPr>
          <p:nvPr/>
        </p:nvGrpSpPr>
        <p:grpSpPr bwMode="auto">
          <a:xfrm>
            <a:off x="785813" y="1503363"/>
            <a:ext cx="7572375" cy="1833562"/>
            <a:chOff x="785786" y="2166942"/>
            <a:chExt cx="7572428" cy="1833562"/>
          </a:xfrm>
        </p:grpSpPr>
        <p:graphicFrame>
          <p:nvGraphicFramePr>
            <p:cNvPr id="3075" name="Object 3"/>
            <p:cNvGraphicFramePr>
              <a:graphicFrameLocks noChangeAspect="1"/>
            </p:cNvGraphicFramePr>
            <p:nvPr/>
          </p:nvGraphicFramePr>
          <p:xfrm>
            <a:off x="785786" y="2166942"/>
            <a:ext cx="7572428" cy="1572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39" name="Equation" r:id="rId7" imgW="6464160" imgH="1346040" progId="Equation.DSMT4">
                    <p:embed/>
                  </p:oleObj>
                </mc:Choice>
                <mc:Fallback>
                  <p:oleObj name="Equation" r:id="rId7" imgW="6464160" imgH="1346040" progId="Equation.DSMT4">
                    <p:embed/>
                    <p:pic>
                      <p:nvPicPr>
                        <p:cNvPr id="307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786" y="2166942"/>
                          <a:ext cx="7572428" cy="1572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Овал 63"/>
            <p:cNvSpPr/>
            <p:nvPr/>
          </p:nvSpPr>
          <p:spPr>
            <a:xfrm>
              <a:off x="2482835" y="3000379"/>
              <a:ext cx="1101733" cy="65881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66" name="Прямая со стрелкой 65"/>
            <p:cNvCxnSpPr>
              <a:stCxn id="64" idx="5"/>
            </p:cNvCxnSpPr>
            <p:nvPr/>
          </p:nvCxnSpPr>
          <p:spPr>
            <a:xfrm rot="16200000" flipH="1">
              <a:off x="3341680" y="3644903"/>
              <a:ext cx="438150" cy="27305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3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395288" y="3929063"/>
          <a:ext cx="8424862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9" imgW="7429320" imgH="1320480" progId="Equation.DSMT4">
                  <p:embed/>
                </p:oleObj>
              </mc:Choice>
              <mc:Fallback>
                <p:oleObj name="Equation" r:id="rId9" imgW="7429320" imgH="1320480" progId="Equation.DSMT4">
                  <p:embed/>
                  <p:pic>
                    <p:nvPicPr>
                      <p:cNvPr id="3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929063"/>
                        <a:ext cx="8424862" cy="1500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Правая фигурная скобка 69"/>
          <p:cNvSpPr/>
          <p:nvPr/>
        </p:nvSpPr>
        <p:spPr>
          <a:xfrm rot="5400000">
            <a:off x="7326313" y="3906838"/>
            <a:ext cx="142875" cy="1857375"/>
          </a:xfrm>
          <a:prstGeom prst="righ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7072313" y="4857750"/>
          <a:ext cx="693737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Equation" r:id="rId11" imgW="660240" imgH="279360" progId="Equation.DSMT4">
                  <p:embed/>
                </p:oleObj>
              </mc:Choice>
              <mc:Fallback>
                <p:oleObj name="Equation" r:id="rId11" imgW="660240" imgH="279360" progId="Equation.DSMT4">
                  <p:embed/>
                  <p:pic>
                    <p:nvPicPr>
                      <p:cNvPr id="3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4857750"/>
                        <a:ext cx="693737" cy="29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3571875" y="5715000"/>
          <a:ext cx="26019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Equation" r:id="rId13" imgW="2133360" imgH="647640" progId="Equation.DSMT4">
                  <p:embed/>
                </p:oleObj>
              </mc:Choice>
              <mc:Fallback>
                <p:oleObj name="Equation" r:id="rId13" imgW="2133360" imgH="647640" progId="Equation.DSMT4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5715000"/>
                        <a:ext cx="2601913" cy="7858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46088" name="Object 5"/>
          <p:cNvGraphicFramePr>
            <a:graphicFrameLocks noChangeAspect="1"/>
          </p:cNvGraphicFramePr>
          <p:nvPr/>
        </p:nvGraphicFramePr>
        <p:xfrm>
          <a:off x="4283968" y="692696"/>
          <a:ext cx="264318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Equation" r:id="rId15" imgW="2133600" imgH="609600" progId="Equation.DSMT4">
                  <p:embed/>
                </p:oleObj>
              </mc:Choice>
              <mc:Fallback>
                <p:oleObj name="Equation" r:id="rId15" imgW="2133600" imgH="609600" progId="Equation.DSMT4">
                  <p:embed/>
                  <p:pic>
                    <p:nvPicPr>
                      <p:cNvPr id="4608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692696"/>
                        <a:ext cx="2643187" cy="755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90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8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9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7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2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214313" y="214313"/>
            <a:ext cx="8715375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800" kern="0" dirty="0" smtClean="0">
                <a:solidFill>
                  <a:srgbClr val="002060"/>
                </a:solidFill>
                <a:latin typeface="+mj-lt"/>
                <a:cs typeface="Arial" pitchFamily="34" charset="0"/>
              </a:rPr>
              <a:t>Оптимальное </a:t>
            </a:r>
            <a:r>
              <a:rPr lang="ru-RU" sz="2800" kern="0" dirty="0">
                <a:solidFill>
                  <a:srgbClr val="002060"/>
                </a:solidFill>
                <a:latin typeface="+mj-lt"/>
                <a:cs typeface="Arial" pitchFamily="34" charset="0"/>
              </a:rPr>
              <a:t>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80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(полностью известный сигнал)</a:t>
            </a:r>
          </a:p>
        </p:txBody>
      </p:sp>
      <p:sp>
        <p:nvSpPr>
          <p:cNvPr id="4145" name="Прямоугольник 45"/>
          <p:cNvSpPr>
            <a:spLocks noChangeArrowheads="1"/>
          </p:cNvSpPr>
          <p:nvPr/>
        </p:nvSpPr>
        <p:spPr bwMode="auto">
          <a:xfrm>
            <a:off x="500063" y="1366838"/>
            <a:ext cx="3895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Принятая смесь сигнала и шума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4572000" y="1295400"/>
          <a:ext cx="4102100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3" imgW="1701720" imgH="203040" progId="Equation.DSMT4">
                  <p:embed/>
                </p:oleObj>
              </mc:Choice>
              <mc:Fallback>
                <p:oleObj name="Equation" r:id="rId3" imgW="1701720" imgH="203040" progId="Equation.DSMT4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95400"/>
                        <a:ext cx="4102100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42938" y="2141538"/>
          <a:ext cx="26638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5" imgW="1422360" imgH="419040" progId="Equation.DSMT4">
                  <p:embed/>
                </p:oleObj>
              </mc:Choice>
              <mc:Fallback>
                <p:oleObj name="Equation" r:id="rId5" imgW="1422360" imgH="419040" progId="Equation.DSMT4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141538"/>
                        <a:ext cx="2663825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4357688" y="2143125"/>
          <a:ext cx="3733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7" imgW="1993680" imgH="419040" progId="Equation.DSMT4">
                  <p:embed/>
                </p:oleObj>
              </mc:Choice>
              <mc:Fallback>
                <p:oleObj name="Equation" r:id="rId7" imgW="1993680" imgH="419040" progId="Equation.DSMT4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2143125"/>
                        <a:ext cx="3733800" cy="787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6"/>
          <p:cNvGraphicFramePr>
            <a:graphicFrameLocks noChangeAspect="1"/>
          </p:cNvGraphicFramePr>
          <p:nvPr/>
        </p:nvGraphicFramePr>
        <p:xfrm>
          <a:off x="2957513" y="3714750"/>
          <a:ext cx="33861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9" imgW="1562040" imgH="330120" progId="Equation.DSMT4">
                  <p:embed/>
                </p:oleObj>
              </mc:Choice>
              <mc:Fallback>
                <p:oleObj name="Equation" r:id="rId9" imgW="1562040" imgH="330120" progId="Equation.DSMT4">
                  <p:embed/>
                  <p:pic>
                    <p:nvPicPr>
                      <p:cNvPr id="410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3714750"/>
                        <a:ext cx="338613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51"/>
          <p:cNvGrpSpPr>
            <a:grpSpLocks/>
          </p:cNvGrpSpPr>
          <p:nvPr/>
        </p:nvGrpSpPr>
        <p:grpSpPr bwMode="auto">
          <a:xfrm>
            <a:off x="2071688" y="3143250"/>
            <a:ext cx="5259387" cy="428625"/>
            <a:chOff x="357158" y="3142506"/>
            <a:chExt cx="5258935" cy="429370"/>
          </a:xfrm>
        </p:grpSpPr>
        <p:sp>
          <p:nvSpPr>
            <p:cNvPr id="4147" name="Прямоугольник 49"/>
            <p:cNvSpPr>
              <a:spLocks noChangeArrowheads="1"/>
            </p:cNvSpPr>
            <p:nvPr/>
          </p:nvSpPr>
          <p:spPr bwMode="auto">
            <a:xfrm>
              <a:off x="357158" y="3171766"/>
              <a:ext cx="50000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ru-RU" sz="2000" i="1">
                  <a:latin typeface="Calibri" pitchFamily="34" charset="0"/>
                  <a:sym typeface="Symbol" pitchFamily="18" charset="2"/>
                </a:rPr>
                <a:t>Апостериорная вероятность параметра</a:t>
              </a:r>
            </a:p>
          </p:txBody>
        </p:sp>
        <p:graphicFrame>
          <p:nvGraphicFramePr>
            <p:cNvPr id="4102" name="Object 6"/>
            <p:cNvGraphicFramePr>
              <a:graphicFrameLocks noChangeAspect="1"/>
            </p:cNvGraphicFramePr>
            <p:nvPr/>
          </p:nvGraphicFramePr>
          <p:xfrm>
            <a:off x="5286380" y="3142506"/>
            <a:ext cx="329713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5" name="Equation" r:id="rId11" imgW="126720" imgH="164880" progId="Equation.DSMT4">
                    <p:embed/>
                  </p:oleObj>
                </mc:Choice>
                <mc:Fallback>
                  <p:oleObj name="Equation" r:id="rId11" imgW="126720" imgH="164880" progId="Equation.DSMT4">
                    <p:embed/>
                    <p:pic>
                      <p:nvPicPr>
                        <p:cNvPr id="410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80" y="3142506"/>
                          <a:ext cx="329713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3" name="Object 10"/>
          <p:cNvGraphicFramePr>
            <a:graphicFrameLocks noChangeAspect="1"/>
          </p:cNvGraphicFramePr>
          <p:nvPr/>
        </p:nvGraphicFramePr>
        <p:xfrm>
          <a:off x="1143000" y="4721225"/>
          <a:ext cx="67151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Equation" r:id="rId13" imgW="5143320" imgH="545760" progId="Equation.DSMT4">
                  <p:embed/>
                </p:oleObj>
              </mc:Choice>
              <mc:Fallback>
                <p:oleObj name="Equation" r:id="rId13" imgW="5143320" imgH="545760" progId="Equation.DSMT4">
                  <p:embed/>
                  <p:pic>
                    <p:nvPicPr>
                      <p:cNvPr id="410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21225"/>
                        <a:ext cx="6715125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11"/>
          <p:cNvGraphicFramePr>
            <a:graphicFrameLocks noChangeAspect="1"/>
          </p:cNvGraphicFramePr>
          <p:nvPr/>
        </p:nvGraphicFramePr>
        <p:xfrm>
          <a:off x="1143000" y="5681663"/>
          <a:ext cx="4903788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Equation" r:id="rId15" imgW="3555720" imgH="545760" progId="Equation.DSMT4">
                  <p:embed/>
                </p:oleObj>
              </mc:Choice>
              <mc:Fallback>
                <p:oleObj name="Equation" r:id="rId15" imgW="3555720" imgH="545760" progId="Equation.DSMT4">
                  <p:embed/>
                  <p:pic>
                    <p:nvPicPr>
                      <p:cNvPr id="410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681663"/>
                        <a:ext cx="4903788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52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7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Оптимальное 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80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(полностью известный сигнал)</a:t>
            </a:r>
          </a:p>
        </p:txBody>
      </p:sp>
      <p:graphicFrame>
        <p:nvGraphicFramePr>
          <p:cNvPr id="5122" name="Object 3"/>
          <p:cNvGraphicFramePr>
            <a:graphicFrameLocks noChangeAspect="1"/>
          </p:cNvGraphicFramePr>
          <p:nvPr/>
        </p:nvGraphicFramePr>
        <p:xfrm>
          <a:off x="857250" y="2206625"/>
          <a:ext cx="257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3" imgW="1028520" imgH="203040" progId="Equation.DSMT4">
                  <p:embed/>
                </p:oleObj>
              </mc:Choice>
              <mc:Fallback>
                <p:oleObj name="Equation" r:id="rId3" imgW="1028520" imgH="203040" progId="Equation.DSMT4">
                  <p:embed/>
                  <p:pic>
                    <p:nvPicPr>
                      <p:cNvPr id="512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206625"/>
                        <a:ext cx="257175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1714500" y="1571625"/>
          <a:ext cx="8556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5" imgW="380880" imgH="190440" progId="Equation.DSMT4">
                  <p:embed/>
                </p:oleObj>
              </mc:Choice>
              <mc:Fallback>
                <p:oleObj name="Equation" r:id="rId5" imgW="380880" imgH="190440" progId="Equation.DSMT4">
                  <p:embed/>
                  <p:pic>
                    <p:nvPicPr>
                      <p:cNvPr id="51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571625"/>
                        <a:ext cx="855663" cy="4286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ChangeAspect="1"/>
          </p:cNvGraphicFramePr>
          <p:nvPr/>
        </p:nvGraphicFramePr>
        <p:xfrm>
          <a:off x="692150" y="4873625"/>
          <a:ext cx="32813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7" imgW="1269720" imgH="330120" progId="Equation.DSMT4">
                  <p:embed/>
                </p:oleObj>
              </mc:Choice>
              <mc:Fallback>
                <p:oleObj name="Equation" r:id="rId7" imgW="1269720" imgH="330120" progId="Equation.DSMT4">
                  <p:embed/>
                  <p:pic>
                    <p:nvPicPr>
                      <p:cNvPr id="512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4873625"/>
                        <a:ext cx="32813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0"/>
          <p:cNvGraphicFramePr>
            <a:graphicFrameLocks noChangeAspect="1"/>
          </p:cNvGraphicFramePr>
          <p:nvPr/>
        </p:nvGraphicFramePr>
        <p:xfrm>
          <a:off x="704850" y="2928938"/>
          <a:ext cx="28495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9" imgW="1803240" imgH="545760" progId="Equation.DSMT4">
                  <p:embed/>
                </p:oleObj>
              </mc:Choice>
              <mc:Fallback>
                <p:oleObj name="Equation" r:id="rId9" imgW="1803240" imgH="545760" progId="Equation.DSMT4">
                  <p:embed/>
                  <p:pic>
                    <p:nvPicPr>
                      <p:cNvPr id="512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2928938"/>
                        <a:ext cx="284956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1"/>
          <p:cNvGraphicFramePr>
            <a:graphicFrameLocks noChangeAspect="1"/>
          </p:cNvGraphicFramePr>
          <p:nvPr/>
        </p:nvGraphicFramePr>
        <p:xfrm>
          <a:off x="774700" y="3857625"/>
          <a:ext cx="278606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11" imgW="1511280" imgH="545760" progId="Equation.DSMT4">
                  <p:embed/>
                </p:oleObj>
              </mc:Choice>
              <mc:Fallback>
                <p:oleObj name="Equation" r:id="rId11" imgW="1511280" imgH="545760" progId="Equation.DSMT4">
                  <p:embed/>
                  <p:pic>
                    <p:nvPicPr>
                      <p:cNvPr id="51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3857625"/>
                        <a:ext cx="2786063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6143625" y="1571625"/>
          <a:ext cx="8826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13" imgW="393480" imgH="190440" progId="Equation.DSMT4">
                  <p:embed/>
                </p:oleObj>
              </mc:Choice>
              <mc:Fallback>
                <p:oleObj name="Equation" r:id="rId13" imgW="393480" imgH="190440" progId="Equation.DSMT4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1571625"/>
                        <a:ext cx="882650" cy="4286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5395913" y="2135188"/>
          <a:ext cx="23193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15" imgW="901440" imgH="203040" progId="Equation.DSMT4">
                  <p:embed/>
                </p:oleObj>
              </mc:Choice>
              <mc:Fallback>
                <p:oleObj name="Equation" r:id="rId15" imgW="901440" imgH="203040" progId="Equation.DSMT4">
                  <p:embed/>
                  <p:pic>
                    <p:nvPicPr>
                      <p:cNvPr id="5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2135188"/>
                        <a:ext cx="2319337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/>
          <p:cNvGraphicFramePr>
            <a:graphicFrameLocks noChangeAspect="1"/>
          </p:cNvGraphicFramePr>
          <p:nvPr/>
        </p:nvGraphicFramePr>
        <p:xfrm>
          <a:off x="5429250" y="3143250"/>
          <a:ext cx="11541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17" imgW="609480" imgH="228600" progId="Equation.DSMT4">
                  <p:embed/>
                </p:oleObj>
              </mc:Choice>
              <mc:Fallback>
                <p:oleObj name="Equation" r:id="rId17" imgW="609480" imgH="228600" progId="Equation.DSMT4">
                  <p:embed/>
                  <p:pic>
                    <p:nvPicPr>
                      <p:cNvPr id="5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3143250"/>
                        <a:ext cx="11541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/>
          <p:cNvGraphicFramePr>
            <a:graphicFrameLocks noChangeAspect="1"/>
          </p:cNvGraphicFramePr>
          <p:nvPr/>
        </p:nvGraphicFramePr>
        <p:xfrm>
          <a:off x="5429250" y="4071938"/>
          <a:ext cx="12493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6" name="Equation" r:id="rId19" imgW="698400" imgH="241200" progId="Equation.DSMT4">
                  <p:embed/>
                </p:oleObj>
              </mc:Choice>
              <mc:Fallback>
                <p:oleObj name="Equation" r:id="rId19" imgW="698400" imgH="241200" progId="Equation.DSMT4">
                  <p:embed/>
                  <p:pic>
                    <p:nvPicPr>
                      <p:cNvPr id="5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4071938"/>
                        <a:ext cx="124936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5289550" y="5159375"/>
          <a:ext cx="258921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Equation" r:id="rId21" imgW="977760" imgH="203040" progId="Equation.DSMT4">
                  <p:embed/>
                </p:oleObj>
              </mc:Choice>
              <mc:Fallback>
                <p:oleObj name="Equation" r:id="rId21" imgW="977760" imgH="203040" progId="Equation.DSMT4">
                  <p:embed/>
                  <p:pic>
                    <p:nvPicPr>
                      <p:cNvPr id="5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9550" y="5159375"/>
                        <a:ext cx="2589213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Прямая соединительная линия 57"/>
          <p:cNvCxnSpPr/>
          <p:nvPr/>
        </p:nvCxnSpPr>
        <p:spPr>
          <a:xfrm rot="5400000">
            <a:off x="2785269" y="3785394"/>
            <a:ext cx="3573463" cy="3175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31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Оптимальное 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80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(полностью известный сигнал)</a:t>
            </a:r>
          </a:p>
        </p:txBody>
      </p:sp>
      <p:graphicFrame>
        <p:nvGraphicFramePr>
          <p:cNvPr id="6146" name="Object 6"/>
          <p:cNvGraphicFramePr>
            <a:graphicFrameLocks noChangeAspect="1"/>
          </p:cNvGraphicFramePr>
          <p:nvPr/>
        </p:nvGraphicFramePr>
        <p:xfrm>
          <a:off x="561975" y="2840038"/>
          <a:ext cx="80216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3" imgW="4165560" imgH="444240" progId="Equation.DSMT4">
                  <p:embed/>
                </p:oleObj>
              </mc:Choice>
              <mc:Fallback>
                <p:oleObj name="Equation" r:id="rId3" imgW="4165560" imgH="444240" progId="Equation.DSMT4">
                  <p:embed/>
                  <p:pic>
                    <p:nvPicPr>
                      <p:cNvPr id="61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2840038"/>
                        <a:ext cx="80216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3054350" y="1285875"/>
          <a:ext cx="46609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5" imgW="2450880" imgH="457200" progId="Equation.DSMT4">
                  <p:embed/>
                </p:oleObj>
              </mc:Choice>
              <mc:Fallback>
                <p:oleObj name="Equation" r:id="rId5" imgW="2450880" imgH="457200" progId="Equation.DSMT4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285875"/>
                        <a:ext cx="4660900" cy="871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1" name="Прямоугольник 53"/>
          <p:cNvSpPr>
            <a:spLocks noChangeArrowheads="1"/>
          </p:cNvSpPr>
          <p:nvPr/>
        </p:nvSpPr>
        <p:spPr bwMode="auto">
          <a:xfrm>
            <a:off x="500063" y="1500188"/>
            <a:ext cx="2401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Оценка параметра</a:t>
            </a: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978150" y="2306638"/>
          <a:ext cx="342265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7" imgW="1752480" imgH="203040" progId="Equation.DSMT4">
                  <p:embed/>
                </p:oleObj>
              </mc:Choice>
              <mc:Fallback>
                <p:oleObj name="Equation" r:id="rId7" imgW="1752480" imgH="203040" progId="Equation.DSMT4">
                  <p:embed/>
                  <p:pic>
                    <p:nvPicPr>
                      <p:cNvPr id="61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306638"/>
                        <a:ext cx="3422650" cy="395287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2916238" y="3709988"/>
          <a:ext cx="379571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9" imgW="1879560" imgH="291960" progId="Equation.DSMT4">
                  <p:embed/>
                </p:oleObj>
              </mc:Choice>
              <mc:Fallback>
                <p:oleObj name="Equation" r:id="rId9" imgW="1879560" imgH="291960" progId="Equation.DSMT4">
                  <p:embed/>
                  <p:pic>
                    <p:nvPicPr>
                      <p:cNvPr id="6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709988"/>
                        <a:ext cx="379571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2" name="Прямоугольник 58"/>
          <p:cNvSpPr>
            <a:spLocks noChangeArrowheads="1"/>
          </p:cNvSpPr>
          <p:nvPr/>
        </p:nvSpPr>
        <p:spPr bwMode="auto">
          <a:xfrm>
            <a:off x="2357438" y="4357688"/>
            <a:ext cx="47291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Алгоритм оптимального обнаружения</a:t>
            </a:r>
          </a:p>
        </p:txBody>
      </p:sp>
      <p:graphicFrame>
        <p:nvGraphicFramePr>
          <p:cNvPr id="6150" name="Object 10"/>
          <p:cNvGraphicFramePr>
            <a:graphicFrameLocks noChangeAspect="1"/>
          </p:cNvGraphicFramePr>
          <p:nvPr/>
        </p:nvGraphicFramePr>
        <p:xfrm>
          <a:off x="2500313" y="4857750"/>
          <a:ext cx="4173537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11" imgW="2641320" imgH="799920" progId="Equation.DSMT4">
                  <p:embed/>
                </p:oleObj>
              </mc:Choice>
              <mc:Fallback>
                <p:oleObj name="Equation" r:id="rId11" imgW="2641320" imgH="799920" progId="Equation.DSMT4">
                  <p:embed/>
                  <p:pic>
                    <p:nvPicPr>
                      <p:cNvPr id="61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4857750"/>
                        <a:ext cx="4173537" cy="1257300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540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3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7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Оптимальный корреляционный обнаружитель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80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(полностью известный сигнал)</a:t>
            </a:r>
          </a:p>
        </p:txBody>
      </p:sp>
      <p:pic>
        <p:nvPicPr>
          <p:cNvPr id="7211" name="Рисунок 48" descr="Обнаружитель известного сигнала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38" y="1714500"/>
            <a:ext cx="6835775" cy="2382838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  <a:miter lim="800000"/>
            <a:headEnd/>
            <a:tailEnd/>
          </a:ln>
        </p:spPr>
      </p:pic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286125" y="4572000"/>
          <a:ext cx="3005138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4" imgW="1739880" imgH="774360" progId="Equation.DSMT4">
                  <p:embed/>
                </p:oleObj>
              </mc:Choice>
              <mc:Fallback>
                <p:oleObj name="Equation" r:id="rId4" imgW="1739880" imgH="774360" progId="Equation.DSMT4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572000"/>
                        <a:ext cx="3005138" cy="1335088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060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7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8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1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5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2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6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4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41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4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8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244" name="Прямоугольник 45"/>
          <p:cNvSpPr>
            <a:spLocks noChangeArrowheads="1"/>
          </p:cNvSpPr>
          <p:nvPr/>
        </p:nvSpPr>
        <p:spPr bwMode="auto">
          <a:xfrm>
            <a:off x="2222500" y="1214438"/>
            <a:ext cx="4778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i="1">
                <a:latin typeface="Calibri" pitchFamily="34" charset="0"/>
                <a:sym typeface="Symbol" pitchFamily="18" charset="2"/>
              </a:rPr>
              <a:t>Возможные ситуации при обнаружении</a:t>
            </a:r>
          </a:p>
        </p:txBody>
      </p:sp>
      <p:graphicFrame>
        <p:nvGraphicFramePr>
          <p:cNvPr id="54" name="Таблица 53"/>
          <p:cNvGraphicFramePr>
            <a:graphicFrameLocks noGrp="1"/>
          </p:cNvGraphicFramePr>
          <p:nvPr/>
        </p:nvGraphicFramePr>
        <p:xfrm>
          <a:off x="2293938" y="1714500"/>
          <a:ext cx="4643437" cy="2286001"/>
        </p:xfrm>
        <a:graphic>
          <a:graphicData uri="http://schemas.openxmlformats.org/drawingml/2006/table">
            <a:tbl>
              <a:tblPr/>
              <a:tblGrid>
                <a:gridCol w="995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013">
                <a:tc>
                  <a:txBody>
                    <a:bodyPr/>
                    <a:lstStyle/>
                    <a:p>
                      <a:pPr marL="100013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39763" algn="l"/>
                        </a:tabLst>
                      </a:pPr>
                      <a:endParaRPr kumimoji="0" lang="ru-RU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10001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>
                          <a:tab pos="639763" algn="l"/>
                        </a:tabLst>
                      </a:pPr>
                      <a:r>
                        <a:rPr kumimoji="0" lang="ru-RU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9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правильное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обнаружение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ложное срабатывание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[</a:t>
                      </a: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ложная тревога (ЛТ)</a:t>
                      </a: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endParaRPr kumimoji="0" lang="ru-RU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ru-RU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пропуск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сигнала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правильное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необнаружение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592388" y="1884363"/>
          <a:ext cx="1809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3" imgW="139639" imgH="241195" progId="Equation.DSMT4">
                  <p:embed/>
                </p:oleObj>
              </mc:Choice>
              <mc:Fallback>
                <p:oleObj name="Equation" r:id="rId3" imgW="139639" imgH="241195" progId="Equation.DSMT4">
                  <p:embed/>
                  <p:pic>
                    <p:nvPicPr>
                      <p:cNvPr id="8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884363"/>
                        <a:ext cx="180975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944938" y="2579688"/>
          <a:ext cx="5000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1" name="Equation" r:id="rId5" imgW="317225" imgH="241091" progId="Equation.DSMT4">
                  <p:embed/>
                </p:oleObj>
              </mc:Choice>
              <mc:Fallback>
                <p:oleObj name="Equation" r:id="rId5" imgW="317225" imgH="241091" progId="Equation.DSMT4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4938" y="2579688"/>
                        <a:ext cx="500062" cy="385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5794375" y="2571750"/>
          <a:ext cx="42862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2" name="Equation" r:id="rId7" imgW="291973" imgH="241195" progId="Equation.DSMT4">
                  <p:embed/>
                </p:oleObj>
              </mc:Choice>
              <mc:Fallback>
                <p:oleObj name="Equation" r:id="rId7" imgW="291973" imgH="241195" progId="Equation.DSMT4">
                  <p:embed/>
                  <p:pic>
                    <p:nvPicPr>
                      <p:cNvPr id="8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2571750"/>
                        <a:ext cx="428625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3937000" y="3454400"/>
          <a:ext cx="592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Equation" r:id="rId9" imgW="368280" imgH="266400" progId="Equation.DSMT4">
                  <p:embed/>
                </p:oleObj>
              </mc:Choice>
              <mc:Fallback>
                <p:oleObj name="Equation" r:id="rId9" imgW="368280" imgH="266400" progId="Equation.DSMT4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3454400"/>
                        <a:ext cx="5921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5651500" y="3482975"/>
          <a:ext cx="64293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Equation" r:id="rId11" imgW="418918" imgH="241195" progId="Equation.DSMT4">
                  <p:embed/>
                </p:oleObj>
              </mc:Choice>
              <mc:Fallback>
                <p:oleObj name="Equation" r:id="rId11" imgW="418918" imgH="241195" progId="Equation.DSMT4">
                  <p:embed/>
                  <p:pic>
                    <p:nvPicPr>
                      <p:cNvPr id="8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3482975"/>
                        <a:ext cx="642938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4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65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079750" y="1785938"/>
          <a:ext cx="18097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5" name="Equation" r:id="rId13" imgW="139639" imgH="190417" progId="Equation.DSMT4">
                  <p:embed/>
                </p:oleObj>
              </mc:Choice>
              <mc:Fallback>
                <p:oleObj name="Equation" r:id="rId13" imgW="139639" imgH="190417" progId="Equation.DSMT4">
                  <p:embed/>
                  <p:pic>
                    <p:nvPicPr>
                      <p:cNvPr id="81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1785938"/>
                        <a:ext cx="180975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7215188" y="3335338"/>
          <a:ext cx="167481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6" name="Equation" r:id="rId15" imgW="1091880" imgH="241200" progId="Equation.DSMT4">
                  <p:embed/>
                </p:oleObj>
              </mc:Choice>
              <mc:Fallback>
                <p:oleObj name="Equation" r:id="rId15" imgW="1091880" imgH="241200" progId="Equation.DSMT4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5188" y="3335338"/>
                        <a:ext cx="1674812" cy="379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7183438" y="2343150"/>
          <a:ext cx="164306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Equation" r:id="rId17" imgW="1066680" imgH="266400" progId="Equation.DSMT4">
                  <p:embed/>
                </p:oleObj>
              </mc:Choice>
              <mc:Fallback>
                <p:oleObj name="Equation" r:id="rId17" imgW="1066680" imgH="266400" progId="Equation.DSMT4">
                  <p:embed/>
                  <p:pic>
                    <p:nvPicPr>
                      <p:cNvPr id="8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3438" y="2343150"/>
                        <a:ext cx="1643062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6" name="Прямоугольник 65"/>
          <p:cNvSpPr>
            <a:spLocks noChangeArrowheads="1"/>
          </p:cNvSpPr>
          <p:nvPr/>
        </p:nvSpPr>
        <p:spPr bwMode="auto">
          <a:xfrm>
            <a:off x="3143250" y="4416425"/>
            <a:ext cx="3098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i="1">
                <a:latin typeface="Calibri" pitchFamily="34" charset="0"/>
                <a:sym typeface="Symbol" pitchFamily="18" charset="2"/>
              </a:rPr>
              <a:t>Независимые вероятности:</a:t>
            </a:r>
          </a:p>
        </p:txBody>
      </p:sp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1631950" y="5032375"/>
          <a:ext cx="60801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Equation" r:id="rId19" imgW="3860640" imgH="291960" progId="Equation.DSMT4">
                  <p:embed/>
                </p:oleObj>
              </mc:Choice>
              <mc:Fallback>
                <p:oleObj name="Equation" r:id="rId19" imgW="3860640" imgH="291960" progId="Equation.DSMT4">
                  <p:embed/>
                  <p:pic>
                    <p:nvPicPr>
                      <p:cNvPr id="82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5032375"/>
                        <a:ext cx="6080125" cy="465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1352550" y="5675313"/>
          <a:ext cx="66405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Equation" r:id="rId21" imgW="4216320" imgH="291960" progId="Equation.DSMT4">
                  <p:embed/>
                </p:oleObj>
              </mc:Choice>
              <mc:Fallback>
                <p:oleObj name="Equation" r:id="rId21" imgW="4216320" imgH="291960" progId="Equation.DSMT4">
                  <p:embed/>
                  <p:pic>
                    <p:nvPicPr>
                      <p:cNvPr id="8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5675313"/>
                        <a:ext cx="6640513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875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6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7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8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9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6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4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6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9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262" name="Прямоугольник 45"/>
          <p:cNvSpPr>
            <a:spLocks noChangeArrowheads="1"/>
          </p:cNvSpPr>
          <p:nvPr/>
        </p:nvSpPr>
        <p:spPr bwMode="auto">
          <a:xfrm>
            <a:off x="785813" y="1214438"/>
            <a:ext cx="7550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Статистические характеристики корреляционного интеграла</a:t>
            </a:r>
          </a:p>
        </p:txBody>
      </p:sp>
      <p:sp>
        <p:nvSpPr>
          <p:cNvPr id="9263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7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8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70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71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00063" y="1714500"/>
          <a:ext cx="8102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3" imgW="5613120" imgH="545760" progId="Equation.DSMT4">
                  <p:embed/>
                </p:oleObj>
              </mc:Choice>
              <mc:Fallback>
                <p:oleObj name="Equation" r:id="rId3" imgW="5613120" imgH="545760" progId="Equation.DSMT4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714500"/>
                        <a:ext cx="8102600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714375" y="2657475"/>
          <a:ext cx="4987925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5" imgW="3225600" imgH="545760" progId="Equation.DSMT4">
                  <p:embed/>
                </p:oleObj>
              </mc:Choice>
              <mc:Fallback>
                <p:oleObj name="Equation" r:id="rId5" imgW="3225600" imgH="545760" progId="Equation.DSMT4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657475"/>
                        <a:ext cx="4987925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1843088" y="3700463"/>
          <a:ext cx="5349875" cy="1284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7" imgW="4381200" imgH="1054080" progId="Equation.DSMT4">
                  <p:embed/>
                </p:oleObj>
              </mc:Choice>
              <mc:Fallback>
                <p:oleObj name="Equation" r:id="rId7" imgW="4381200" imgH="1054080" progId="Equation.DSMT4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88" y="3700463"/>
                        <a:ext cx="5349875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72" name="Rectangle 21"/>
          <p:cNvSpPr>
            <a:spLocks noChangeArrowheads="1"/>
          </p:cNvSpPr>
          <p:nvPr/>
        </p:nvSpPr>
        <p:spPr bwMode="auto">
          <a:xfrm>
            <a:off x="428625" y="5219700"/>
            <a:ext cx="3643313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1">
                <a:latin typeface="Calibri" pitchFamily="34" charset="0"/>
                <a:sym typeface="Symbol" pitchFamily="18" charset="2"/>
              </a:rPr>
              <a:t>Условная плотность вероятности корреляционного интеграла: 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4979988" y="5072063"/>
          <a:ext cx="3221037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9" imgW="1981080" imgH="660240" progId="Equation.DSMT4">
                  <p:embed/>
                </p:oleObj>
              </mc:Choice>
              <mc:Fallback>
                <p:oleObj name="Equation" r:id="rId9" imgW="1981080" imgH="660240" progId="Equation.DSMT4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5072063"/>
                        <a:ext cx="3221037" cy="10699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648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46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7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8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4986338" y="5229225"/>
          <a:ext cx="387985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3" imgW="3263760" imgH="888840" progId="Equation.DSMT4">
                  <p:embed/>
                </p:oleObj>
              </mc:Choice>
              <mc:Fallback>
                <p:oleObj name="Equation" r:id="rId3" imgW="3263760" imgH="888840" progId="Equation.DSMT4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338" y="5229225"/>
                        <a:ext cx="387985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357188" y="5214938"/>
          <a:ext cx="4106862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5" imgW="3340080" imgH="888840" progId="Equation.DSMT4">
                  <p:embed/>
                </p:oleObj>
              </mc:Choice>
              <mc:Fallback>
                <p:oleObj name="Equation" r:id="rId5" imgW="3340080" imgH="888840" progId="Equation.DSMT4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214938"/>
                        <a:ext cx="4106862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53" name="Рисунок 15" descr="Плотности вероятности.emf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28750" y="1285875"/>
            <a:ext cx="6418263" cy="3281363"/>
          </a:xfrm>
          <a:prstGeom prst="rect">
            <a:avLst/>
          </a:prstGeom>
          <a:solidFill>
            <a:schemeClr val="bg1"/>
          </a:solidFill>
          <a:ln w="15875">
            <a:solidFill>
              <a:srgbClr val="C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226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272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4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3914775" y="1428750"/>
          <a:ext cx="4959350" cy="333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Equation" r:id="rId3" imgW="4381200" imgH="2946240" progId="Equation.DSMT4">
                  <p:embed/>
                </p:oleObj>
              </mc:Choice>
              <mc:Fallback>
                <p:oleObj name="Equation" r:id="rId3" imgW="4381200" imgH="2946240" progId="Equation.DSMT4">
                  <p:embed/>
                  <p:pic>
                    <p:nvPicPr>
                      <p:cNvPr id="11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1428750"/>
                        <a:ext cx="4959350" cy="333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5072063" y="5000625"/>
          <a:ext cx="29257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Equation" r:id="rId5" imgW="2234880" imgH="660240" progId="Equation.DSMT4">
                  <p:embed/>
                </p:oleObj>
              </mc:Choice>
              <mc:Fallback>
                <p:oleObj name="Equation" r:id="rId5" imgW="2234880" imgH="660240" progId="Equation.DSMT4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5000625"/>
                        <a:ext cx="2925762" cy="863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400050" y="1390650"/>
          <a:ext cx="3055938" cy="3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7" imgW="2692080" imgH="2984400" progId="Equation.DSMT4">
                  <p:embed/>
                </p:oleObj>
              </mc:Choice>
              <mc:Fallback>
                <p:oleObj name="Equation" r:id="rId7" imgW="2692080" imgH="2984400" progId="Equation.DSMT4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1390650"/>
                        <a:ext cx="3055938" cy="339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912813" y="5000625"/>
          <a:ext cx="20161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9" imgW="1536480" imgH="660240" progId="Equation.DSMT4">
                  <p:embed/>
                </p:oleObj>
              </mc:Choice>
              <mc:Fallback>
                <p:oleObj name="Equation" r:id="rId9" imgW="1536480" imgH="66024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3" y="5000625"/>
                        <a:ext cx="2016125" cy="8667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Прямая соединительная линия 19"/>
          <p:cNvCxnSpPr/>
          <p:nvPr/>
        </p:nvCxnSpPr>
        <p:spPr>
          <a:xfrm rot="5400000">
            <a:off x="1357312" y="3571876"/>
            <a:ext cx="4714875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8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294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5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6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/>
        </p:nvGraphicFramePr>
        <p:xfrm>
          <a:off x="2343150" y="1285875"/>
          <a:ext cx="458787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8" name="Equation" r:id="rId3" imgW="3936960" imgH="634680" progId="Equation.DSMT4">
                  <p:embed/>
                </p:oleObj>
              </mc:Choice>
              <mc:Fallback>
                <p:oleObj name="Equation" r:id="rId3" imgW="3936960" imgH="634680" progId="Equation.DSMT4">
                  <p:embed/>
                  <p:pic>
                    <p:nvPicPr>
                      <p:cNvPr id="122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3150" y="1285875"/>
                        <a:ext cx="4587875" cy="738188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00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01" name="Рисунок 19" descr="Интеграл вероятности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0" y="2500313"/>
            <a:ext cx="4672013" cy="3786187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6526213" y="3143250"/>
          <a:ext cx="2033587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9" name="Equation" r:id="rId6" imgW="1600200" imgH="838080" progId="Equation.DSMT4">
                  <p:embed/>
                </p:oleObj>
              </mc:Choice>
              <mc:Fallback>
                <p:oleObj name="Equation" r:id="rId6" imgW="1600200" imgH="838080" progId="Equation.DSMT4">
                  <p:embed/>
                  <p:pic>
                    <p:nvPicPr>
                      <p:cNvPr id="122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6213" y="3143250"/>
                        <a:ext cx="2033587" cy="1065213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444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Группа 32"/>
          <p:cNvGrpSpPr>
            <a:grpSpLocks/>
          </p:cNvGrpSpPr>
          <p:nvPr/>
        </p:nvGrpSpPr>
        <p:grpSpPr bwMode="auto">
          <a:xfrm>
            <a:off x="928688" y="1428750"/>
            <a:ext cx="7419975" cy="503238"/>
            <a:chOff x="928662" y="1928802"/>
            <a:chExt cx="7419998" cy="503238"/>
          </a:xfrm>
        </p:grpSpPr>
        <p:sp>
          <p:nvSpPr>
            <p:cNvPr id="13328" name="Rectangle 21"/>
            <p:cNvSpPr>
              <a:spLocks noChangeArrowheads="1"/>
            </p:cNvSpPr>
            <p:nvPr/>
          </p:nvSpPr>
          <p:spPr bwMode="auto">
            <a:xfrm>
              <a:off x="928662" y="2000240"/>
              <a:ext cx="32147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i="1">
                  <a:latin typeface="Calibri" pitchFamily="34" charset="0"/>
                  <a:sym typeface="Symbol" pitchFamily="18" charset="2"/>
                </a:rPr>
                <a:t>Полная вероятность ошибки</a:t>
              </a:r>
            </a:p>
          </p:txBody>
        </p:sp>
        <p:graphicFrame>
          <p:nvGraphicFramePr>
            <p:cNvPr id="13314" name="Object 2"/>
            <p:cNvGraphicFramePr>
              <a:graphicFrameLocks noChangeAspect="1"/>
            </p:cNvGraphicFramePr>
            <p:nvPr/>
          </p:nvGraphicFramePr>
          <p:xfrm>
            <a:off x="4143372" y="1928802"/>
            <a:ext cx="4205288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6" name="Equation" r:id="rId3" imgW="2730240" imgH="317160" progId="Equation.DSMT4">
                    <p:embed/>
                  </p:oleObj>
                </mc:Choice>
                <mc:Fallback>
                  <p:oleObj name="Equation" r:id="rId3" imgW="2730240" imgH="317160" progId="Equation.DSMT4">
                    <p:embed/>
                    <p:pic>
                      <p:nvPicPr>
                        <p:cNvPr id="13314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3372" y="1928802"/>
                          <a:ext cx="4205288" cy="5032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Группа 33"/>
          <p:cNvGrpSpPr>
            <a:grpSpLocks/>
          </p:cNvGrpSpPr>
          <p:nvPr/>
        </p:nvGrpSpPr>
        <p:grpSpPr bwMode="auto">
          <a:xfrm>
            <a:off x="1143000" y="2000250"/>
            <a:ext cx="4718050" cy="714375"/>
            <a:chOff x="1142976" y="2357430"/>
            <a:chExt cx="4717991" cy="714380"/>
          </a:xfrm>
        </p:grpSpPr>
        <p:graphicFrame>
          <p:nvGraphicFramePr>
            <p:cNvPr id="13315" name="Object 3"/>
            <p:cNvGraphicFramePr>
              <a:graphicFrameLocks noChangeAspect="1"/>
            </p:cNvGraphicFramePr>
            <p:nvPr/>
          </p:nvGraphicFramePr>
          <p:xfrm>
            <a:off x="4071934" y="2357430"/>
            <a:ext cx="1789033" cy="714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77" name="Equation" r:id="rId5" imgW="1333440" imgH="533160" progId="Equation.DSMT4">
                    <p:embed/>
                  </p:oleObj>
                </mc:Choice>
                <mc:Fallback>
                  <p:oleObj name="Equation" r:id="rId5" imgW="1333440" imgH="533160" progId="Equation.DSMT4">
                    <p:embed/>
                    <p:pic>
                      <p:nvPicPr>
                        <p:cNvPr id="1331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934" y="2357430"/>
                          <a:ext cx="1789033" cy="714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587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7" name="Rectangle 21"/>
            <p:cNvSpPr>
              <a:spLocks noChangeArrowheads="1"/>
            </p:cNvSpPr>
            <p:nvPr/>
          </p:nvSpPr>
          <p:spPr bwMode="auto">
            <a:xfrm>
              <a:off x="1142976" y="2465802"/>
              <a:ext cx="321471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i="1">
                  <a:latin typeface="Calibri" pitchFamily="34" charset="0"/>
                  <a:sym typeface="Symbol" pitchFamily="18" charset="2"/>
                </a:rPr>
                <a:t>при оптимальном пороге</a:t>
              </a:r>
            </a:p>
          </p:txBody>
        </p:sp>
      </p:grpSp>
      <p:sp>
        <p:nvSpPr>
          <p:cNvPr id="13324" name="Прямоугольник 22"/>
          <p:cNvSpPr>
            <a:spLocks noChangeArrowheads="1"/>
          </p:cNvSpPr>
          <p:nvPr/>
        </p:nvSpPr>
        <p:spPr bwMode="auto">
          <a:xfrm>
            <a:off x="642938" y="1071563"/>
            <a:ext cx="82280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000" b="1" i="1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Обнаружение по критерию максимума апостериорной вероятности </a:t>
            </a:r>
            <a:endParaRPr lang="ru-RU" sz="2000">
              <a:solidFill>
                <a:srgbClr val="FF0000"/>
              </a:solidFill>
            </a:endParaRPr>
          </a:p>
        </p:txBody>
      </p:sp>
      <p:sp>
        <p:nvSpPr>
          <p:cNvPr id="13325" name="Прямоугольник 23"/>
          <p:cNvSpPr>
            <a:spLocks noChangeArrowheads="1"/>
          </p:cNvSpPr>
          <p:nvPr/>
        </p:nvSpPr>
        <p:spPr bwMode="auto">
          <a:xfrm>
            <a:off x="2000250" y="2671763"/>
            <a:ext cx="54229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ru-RU" sz="2000" b="1" i="1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Обнаружение по критерию Неймана-Пирсона</a:t>
            </a:r>
            <a:endParaRPr lang="ru-RU" sz="2000">
              <a:solidFill>
                <a:srgbClr val="FF0000"/>
              </a:solidFill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436813" y="3332163"/>
          <a:ext cx="47244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7" imgW="3695400" imgH="279360" progId="Equation.DSMT4">
                  <p:embed/>
                </p:oleObj>
              </mc:Choice>
              <mc:Fallback>
                <p:oleObj name="Equation" r:id="rId7" imgW="3695400" imgH="279360" progId="Equation.DSMT4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3" y="3332163"/>
                        <a:ext cx="4724400" cy="3571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668588" y="3854450"/>
          <a:ext cx="440372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9" imgW="3682800" imgH="660240" progId="Equation.DSMT4">
                  <p:embed/>
                </p:oleObj>
              </mc:Choice>
              <mc:Fallback>
                <p:oleObj name="Equation" r:id="rId9" imgW="3682800" imgH="660240" progId="Equation.DSMT4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3854450"/>
                        <a:ext cx="4403725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1357313" y="4643438"/>
          <a:ext cx="4268787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11" imgW="3543120" imgH="660240" progId="Equation.DSMT4">
                  <p:embed/>
                </p:oleObj>
              </mc:Choice>
              <mc:Fallback>
                <p:oleObj name="Equation" r:id="rId11" imgW="3543120" imgH="660240" progId="Equation.DSMT4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4643438"/>
                        <a:ext cx="4268787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2"/>
          <p:cNvGraphicFramePr>
            <a:graphicFrameLocks noChangeAspect="1"/>
          </p:cNvGraphicFramePr>
          <p:nvPr/>
        </p:nvGraphicFramePr>
        <p:xfrm>
          <a:off x="2928938" y="5500688"/>
          <a:ext cx="36909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13" imgW="2781000" imgH="634680" progId="Equation.DSMT4">
                  <p:embed/>
                </p:oleObj>
              </mc:Choice>
              <mc:Fallback>
                <p:oleObj name="Equation" r:id="rId13" imgW="2781000" imgH="634680" progId="Equation.DSMT4">
                  <p:embed/>
                  <p:pic>
                    <p:nvPicPr>
                      <p:cNvPr id="1331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5500688"/>
                        <a:ext cx="3690937" cy="838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Rectangle 21"/>
          <p:cNvSpPr>
            <a:spLocks noChangeArrowheads="1"/>
          </p:cNvSpPr>
          <p:nvPr/>
        </p:nvSpPr>
        <p:spPr bwMode="auto">
          <a:xfrm>
            <a:off x="5643563" y="4845050"/>
            <a:ext cx="26431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1">
                <a:latin typeface="Calibri" pitchFamily="34" charset="0"/>
                <a:sym typeface="Symbol" pitchFamily="18" charset="2"/>
              </a:rPr>
              <a:t>- нормированный порог</a:t>
            </a:r>
          </a:p>
        </p:txBody>
      </p:sp>
    </p:spTree>
    <p:extLst>
      <p:ext uri="{BB962C8B-B14F-4D97-AF65-F5344CB8AC3E}">
        <p14:creationId xmlns:p14="http://schemas.microsoft.com/office/powerpoint/2010/main" val="76170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22"/>
          <p:cNvSpPr/>
          <p:nvPr/>
        </p:nvSpPr>
        <p:spPr>
          <a:xfrm>
            <a:off x="642938" y="214313"/>
            <a:ext cx="8001000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baseline="-25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(полностью известный сигнал)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5364" name="Рисунок 20" descr="Характеристики обнаружения известного сигнала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2349500"/>
            <a:ext cx="5078412" cy="3937000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15365" name="Прямоугольник 24"/>
          <p:cNvSpPr>
            <a:spLocks noChangeArrowheads="1"/>
          </p:cNvSpPr>
          <p:nvPr/>
        </p:nvSpPr>
        <p:spPr bwMode="auto">
          <a:xfrm>
            <a:off x="2341563" y="1214438"/>
            <a:ext cx="4802187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Характеристики (кривые) обнаружения</a:t>
            </a:r>
          </a:p>
          <a:p>
            <a:pPr algn="ctr"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по критерию Неймана-Пирсона</a:t>
            </a:r>
          </a:p>
        </p:txBody>
      </p:sp>
    </p:spTree>
    <p:extLst>
      <p:ext uri="{BB962C8B-B14F-4D97-AF65-F5344CB8AC3E}">
        <p14:creationId xmlns:p14="http://schemas.microsoft.com/office/powerpoint/2010/main" val="315932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7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8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9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0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1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2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0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6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7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7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71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7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(сигнал с неизвестной начальной фазой)</a:t>
            </a:r>
          </a:p>
        </p:txBody>
      </p:sp>
      <p:sp>
        <p:nvSpPr>
          <p:cNvPr id="1074" name="Прямоугольник 45"/>
          <p:cNvSpPr>
            <a:spLocks noChangeArrowheads="1"/>
          </p:cNvSpPr>
          <p:nvPr/>
        </p:nvSpPr>
        <p:spPr bwMode="auto">
          <a:xfrm>
            <a:off x="323528" y="1268760"/>
            <a:ext cx="966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 dirty="0">
                <a:latin typeface="Calibri" pitchFamily="34" charset="0"/>
                <a:sym typeface="Symbol" pitchFamily="18" charset="2"/>
              </a:rPr>
              <a:t>Сигнал</a:t>
            </a:r>
          </a:p>
        </p:txBody>
      </p:sp>
      <p:grpSp>
        <p:nvGrpSpPr>
          <p:cNvPr id="2" name="Группа 51"/>
          <p:cNvGrpSpPr>
            <a:grpSpLocks/>
          </p:cNvGrpSpPr>
          <p:nvPr/>
        </p:nvGrpSpPr>
        <p:grpSpPr bwMode="auto">
          <a:xfrm>
            <a:off x="395536" y="2060848"/>
            <a:ext cx="5259387" cy="428625"/>
            <a:chOff x="357158" y="2971112"/>
            <a:chExt cx="5258935" cy="429370"/>
          </a:xfrm>
        </p:grpSpPr>
        <p:sp>
          <p:nvSpPr>
            <p:cNvPr id="1077" name="Прямоугольник 49"/>
            <p:cNvSpPr>
              <a:spLocks noChangeArrowheads="1"/>
            </p:cNvSpPr>
            <p:nvPr/>
          </p:nvSpPr>
          <p:spPr bwMode="auto">
            <a:xfrm>
              <a:off x="357158" y="3000372"/>
              <a:ext cx="50000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ru-RU" sz="2000" i="1" dirty="0">
                  <a:latin typeface="Calibri" pitchFamily="34" charset="0"/>
                  <a:sym typeface="Symbol" pitchFamily="18" charset="2"/>
                </a:rPr>
                <a:t>Апостериорная вероятность параметра</a:t>
              </a:r>
            </a:p>
          </p:txBody>
        </p:sp>
        <p:graphicFrame>
          <p:nvGraphicFramePr>
            <p:cNvPr id="1026" name="Object 7"/>
            <p:cNvGraphicFramePr>
              <a:graphicFrameLocks noChangeAspect="1"/>
            </p:cNvGraphicFramePr>
            <p:nvPr/>
          </p:nvGraphicFramePr>
          <p:xfrm>
            <a:off x="5286380" y="2971112"/>
            <a:ext cx="329713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94" name="Equation" r:id="rId3" imgW="126720" imgH="164880" progId="Equation.DSMT4">
                    <p:embed/>
                  </p:oleObj>
                </mc:Choice>
                <mc:Fallback>
                  <p:oleObj name="Equation" r:id="rId3" imgW="126720" imgH="164880" progId="Equation.DSMT4">
                    <p:embed/>
                    <p:pic>
                      <p:nvPicPr>
                        <p:cNvPr id="1026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80" y="2971112"/>
                          <a:ext cx="329713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1537966" y="983010"/>
          <a:ext cx="44275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5" name="Equation" r:id="rId5" imgW="2844720" imgH="596880" progId="Equation.DSMT4">
                  <p:embed/>
                </p:oleObj>
              </mc:Choice>
              <mc:Fallback>
                <p:oleObj name="Equation" r:id="rId5" imgW="2844720" imgH="596880" progId="Equation.DSMT4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7966" y="983010"/>
                        <a:ext cx="4427537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474663" y="2643188"/>
          <a:ext cx="82137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5981400" imgH="583920" progId="Equation.DSMT4">
                  <p:embed/>
                </p:oleObj>
              </mc:Choice>
              <mc:Fallback>
                <p:oleObj name="Equation" r:id="rId7" imgW="5981400" imgH="583920" progId="Equation.DSMT4">
                  <p:embed/>
                  <p:pic>
                    <p:nvPicPr>
                      <p:cNvPr id="10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3" y="2643188"/>
                        <a:ext cx="82137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1143000" y="3857625"/>
          <a:ext cx="66516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4622760" imgH="545760" progId="Equation.DSMT4">
                  <p:embed/>
                </p:oleObj>
              </mc:Choice>
              <mc:Fallback>
                <p:oleObj name="Equation" r:id="rId9" imgW="4622760" imgH="545760" progId="Equation.DSMT4">
                  <p:embed/>
                  <p:pic>
                    <p:nvPicPr>
                      <p:cNvPr id="10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57625"/>
                        <a:ext cx="6651625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6"/>
          <p:cNvGraphicFramePr>
            <a:graphicFrameLocks noChangeAspect="1"/>
          </p:cNvGraphicFramePr>
          <p:nvPr/>
        </p:nvGraphicFramePr>
        <p:xfrm>
          <a:off x="1071563" y="4786313"/>
          <a:ext cx="28559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2184120" imgH="545760" progId="Equation.DSMT4">
                  <p:embed/>
                </p:oleObj>
              </mc:Choice>
              <mc:Fallback>
                <p:oleObj name="Equation" r:id="rId11" imgW="2184120" imgH="545760" progId="Equation.DSMT4">
                  <p:embed/>
                  <p:pic>
                    <p:nvPicPr>
                      <p:cNvPr id="10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4786313"/>
                        <a:ext cx="28559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1" name="Object 6"/>
          <p:cNvGraphicFramePr>
            <a:graphicFrameLocks noChangeAspect="1"/>
          </p:cNvGraphicFramePr>
          <p:nvPr/>
        </p:nvGraphicFramePr>
        <p:xfrm>
          <a:off x="5214938" y="4857750"/>
          <a:ext cx="26558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1828800" imgH="317160" progId="Equation.DSMT4">
                  <p:embed/>
                </p:oleObj>
              </mc:Choice>
              <mc:Fallback>
                <p:oleObj name="Equation" r:id="rId13" imgW="1828800" imgH="317160" progId="Equation.DSMT4">
                  <p:embed/>
                  <p:pic>
                    <p:nvPicPr>
                      <p:cNvPr id="103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4857750"/>
                        <a:ext cx="26558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561975" y="5572125"/>
          <a:ext cx="385445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2768400" imgH="545760" progId="Equation.DSMT4">
                  <p:embed/>
                </p:oleObj>
              </mc:Choice>
              <mc:Fallback>
                <p:oleObj name="Equation" r:id="rId15" imgW="2768400" imgH="545760" progId="Equation.DSMT4">
                  <p:embed/>
                  <p:pic>
                    <p:nvPicPr>
                      <p:cNvPr id="10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5572125"/>
                        <a:ext cx="385445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/>
        </p:nvGraphicFramePr>
        <p:xfrm>
          <a:off x="4714875" y="5559425"/>
          <a:ext cx="404812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17" imgW="2743200" imgH="545760" progId="Equation.DSMT4">
                  <p:embed/>
                </p:oleObj>
              </mc:Choice>
              <mc:Fallback>
                <p:oleObj name="Equation" r:id="rId17" imgW="2743200" imgH="545760" progId="Equation.DSMT4">
                  <p:embed/>
                  <p:pic>
                    <p:nvPicPr>
                      <p:cNvPr id="10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559425"/>
                        <a:ext cx="404812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6" name="Прямоугольник 52"/>
          <p:cNvSpPr>
            <a:spLocks noChangeArrowheads="1"/>
          </p:cNvSpPr>
          <p:nvPr/>
        </p:nvSpPr>
        <p:spPr bwMode="auto">
          <a:xfrm>
            <a:off x="2928938" y="3386138"/>
            <a:ext cx="3276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Корреляционный интеграл:</a:t>
            </a:r>
          </a:p>
        </p:txBody>
      </p:sp>
      <p:pic>
        <p:nvPicPr>
          <p:cNvPr id="54" name="Рисунок 53" descr="pic10_1.jp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228184" y="980728"/>
            <a:ext cx="2050290" cy="1368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729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1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2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3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6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7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5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1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2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6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(сигнал с неизвестной начальной фазой)</a:t>
            </a:r>
          </a:p>
        </p:txBody>
      </p:sp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1882775" y="2428875"/>
          <a:ext cx="68897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380880" imgH="190440" progId="Equation.DSMT4">
                  <p:embed/>
                </p:oleObj>
              </mc:Choice>
              <mc:Fallback>
                <p:oleObj name="Equation" r:id="rId3" imgW="380880" imgH="190440" progId="Equation.DSMT4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2428875"/>
                        <a:ext cx="688975" cy="3444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6143625" y="2441575"/>
          <a:ext cx="709613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9" name="Equation" r:id="rId5" imgW="393480" imgH="190440" progId="Equation.DSMT4">
                  <p:embed/>
                </p:oleObj>
              </mc:Choice>
              <mc:Fallback>
                <p:oleObj name="Equation" r:id="rId5" imgW="393480" imgH="190440" progId="Equation.DSMT4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2441575"/>
                        <a:ext cx="709613" cy="3444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5000625" y="3590925"/>
          <a:ext cx="30988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0" name="Equation" r:id="rId7" imgW="1638000" imgH="253800" progId="Equation.DSMT4">
                  <p:embed/>
                </p:oleObj>
              </mc:Choice>
              <mc:Fallback>
                <p:oleObj name="Equation" r:id="rId7" imgW="1638000" imgH="253800" progId="Equation.DSMT4">
                  <p:embed/>
                  <p:pic>
                    <p:nvPicPr>
                      <p:cNvPr id="2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3590925"/>
                        <a:ext cx="30988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Прямая соединительная линия 64"/>
          <p:cNvCxnSpPr/>
          <p:nvPr/>
        </p:nvCxnSpPr>
        <p:spPr>
          <a:xfrm rot="5400000">
            <a:off x="3607594" y="3321844"/>
            <a:ext cx="192881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2613025" y="1500188"/>
          <a:ext cx="39592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1" name="Equation" r:id="rId9" imgW="2616120" imgH="571320" progId="Equation.DSMT4">
                  <p:embed/>
                </p:oleObj>
              </mc:Choice>
              <mc:Fallback>
                <p:oleObj name="Equation" r:id="rId9" imgW="2616120" imgH="571320" progId="Equation.DSMT4">
                  <p:embed/>
                  <p:pic>
                    <p:nvPicPr>
                      <p:cNvPr id="20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1500188"/>
                        <a:ext cx="395922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500063" y="3143250"/>
          <a:ext cx="3354387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2" name="Equation" r:id="rId11" imgW="2133360" imgH="571320" progId="Equation.DSMT4">
                  <p:embed/>
                </p:oleObj>
              </mc:Choice>
              <mc:Fallback>
                <p:oleObj name="Equation" r:id="rId11" imgW="2133360" imgH="571320" progId="Equation.DSMT4">
                  <p:embed/>
                  <p:pic>
                    <p:nvPicPr>
                      <p:cNvPr id="20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3143250"/>
                        <a:ext cx="3354387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5389563" y="3071813"/>
          <a:ext cx="23590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Equation" r:id="rId13" imgW="1765080" imgH="266400" progId="Equation.DSMT4">
                  <p:embed/>
                </p:oleObj>
              </mc:Choice>
              <mc:Fallback>
                <p:oleObj name="Equation" r:id="rId13" imgW="1765080" imgH="266400" progId="Equation.DSMT4">
                  <p:embed/>
                  <p:pic>
                    <p:nvPicPr>
                      <p:cNvPr id="20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9563" y="3071813"/>
                        <a:ext cx="23590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2928938" y="4508500"/>
          <a:ext cx="35210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15" imgW="1803240" imgH="215640" progId="Equation.DSMT4">
                  <p:embed/>
                </p:oleObj>
              </mc:Choice>
              <mc:Fallback>
                <p:oleObj name="Equation" r:id="rId15" imgW="1803240" imgH="215640" progId="Equation.DSMT4">
                  <p:embed/>
                  <p:pic>
                    <p:nvPicPr>
                      <p:cNvPr id="20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4508500"/>
                        <a:ext cx="3521075" cy="420688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23"/>
          <p:cNvGraphicFramePr>
            <a:graphicFrameLocks noChangeAspect="1"/>
          </p:cNvGraphicFramePr>
          <p:nvPr/>
        </p:nvGraphicFramePr>
        <p:xfrm>
          <a:off x="776288" y="5286375"/>
          <a:ext cx="75104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17" imgW="5181480" imgH="787320" progId="Equation.DSMT4">
                  <p:embed/>
                </p:oleObj>
              </mc:Choice>
              <mc:Fallback>
                <p:oleObj name="Equation" r:id="rId17" imgW="5181480" imgH="787320" progId="Equation.DSMT4">
                  <p:embed/>
                  <p:pic>
                    <p:nvPicPr>
                      <p:cNvPr id="205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5286375"/>
                        <a:ext cx="75104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51"/>
          <p:cNvGrpSpPr>
            <a:grpSpLocks/>
          </p:cNvGrpSpPr>
          <p:nvPr/>
        </p:nvGrpSpPr>
        <p:grpSpPr bwMode="auto">
          <a:xfrm>
            <a:off x="1857375" y="1071563"/>
            <a:ext cx="5259388" cy="428625"/>
            <a:chOff x="357158" y="2971112"/>
            <a:chExt cx="5258935" cy="429370"/>
          </a:xfrm>
        </p:grpSpPr>
        <p:sp>
          <p:nvSpPr>
            <p:cNvPr id="2101" name="Прямоугольник 51"/>
            <p:cNvSpPr>
              <a:spLocks noChangeArrowheads="1"/>
            </p:cNvSpPr>
            <p:nvPr/>
          </p:nvSpPr>
          <p:spPr bwMode="auto">
            <a:xfrm>
              <a:off x="357158" y="3000372"/>
              <a:ext cx="50000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ru-RU" sz="2000" i="1">
                  <a:latin typeface="Calibri" pitchFamily="34" charset="0"/>
                  <a:sym typeface="Symbol" pitchFamily="18" charset="2"/>
                </a:rPr>
                <a:t>Апостериорная вероятность параметра</a:t>
              </a:r>
            </a:p>
          </p:txBody>
        </p:sp>
        <p:graphicFrame>
          <p:nvGraphicFramePr>
            <p:cNvPr id="2058" name="Object 7"/>
            <p:cNvGraphicFramePr>
              <a:graphicFrameLocks noChangeAspect="1"/>
            </p:cNvGraphicFramePr>
            <p:nvPr/>
          </p:nvGraphicFramePr>
          <p:xfrm>
            <a:off x="5286380" y="2971112"/>
            <a:ext cx="329713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6" name="Equation" r:id="rId19" imgW="126720" imgH="164880" progId="Equation.DSMT4">
                    <p:embed/>
                  </p:oleObj>
                </mc:Choice>
                <mc:Fallback>
                  <p:oleObj name="Equation" r:id="rId19" imgW="126720" imgH="164880" progId="Equation.DSMT4">
                    <p:embed/>
                    <p:pic>
                      <p:nvPicPr>
                        <p:cNvPr id="205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80" y="2971112"/>
                          <a:ext cx="329713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8695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1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2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3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4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5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6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7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8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5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09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0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1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2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6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311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обнаружение сигнала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(сигнал с неизвестной начальной фазой)</a:t>
            </a:r>
          </a:p>
        </p:txBody>
      </p:sp>
      <p:sp>
        <p:nvSpPr>
          <p:cNvPr id="3119" name="Прямоугольник 51"/>
          <p:cNvSpPr>
            <a:spLocks noChangeArrowheads="1"/>
          </p:cNvSpPr>
          <p:nvPr/>
        </p:nvSpPr>
        <p:spPr bwMode="auto">
          <a:xfrm>
            <a:off x="2143125" y="1385888"/>
            <a:ext cx="47291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Алгоритм оптимального обнаружения</a:t>
            </a:r>
          </a:p>
        </p:txBody>
      </p:sp>
      <p:graphicFrame>
        <p:nvGraphicFramePr>
          <p:cNvPr id="3074" name="Object 10"/>
          <p:cNvGraphicFramePr>
            <a:graphicFrameLocks noChangeAspect="1"/>
          </p:cNvGraphicFramePr>
          <p:nvPr/>
        </p:nvGraphicFramePr>
        <p:xfrm>
          <a:off x="1857375" y="2357438"/>
          <a:ext cx="198596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3" imgW="1257120" imgH="545760" progId="Equation.DSMT4">
                  <p:embed/>
                </p:oleObj>
              </mc:Choice>
              <mc:Fallback>
                <p:oleObj name="Equation" r:id="rId3" imgW="1257120" imgH="545760" progId="Equation.DSMT4">
                  <p:embed/>
                  <p:pic>
                    <p:nvPicPr>
                      <p:cNvPr id="30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2357438"/>
                        <a:ext cx="1985963" cy="858837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4443413" y="2357438"/>
          <a:ext cx="28717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1815840" imgH="533160" progId="Equation.DSMT4">
                  <p:embed/>
                </p:oleObj>
              </mc:Choice>
              <mc:Fallback>
                <p:oleObj name="Equation" r:id="rId5" imgW="1815840" imgH="533160" progId="Equation.DSMT4">
                  <p:embed/>
                  <p:pic>
                    <p:nvPicPr>
                      <p:cNvPr id="3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2357438"/>
                        <a:ext cx="287178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3979863" y="3509963"/>
          <a:ext cx="17827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1130040" imgH="304560" progId="Equation.DSMT4">
                  <p:embed/>
                </p:oleObj>
              </mc:Choice>
              <mc:Fallback>
                <p:oleObj name="Equation" r:id="rId7" imgW="1130040" imgH="304560" progId="Equation.DSMT4">
                  <p:embed/>
                  <p:pic>
                    <p:nvPicPr>
                      <p:cNvPr id="307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63" y="3509963"/>
                        <a:ext cx="17827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500063" y="4643438"/>
          <a:ext cx="38242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9" imgW="2438280" imgH="545760" progId="Equation.DSMT4">
                  <p:embed/>
                </p:oleObj>
              </mc:Choice>
              <mc:Fallback>
                <p:oleObj name="Equation" r:id="rId9" imgW="2438280" imgH="545760" progId="Equation.DSMT4">
                  <p:embed/>
                  <p:pic>
                    <p:nvPicPr>
                      <p:cNvPr id="3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4643438"/>
                        <a:ext cx="38242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4984750" y="4572000"/>
          <a:ext cx="383063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11" imgW="2400120" imgH="545760" progId="Equation.DSMT4">
                  <p:embed/>
                </p:oleObj>
              </mc:Choice>
              <mc:Fallback>
                <p:oleObj name="Equation" r:id="rId11" imgW="2400120" imgH="545760" progId="Equation.DSMT4">
                  <p:embed/>
                  <p:pic>
                    <p:nvPicPr>
                      <p:cNvPr id="3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4572000"/>
                        <a:ext cx="383063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918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1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2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3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5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1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2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Оптимальный корреляционный обнаружитель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</a:t>
            </a:r>
            <a:r>
              <a:rPr lang="ru-RU" sz="2750" kern="0" baseline="-25000" dirty="0">
                <a:solidFill>
                  <a:srgbClr val="002060"/>
                </a:solidFill>
                <a:latin typeface="Arial" charset="0"/>
                <a:cs typeface="Arial" charset="0"/>
              </a:rPr>
              <a:t>сигнал с неизвестной начальной фазой</a:t>
            </a: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graphicFrame>
        <p:nvGraphicFramePr>
          <p:cNvPr id="4098" name="Object 7"/>
          <p:cNvGraphicFramePr>
            <a:graphicFrameLocks noChangeAspect="1"/>
          </p:cNvGraphicFramePr>
          <p:nvPr/>
        </p:nvGraphicFramePr>
        <p:xfrm>
          <a:off x="4429125" y="5286375"/>
          <a:ext cx="364331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2971800" imgH="774360" progId="Equation.DSMT4">
                  <p:embed/>
                </p:oleObj>
              </mc:Choice>
              <mc:Fallback>
                <p:oleObj name="Equation" r:id="rId3" imgW="2971800" imgH="774360" progId="Equation.DSMT4">
                  <p:embed/>
                  <p:pic>
                    <p:nvPicPr>
                      <p:cNvPr id="4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5286375"/>
                        <a:ext cx="3643313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39" name="Рисунок 45" descr="Обнаружитель сигнала со случайной фазой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625" y="1214438"/>
            <a:ext cx="8315325" cy="378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40" name="Рисунок 46" descr="ln I0(Z).emf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57313" y="4500563"/>
            <a:ext cx="2071687" cy="1658937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260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9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0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1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2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3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4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5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8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3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9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0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4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</a:t>
            </a:r>
            <a:r>
              <a:rPr lang="ru-RU" sz="2750" kern="0" baseline="-25000" dirty="0">
                <a:solidFill>
                  <a:srgbClr val="002060"/>
                </a:solidFill>
                <a:latin typeface="Arial" charset="0"/>
                <a:cs typeface="Arial" charset="0"/>
              </a:rPr>
              <a:t>сигнал с неизвестной начальной фазой</a:t>
            </a: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5167" name="Прямоугольник 47"/>
          <p:cNvSpPr>
            <a:spLocks noChangeArrowheads="1"/>
          </p:cNvSpPr>
          <p:nvPr/>
        </p:nvSpPr>
        <p:spPr bwMode="auto">
          <a:xfrm>
            <a:off x="373063" y="1243013"/>
            <a:ext cx="3498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Критерий Неймана-Пирсона:</a:t>
            </a:r>
          </a:p>
        </p:txBody>
      </p:sp>
      <p:sp>
        <p:nvSpPr>
          <p:cNvPr id="5168" name="Прямоугольник 48"/>
          <p:cNvSpPr>
            <a:spLocks noChangeArrowheads="1"/>
          </p:cNvSpPr>
          <p:nvPr/>
        </p:nvSpPr>
        <p:spPr bwMode="auto">
          <a:xfrm>
            <a:off x="428625" y="2130425"/>
            <a:ext cx="33988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i="1">
                <a:latin typeface="Calibri" pitchFamily="34" charset="0"/>
                <a:sym typeface="Symbol" pitchFamily="18" charset="2"/>
              </a:rPr>
              <a:t>Вероятность ложной тревоги</a:t>
            </a: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3970338" y="1920875"/>
          <a:ext cx="44751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3530520" imgH="622080" progId="Equation.DSMT4">
                  <p:embed/>
                </p:oleObj>
              </mc:Choice>
              <mc:Fallback>
                <p:oleObj name="Equation" r:id="rId3" imgW="3530520" imgH="622080" progId="Equation.DSMT4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0338" y="1920875"/>
                        <a:ext cx="44751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85750" y="2714625"/>
          <a:ext cx="860901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7657920" imgH="1015920" progId="Equation.DSMT4">
                  <p:embed/>
                </p:oleObj>
              </mc:Choice>
              <mc:Fallback>
                <p:oleObj name="Equation" r:id="rId5" imgW="7657920" imgH="1015920" progId="Equation.DSMT4">
                  <p:embed/>
                  <p:pic>
                    <p:nvPicPr>
                      <p:cNvPr id="51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714625"/>
                        <a:ext cx="860901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857250" y="4857750"/>
          <a:ext cx="7605713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name="Equation" r:id="rId7" imgW="5613120" imgH="1054080" progId="Equation.DSMT4">
                  <p:embed/>
                </p:oleObj>
              </mc:Choice>
              <mc:Fallback>
                <p:oleObj name="Equation" r:id="rId7" imgW="5613120" imgH="1054080" progId="Equation.DSMT4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857750"/>
                        <a:ext cx="7605713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857500" y="4000500"/>
          <a:ext cx="3643313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3" name="Equation" r:id="rId9" imgW="2806560" imgH="545760" progId="Equation.DSMT4">
                  <p:embed/>
                </p:oleObj>
              </mc:Choice>
              <mc:Fallback>
                <p:oleObj name="Equation" r:id="rId9" imgW="2806560" imgH="545760" progId="Equation.DSMT4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000500"/>
                        <a:ext cx="3643313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3990975" y="1250950"/>
          <a:ext cx="47244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4" name="Equation" r:id="rId11" imgW="3695400" imgH="279360" progId="Equation.DSMT4">
                  <p:embed/>
                </p:oleObj>
              </mc:Choice>
              <mc:Fallback>
                <p:oleObj name="Equation" r:id="rId11" imgW="3695400" imgH="279360" progId="Equation.DSMT4">
                  <p:embed/>
                  <p:pic>
                    <p:nvPicPr>
                      <p:cNvPr id="51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1250950"/>
                        <a:ext cx="472440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1151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0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1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6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4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0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1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5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</a:t>
            </a:r>
            <a:r>
              <a:rPr lang="ru-RU" sz="2750" kern="0" baseline="-25000" dirty="0">
                <a:solidFill>
                  <a:srgbClr val="002060"/>
                </a:solidFill>
                <a:latin typeface="Arial" charset="0"/>
                <a:cs typeface="Arial" charset="0"/>
              </a:rPr>
              <a:t>сигнал с неизвестной начальной фазой</a:t>
            </a: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6188" name="Прямоугольник 48"/>
          <p:cNvSpPr>
            <a:spLocks noChangeArrowheads="1"/>
          </p:cNvSpPr>
          <p:nvPr/>
        </p:nvSpPr>
        <p:spPr bwMode="auto">
          <a:xfrm>
            <a:off x="928688" y="4429125"/>
            <a:ext cx="3398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i="1">
                <a:latin typeface="Calibri" pitchFamily="34" charset="0"/>
                <a:sym typeface="Symbol" pitchFamily="18" charset="2"/>
              </a:rPr>
              <a:t>Вероятность ложной тревоги</a:t>
            </a: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4541838" y="4143375"/>
          <a:ext cx="31019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Equation" r:id="rId3" imgW="2387520" imgH="660240" progId="Equation.DSMT4">
                  <p:embed/>
                </p:oleObj>
              </mc:Choice>
              <mc:Fallback>
                <p:oleObj name="Equation" r:id="rId3" imgW="2387520" imgH="660240" progId="Equation.DSMT4">
                  <p:embed/>
                  <p:pic>
                    <p:nvPicPr>
                      <p:cNvPr id="61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4143375"/>
                        <a:ext cx="31019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89" name="Рисунок 50" descr="Распределение Релея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" y="1214438"/>
            <a:ext cx="3286125" cy="2843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90" name="Рисунок 51" descr="Вероятность ЛТ.emf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43500" y="1071563"/>
            <a:ext cx="3357563" cy="287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2500313" y="5313363"/>
          <a:ext cx="373380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7" imgW="3035160" imgH="558720" progId="Equation.DSMT4">
                  <p:embed/>
                </p:oleObj>
              </mc:Choice>
              <mc:Fallback>
                <p:oleObj name="Equation" r:id="rId7" imgW="3035160" imgH="558720" progId="Equation.DSMT4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3" y="5313363"/>
                        <a:ext cx="373380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91" name="Прямоугольник 46"/>
          <p:cNvSpPr>
            <a:spLocks noChangeArrowheads="1"/>
          </p:cNvSpPr>
          <p:nvPr/>
        </p:nvSpPr>
        <p:spPr bwMode="auto">
          <a:xfrm>
            <a:off x="1143000" y="5500688"/>
            <a:ext cx="7794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i="1">
                <a:latin typeface="Calibri" pitchFamily="34" charset="0"/>
                <a:sym typeface="Symbol" pitchFamily="18" charset="2"/>
              </a:rPr>
              <a:t>Порог</a:t>
            </a:r>
          </a:p>
        </p:txBody>
      </p:sp>
    </p:spTree>
    <p:extLst>
      <p:ext uri="{BB962C8B-B14F-4D97-AF65-F5344CB8AC3E}">
        <p14:creationId xmlns:p14="http://schemas.microsoft.com/office/powerpoint/2010/main" val="188044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7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8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3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8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19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7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8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0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2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721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</a:t>
            </a:r>
            <a:r>
              <a:rPr lang="ru-RU" sz="2750" kern="0" baseline="-25000" dirty="0">
                <a:solidFill>
                  <a:srgbClr val="002060"/>
                </a:solidFill>
                <a:latin typeface="Arial" charset="0"/>
                <a:cs typeface="Arial" charset="0"/>
              </a:rPr>
              <a:t>сигнал с неизвестной начальной фазой</a:t>
            </a: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7215" name="Прямоугольник 48"/>
          <p:cNvSpPr>
            <a:spLocks noChangeArrowheads="1"/>
          </p:cNvSpPr>
          <p:nvPr/>
        </p:nvSpPr>
        <p:spPr bwMode="auto">
          <a:xfrm>
            <a:off x="428625" y="1357313"/>
            <a:ext cx="30527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i="1">
                <a:latin typeface="Calibri" pitchFamily="34" charset="0"/>
                <a:sym typeface="Symbol" pitchFamily="18" charset="2"/>
              </a:rPr>
              <a:t>Вероятность обнаружения</a:t>
            </a:r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571875" y="1143000"/>
          <a:ext cx="23574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Equation" r:id="rId3" imgW="1917360" imgH="622080" progId="Equation.DSMT4">
                  <p:embed/>
                </p:oleObj>
              </mc:Choice>
              <mc:Fallback>
                <p:oleObj name="Equation" r:id="rId3" imgW="1917360" imgH="622080" progId="Equation.DSMT4">
                  <p:embed/>
                  <p:pic>
                    <p:nvPicPr>
                      <p:cNvPr id="71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1143000"/>
                        <a:ext cx="2357438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428625" y="2027238"/>
          <a:ext cx="8326438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Equation" r:id="rId5" imgW="8546760" imgH="1511280" progId="Equation.DSMT4">
                  <p:embed/>
                </p:oleObj>
              </mc:Choice>
              <mc:Fallback>
                <p:oleObj name="Equation" r:id="rId5" imgW="8546760" imgH="1511280" progId="Equation.DSMT4">
                  <p:embed/>
                  <p:pic>
                    <p:nvPicPr>
                      <p:cNvPr id="71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2027238"/>
                        <a:ext cx="8326438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357188" y="3857625"/>
          <a:ext cx="5516562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Equation" r:id="rId7" imgW="5473440" imgH="1701720" progId="Equation.DSMT4">
                  <p:embed/>
                </p:oleObj>
              </mc:Choice>
              <mc:Fallback>
                <p:oleObj name="Equation" r:id="rId7" imgW="5473440" imgH="1701720" progId="Equation.DSMT4">
                  <p:embed/>
                  <p:pic>
                    <p:nvPicPr>
                      <p:cNvPr id="71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857625"/>
                        <a:ext cx="5516562" cy="171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357188" y="5643563"/>
          <a:ext cx="5499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Equation" r:id="rId9" imgW="5499000" imgH="609480" progId="Equation.DSMT4">
                  <p:embed/>
                </p:oleObj>
              </mc:Choice>
              <mc:Fallback>
                <p:oleObj name="Equation" r:id="rId9" imgW="5499000" imgH="609480" progId="Equation.DSMT4">
                  <p:embed/>
                  <p:pic>
                    <p:nvPicPr>
                      <p:cNvPr id="71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643563"/>
                        <a:ext cx="5499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Прямая соединительная линия 52"/>
          <p:cNvCxnSpPr/>
          <p:nvPr/>
        </p:nvCxnSpPr>
        <p:spPr>
          <a:xfrm rot="5400000">
            <a:off x="5180012" y="5322888"/>
            <a:ext cx="1643063" cy="1588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6143625" y="4714875"/>
          <a:ext cx="2786063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2" name="Equation" r:id="rId11" imgW="2425680" imgH="1130040" progId="Equation.DSMT4">
                  <p:embed/>
                </p:oleObj>
              </mc:Choice>
              <mc:Fallback>
                <p:oleObj name="Equation" r:id="rId11" imgW="2425680" imgH="1130040" progId="Equation.DSMT4">
                  <p:embed/>
                  <p:pic>
                    <p:nvPicPr>
                      <p:cNvPr id="71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4714875"/>
                        <a:ext cx="2786063" cy="1296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419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0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1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2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3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4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5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6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4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0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1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5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Характеристики оптимального обнаружителя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(</a:t>
            </a:r>
            <a:r>
              <a:rPr lang="ru-RU" sz="2750" kern="0" baseline="-25000" dirty="0">
                <a:solidFill>
                  <a:srgbClr val="002060"/>
                </a:solidFill>
                <a:latin typeface="Arial" charset="0"/>
                <a:cs typeface="Arial" charset="0"/>
              </a:rPr>
              <a:t>сигнал с неизвестной начальной фазой</a:t>
            </a:r>
            <a:r>
              <a:rPr lang="ru-RU" sz="2750" kern="0" baseline="-250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8238" name="Прямоугольник 48"/>
          <p:cNvSpPr>
            <a:spLocks noChangeArrowheads="1"/>
          </p:cNvSpPr>
          <p:nvPr/>
        </p:nvSpPr>
        <p:spPr bwMode="auto">
          <a:xfrm>
            <a:off x="642938" y="1230313"/>
            <a:ext cx="30527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i="1">
                <a:latin typeface="Calibri" pitchFamily="34" charset="0"/>
                <a:sym typeface="Symbol" pitchFamily="18" charset="2"/>
              </a:rPr>
              <a:t>Вероятность обнаружения</a:t>
            </a:r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904875" y="1214438"/>
          <a:ext cx="6524625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5219640" imgH="2412720" progId="Equation.DSMT4">
                  <p:embed/>
                </p:oleObj>
              </mc:Choice>
              <mc:Fallback>
                <p:oleObj name="Equation" r:id="rId3" imgW="5219640" imgH="2412720" progId="Equation.DSMT4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214438"/>
                        <a:ext cx="6524625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50838" y="4429125"/>
          <a:ext cx="572135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3" name="Equation" r:id="rId5" imgW="4698720" imgH="660240" progId="Equation.DSMT4">
                  <p:embed/>
                </p:oleObj>
              </mc:Choice>
              <mc:Fallback>
                <p:oleObj name="Equation" r:id="rId5" imgW="4698720" imgH="660240" progId="Equation.DSMT4">
                  <p:embed/>
                  <p:pic>
                    <p:nvPicPr>
                      <p:cNvPr id="819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38" y="4429125"/>
                        <a:ext cx="572135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6500813" y="4127500"/>
          <a:ext cx="233997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4" name="Equation" r:id="rId7" imgW="1841400" imgH="1447560" progId="Equation.DSMT4">
                  <p:embed/>
                </p:oleObj>
              </mc:Choice>
              <mc:Fallback>
                <p:oleObj name="Equation" r:id="rId7" imgW="1841400" imgH="1447560" progId="Equation.DSMT4">
                  <p:embed/>
                  <p:pic>
                    <p:nvPicPr>
                      <p:cNvPr id="8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4127500"/>
                        <a:ext cx="2339975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Прямая соединительная линия 50"/>
          <p:cNvCxnSpPr/>
          <p:nvPr/>
        </p:nvCxnSpPr>
        <p:spPr>
          <a:xfrm rot="5400000">
            <a:off x="5133181" y="5072857"/>
            <a:ext cx="2428875" cy="1588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97" name="Object 12"/>
          <p:cNvGraphicFramePr>
            <a:graphicFrameLocks noChangeAspect="1"/>
          </p:cNvGraphicFramePr>
          <p:nvPr/>
        </p:nvGraphicFramePr>
        <p:xfrm>
          <a:off x="1109663" y="5643563"/>
          <a:ext cx="34718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5" name="Equation" r:id="rId9" imgW="2616120" imgH="634680" progId="Equation.DSMT4">
                  <p:embed/>
                </p:oleObj>
              </mc:Choice>
              <mc:Fallback>
                <p:oleObj name="Equation" r:id="rId9" imgW="2616120" imgH="634680" progId="Equation.DSMT4">
                  <p:embed/>
                  <p:pic>
                    <p:nvPicPr>
                      <p:cNvPr id="819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5643563"/>
                        <a:ext cx="34718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68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2"/>
          <p:cNvSpPr>
            <a:spLocks noChangeArrowheads="1"/>
          </p:cNvSpPr>
          <p:nvPr/>
        </p:nvSpPr>
        <p:spPr bwMode="auto">
          <a:xfrm>
            <a:off x="642938" y="428625"/>
            <a:ext cx="8001000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</a:pPr>
            <a:r>
              <a:rPr lang="ru-RU" sz="2800"/>
              <a:t>Характеристики оптимального обнаружителя</a:t>
            </a:r>
          </a:p>
        </p:txBody>
      </p:sp>
      <p:sp>
        <p:nvSpPr>
          <p:cNvPr id="22532" name="Прямоугольник 24"/>
          <p:cNvSpPr>
            <a:spLocks noChangeArrowheads="1"/>
          </p:cNvSpPr>
          <p:nvPr/>
        </p:nvSpPr>
        <p:spPr bwMode="auto">
          <a:xfrm>
            <a:off x="2341563" y="1000125"/>
            <a:ext cx="4802187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Характеристики (кривые) обнаружения</a:t>
            </a:r>
          </a:p>
          <a:p>
            <a:pPr algn="ctr"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по критерию Неймана-Пирсона</a:t>
            </a:r>
          </a:p>
        </p:txBody>
      </p:sp>
      <p:pic>
        <p:nvPicPr>
          <p:cNvPr id="22533" name="Рисунок 6" descr="Характеристики обнаружения известного сигнала и сигнала с неизвестной фазой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25" y="1928813"/>
            <a:ext cx="5711825" cy="4429125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0044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7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8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9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0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1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2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3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4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8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9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3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 smtClean="0">
                <a:solidFill>
                  <a:srgbClr val="002060"/>
                </a:solidFill>
                <a:latin typeface="Arial" charset="0"/>
                <a:cs typeface="Arial" charset="0"/>
              </a:rPr>
              <a:t> </a:t>
            </a: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различение </a:t>
            </a:r>
            <a:b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</a:b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полностью известных сигналов</a:t>
            </a:r>
          </a:p>
        </p:txBody>
      </p:sp>
      <p:sp>
        <p:nvSpPr>
          <p:cNvPr id="9266" name="Прямоугольник 45"/>
          <p:cNvSpPr>
            <a:spLocks noChangeArrowheads="1"/>
          </p:cNvSpPr>
          <p:nvPr/>
        </p:nvSpPr>
        <p:spPr bwMode="auto">
          <a:xfrm>
            <a:off x="500063" y="1214438"/>
            <a:ext cx="3895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Принятая смесь сигнала и шума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372100" y="1143000"/>
          <a:ext cx="23574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977760" imgH="203040" progId="Equation.DSMT4">
                  <p:embed/>
                </p:oleObj>
              </mc:Choice>
              <mc:Fallback>
                <p:oleObj name="Equation" r:id="rId3" imgW="977760" imgH="203040" progId="Equation.DSMT4">
                  <p:embed/>
                  <p:pic>
                    <p:nvPicPr>
                      <p:cNvPr id="92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2100" y="1143000"/>
                        <a:ext cx="2357438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642938" y="1857375"/>
          <a:ext cx="28797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1409400" imgH="419040" progId="Equation.DSMT4">
                  <p:embed/>
                </p:oleObj>
              </mc:Choice>
              <mc:Fallback>
                <p:oleObj name="Equation" r:id="rId5" imgW="1409400" imgH="419040" progId="Equation.DSMT4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857375"/>
                        <a:ext cx="2879725" cy="858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4814888" y="2428875"/>
          <a:ext cx="3543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1892160" imgH="419040" progId="Equation.DSMT4">
                  <p:embed/>
                </p:oleObj>
              </mc:Choice>
              <mc:Fallback>
                <p:oleObj name="Equation" r:id="rId7" imgW="1892160" imgH="419040" progId="Equation.DSMT4">
                  <p:embed/>
                  <p:pic>
                    <p:nvPicPr>
                      <p:cNvPr id="9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888" y="2428875"/>
                        <a:ext cx="3543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"/>
          <p:cNvGraphicFramePr>
            <a:graphicFrameLocks noChangeAspect="1"/>
          </p:cNvGraphicFramePr>
          <p:nvPr/>
        </p:nvGraphicFramePr>
        <p:xfrm>
          <a:off x="2957513" y="3941763"/>
          <a:ext cx="3386137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1562040" imgH="330120" progId="Equation.DSMT4">
                  <p:embed/>
                </p:oleObj>
              </mc:Choice>
              <mc:Fallback>
                <p:oleObj name="Equation" r:id="rId9" imgW="1562040" imgH="330120" progId="Equation.DSMT4">
                  <p:embed/>
                  <p:pic>
                    <p:nvPicPr>
                      <p:cNvPr id="922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3941763"/>
                        <a:ext cx="3386137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Группа 51"/>
          <p:cNvGrpSpPr>
            <a:grpSpLocks/>
          </p:cNvGrpSpPr>
          <p:nvPr/>
        </p:nvGrpSpPr>
        <p:grpSpPr bwMode="auto">
          <a:xfrm>
            <a:off x="2071688" y="3429000"/>
            <a:ext cx="5259387" cy="428625"/>
            <a:chOff x="357158" y="3185426"/>
            <a:chExt cx="5258935" cy="429370"/>
          </a:xfrm>
        </p:grpSpPr>
        <p:sp>
          <p:nvSpPr>
            <p:cNvPr id="9268" name="Прямоугольник 49"/>
            <p:cNvSpPr>
              <a:spLocks noChangeArrowheads="1"/>
            </p:cNvSpPr>
            <p:nvPr/>
          </p:nvSpPr>
          <p:spPr bwMode="auto">
            <a:xfrm>
              <a:off x="357158" y="3214686"/>
              <a:ext cx="500008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ru-RU" sz="2000" i="1">
                  <a:latin typeface="Calibri" pitchFamily="34" charset="0"/>
                  <a:sym typeface="Symbol" pitchFamily="18" charset="2"/>
                </a:rPr>
                <a:t>Апостериорная вероятность параметра</a:t>
              </a:r>
            </a:p>
          </p:txBody>
        </p:sp>
        <p:graphicFrame>
          <p:nvGraphicFramePr>
            <p:cNvPr id="9222" name="Object 6"/>
            <p:cNvGraphicFramePr>
              <a:graphicFrameLocks noChangeAspect="1"/>
            </p:cNvGraphicFramePr>
            <p:nvPr/>
          </p:nvGraphicFramePr>
          <p:xfrm>
            <a:off x="5286380" y="3185426"/>
            <a:ext cx="329713" cy="428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0" name="Equation" r:id="rId11" imgW="126720" imgH="164880" progId="Equation.DSMT4">
                    <p:embed/>
                  </p:oleObj>
                </mc:Choice>
                <mc:Fallback>
                  <p:oleObj name="Equation" r:id="rId11" imgW="126720" imgH="164880" progId="Equation.DSMT4">
                    <p:embed/>
                    <p:pic>
                      <p:nvPicPr>
                        <p:cNvPr id="9222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6380" y="3185426"/>
                          <a:ext cx="329713" cy="428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223" name="Object 10"/>
          <p:cNvGraphicFramePr>
            <a:graphicFrameLocks noChangeAspect="1"/>
          </p:cNvGraphicFramePr>
          <p:nvPr/>
        </p:nvGraphicFramePr>
        <p:xfrm>
          <a:off x="1989138" y="4786313"/>
          <a:ext cx="50228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1" name="Equation" r:id="rId13" imgW="3848040" imgH="545760" progId="Equation.DSMT4">
                  <p:embed/>
                </p:oleObj>
              </mc:Choice>
              <mc:Fallback>
                <p:oleObj name="Equation" r:id="rId13" imgW="3848040" imgH="545760" progId="Equation.DSMT4">
                  <p:embed/>
                  <p:pic>
                    <p:nvPicPr>
                      <p:cNvPr id="922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4786313"/>
                        <a:ext cx="5022850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11"/>
          <p:cNvGraphicFramePr>
            <a:graphicFrameLocks noChangeAspect="1"/>
          </p:cNvGraphicFramePr>
          <p:nvPr/>
        </p:nvGraphicFramePr>
        <p:xfrm>
          <a:off x="2071688" y="5500688"/>
          <a:ext cx="3643312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2" name="Equation" r:id="rId15" imgW="2641320" imgH="545760" progId="Equation.DSMT4">
                  <p:embed/>
                </p:oleObj>
              </mc:Choice>
              <mc:Fallback>
                <p:oleObj name="Equation" r:id="rId15" imgW="2641320" imgH="545760" progId="Equation.DSMT4">
                  <p:embed/>
                  <p:pic>
                    <p:nvPicPr>
                      <p:cNvPr id="922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5500688"/>
                        <a:ext cx="3643312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5010150" y="1714500"/>
          <a:ext cx="31337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93" name="Equation" r:id="rId17" imgW="1460160" imgH="228600" progId="Equation.DSMT4">
                  <p:embed/>
                </p:oleObj>
              </mc:Choice>
              <mc:Fallback>
                <p:oleObj name="Equation" r:id="rId17" imgW="1460160" imgH="228600" progId="Equation.DSMT4">
                  <p:embed/>
                  <p:pic>
                    <p:nvPicPr>
                      <p:cNvPr id="92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1714500"/>
                        <a:ext cx="31337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081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3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4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5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6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7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8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9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0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4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5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9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9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различение двух </a:t>
            </a:r>
            <a:b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</a:b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полностью известных сигналов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1428750" y="2206625"/>
          <a:ext cx="157162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1024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2206625"/>
                        <a:ext cx="1571625" cy="484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1714500" y="1571625"/>
          <a:ext cx="85566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380880" imgH="190440" progId="Equation.DSMT4">
                  <p:embed/>
                </p:oleObj>
              </mc:Choice>
              <mc:Fallback>
                <p:oleObj name="Equation" r:id="rId5" imgW="380880" imgH="190440" progId="Equation.DSMT4">
                  <p:embed/>
                  <p:pic>
                    <p:nvPicPr>
                      <p:cNvPr id="102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1571625"/>
                        <a:ext cx="855663" cy="4286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6"/>
          <p:cNvGraphicFramePr>
            <a:graphicFrameLocks noChangeAspect="1"/>
          </p:cNvGraphicFramePr>
          <p:nvPr/>
        </p:nvGraphicFramePr>
        <p:xfrm>
          <a:off x="741363" y="5013325"/>
          <a:ext cx="2830512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1320480" imgH="507960" progId="Equation.DSMT4">
                  <p:embed/>
                </p:oleObj>
              </mc:Choice>
              <mc:Fallback>
                <p:oleObj name="Equation" r:id="rId7" imgW="1320480" imgH="507960" progId="Equation.DSMT4">
                  <p:embed/>
                  <p:pic>
                    <p:nvPicPr>
                      <p:cNvPr id="1024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5013325"/>
                        <a:ext cx="2830512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0"/>
          <p:cNvGraphicFramePr>
            <a:graphicFrameLocks noChangeAspect="1"/>
          </p:cNvGraphicFramePr>
          <p:nvPr/>
        </p:nvGraphicFramePr>
        <p:xfrm>
          <a:off x="644525" y="2928938"/>
          <a:ext cx="29702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1879560" imgH="545760" progId="Equation.DSMT4">
                  <p:embed/>
                </p:oleObj>
              </mc:Choice>
              <mc:Fallback>
                <p:oleObj name="Equation" r:id="rId9" imgW="1879560" imgH="545760" progId="Equation.DSMT4">
                  <p:embed/>
                  <p:pic>
                    <p:nvPicPr>
                      <p:cNvPr id="1024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928938"/>
                        <a:ext cx="297021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1"/>
          <p:cNvGraphicFramePr>
            <a:graphicFrameLocks noChangeAspect="1"/>
          </p:cNvGraphicFramePr>
          <p:nvPr/>
        </p:nvGraphicFramePr>
        <p:xfrm>
          <a:off x="739775" y="3857625"/>
          <a:ext cx="28559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1549080" imgH="545760" progId="Equation.DSMT4">
                  <p:embed/>
                </p:oleObj>
              </mc:Choice>
              <mc:Fallback>
                <p:oleObj name="Equation" r:id="rId11" imgW="1549080" imgH="545760" progId="Equation.DSMT4">
                  <p:embed/>
                  <p:pic>
                    <p:nvPicPr>
                      <p:cNvPr id="1024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857625"/>
                        <a:ext cx="2855913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6143625" y="1571625"/>
          <a:ext cx="8826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393480" imgH="190440" progId="Equation.DSMT4">
                  <p:embed/>
                </p:oleObj>
              </mc:Choice>
              <mc:Fallback>
                <p:oleObj name="Equation" r:id="rId13" imgW="393480" imgH="190440" progId="Equation.DSMT4">
                  <p:embed/>
                  <p:pic>
                    <p:nvPicPr>
                      <p:cNvPr id="102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625" y="1571625"/>
                        <a:ext cx="882650" cy="4286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5937250" y="2192338"/>
          <a:ext cx="14922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6" name="Equation" r:id="rId15" imgW="672840" imgH="203040" progId="Equation.DSMT4">
                  <p:embed/>
                </p:oleObj>
              </mc:Choice>
              <mc:Fallback>
                <p:oleObj name="Equation" r:id="rId15" imgW="672840" imgH="203040" progId="Equation.DSMT4">
                  <p:embed/>
                  <p:pic>
                    <p:nvPicPr>
                      <p:cNvPr id="10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2192338"/>
                        <a:ext cx="1492250" cy="450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Прямая соединительная линия 57"/>
          <p:cNvCxnSpPr/>
          <p:nvPr/>
        </p:nvCxnSpPr>
        <p:spPr>
          <a:xfrm rot="5400000">
            <a:off x="2286000" y="3857625"/>
            <a:ext cx="4572000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4949825" y="2928938"/>
          <a:ext cx="30718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7" name="Equation" r:id="rId17" imgW="1942920" imgH="545760" progId="Equation.DSMT4">
                  <p:embed/>
                </p:oleObj>
              </mc:Choice>
              <mc:Fallback>
                <p:oleObj name="Equation" r:id="rId17" imgW="1942920" imgH="545760" progId="Equation.DSMT4">
                  <p:embed/>
                  <p:pic>
                    <p:nvPicPr>
                      <p:cNvPr id="102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5" y="2928938"/>
                        <a:ext cx="307181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4965700" y="3857625"/>
          <a:ext cx="292735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8" name="Equation" r:id="rId19" imgW="1587240" imgH="545760" progId="Equation.DSMT4">
                  <p:embed/>
                </p:oleObj>
              </mc:Choice>
              <mc:Fallback>
                <p:oleObj name="Equation" r:id="rId19" imgW="1587240" imgH="545760" progId="Equation.DSMT4">
                  <p:embed/>
                  <p:pic>
                    <p:nvPicPr>
                      <p:cNvPr id="1025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3857625"/>
                        <a:ext cx="2927350" cy="1000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11"/>
          <p:cNvGraphicFramePr>
            <a:graphicFrameLocks noChangeAspect="1"/>
          </p:cNvGraphicFramePr>
          <p:nvPr/>
        </p:nvGraphicFramePr>
        <p:xfrm>
          <a:off x="5116513" y="5000625"/>
          <a:ext cx="29400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9" name="Equation" r:id="rId21" imgW="1371600" imgH="520560" progId="Equation.DSMT4">
                  <p:embed/>
                </p:oleObj>
              </mc:Choice>
              <mc:Fallback>
                <p:oleObj name="Equation" r:id="rId21" imgW="1371600" imgH="520560" progId="Equation.DSMT4">
                  <p:embed/>
                  <p:pic>
                    <p:nvPicPr>
                      <p:cNvPr id="102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5000625"/>
                        <a:ext cx="2940050" cy="111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807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2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3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4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5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6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7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8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1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6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8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2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3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7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Оптимальное различение двух </a:t>
            </a:r>
            <a:b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</a:b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полностью известных сигналов</a:t>
            </a:r>
            <a:endParaRPr lang="ru-RU" sz="2750" kern="0" baseline="-2500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1266" name="Object 6"/>
          <p:cNvGraphicFramePr>
            <a:graphicFrameLocks noChangeAspect="1"/>
          </p:cNvGraphicFramePr>
          <p:nvPr/>
        </p:nvGraphicFramePr>
        <p:xfrm>
          <a:off x="1643063" y="2714625"/>
          <a:ext cx="6065837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3124080" imgH="1054080" progId="Equation.DSMT4">
                  <p:embed/>
                </p:oleObj>
              </mc:Choice>
              <mc:Fallback>
                <p:oleObj name="Equation" r:id="rId3" imgW="3124080" imgH="1054080" progId="Equation.DSMT4">
                  <p:embed/>
                  <p:pic>
                    <p:nvPicPr>
                      <p:cNvPr id="112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2714625"/>
                        <a:ext cx="6065837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3632200" y="1214438"/>
          <a:ext cx="422592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2222280" imgH="457200" progId="Equation.DSMT4">
                  <p:embed/>
                </p:oleObj>
              </mc:Choice>
              <mc:Fallback>
                <p:oleObj name="Equation" r:id="rId5" imgW="2222280" imgH="457200" progId="Equation.DSMT4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1214438"/>
                        <a:ext cx="4225925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0" name="Прямоугольник 53"/>
          <p:cNvSpPr>
            <a:spLocks noChangeArrowheads="1"/>
          </p:cNvSpPr>
          <p:nvPr/>
        </p:nvSpPr>
        <p:spPr bwMode="auto">
          <a:xfrm>
            <a:off x="862013" y="1428750"/>
            <a:ext cx="24018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Оценка параметра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357188" y="2143125"/>
          <a:ext cx="307498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1574640" imgH="215640" progId="Equation.DSMT4">
                  <p:embed/>
                </p:oleObj>
              </mc:Choice>
              <mc:Fallback>
                <p:oleObj name="Equation" r:id="rId7" imgW="1574640" imgH="215640" progId="Equation.DSMT4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2143125"/>
                        <a:ext cx="3074987" cy="420688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1" name="Прямоугольник 58"/>
          <p:cNvSpPr>
            <a:spLocks noChangeArrowheads="1"/>
          </p:cNvSpPr>
          <p:nvPr/>
        </p:nvSpPr>
        <p:spPr bwMode="auto">
          <a:xfrm>
            <a:off x="2357438" y="4857750"/>
            <a:ext cx="44942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Алгоритм оптимального различения</a:t>
            </a:r>
          </a:p>
        </p:txBody>
      </p:sp>
      <p:graphicFrame>
        <p:nvGraphicFramePr>
          <p:cNvPr id="11269" name="Object 10"/>
          <p:cNvGraphicFramePr>
            <a:graphicFrameLocks noChangeAspect="1"/>
          </p:cNvGraphicFramePr>
          <p:nvPr/>
        </p:nvGraphicFramePr>
        <p:xfrm>
          <a:off x="1628775" y="5500688"/>
          <a:ext cx="5918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9" imgW="3746160" imgH="545760" progId="Equation.DSMT4">
                  <p:embed/>
                </p:oleObj>
              </mc:Choice>
              <mc:Fallback>
                <p:oleObj name="Equation" r:id="rId9" imgW="3746160" imgH="545760" progId="Equation.DSMT4">
                  <p:embed/>
                  <p:pic>
                    <p:nvPicPr>
                      <p:cNvPr id="1126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5500688"/>
                        <a:ext cx="59182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11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3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4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5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6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7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8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299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0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1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3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4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8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232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Оптимальный приёмник различения</a:t>
            </a:r>
            <a:r>
              <a:rPr lang="en-US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/>
            </a:r>
            <a:br>
              <a:rPr lang="en-US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</a:b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двух известных сигналов</a:t>
            </a: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3357563" y="5054600"/>
          <a:ext cx="2687637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Equation" r:id="rId3" imgW="1790640" imgH="774360" progId="Equation.DSMT4">
                  <p:embed/>
                </p:oleObj>
              </mc:Choice>
              <mc:Fallback>
                <p:oleObj name="Equation" r:id="rId3" imgW="1790640" imgH="774360" progId="Equation.DSMT4">
                  <p:embed/>
                  <p:pic>
                    <p:nvPicPr>
                      <p:cNvPr id="12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563" y="5054600"/>
                        <a:ext cx="2687637" cy="1160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31" name="Рисунок 43" descr="Оптимальный приёмник различения двух известных сигналов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0" y="1236663"/>
            <a:ext cx="6429375" cy="3263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1001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0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1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2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3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4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5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6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2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4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3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4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0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1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5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335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sp>
        <p:nvSpPr>
          <p:cNvPr id="13358" name="Прямоугольник 45"/>
          <p:cNvSpPr>
            <a:spLocks noChangeArrowheads="1"/>
          </p:cNvSpPr>
          <p:nvPr/>
        </p:nvSpPr>
        <p:spPr bwMode="auto">
          <a:xfrm>
            <a:off x="1285875" y="1504950"/>
            <a:ext cx="31527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i="1">
                <a:latin typeface="Calibri" pitchFamily="34" charset="0"/>
                <a:sym typeface="Symbol" pitchFamily="18" charset="2"/>
              </a:rPr>
              <a:t>Равновероятные сигналы</a:t>
            </a:r>
            <a:br>
              <a:rPr lang="ru-RU" sz="2000" i="1">
                <a:latin typeface="Calibri" pitchFamily="34" charset="0"/>
                <a:sym typeface="Symbol" pitchFamily="18" charset="2"/>
              </a:rPr>
            </a:br>
            <a:r>
              <a:rPr lang="ru-RU" sz="2000" i="1">
                <a:latin typeface="Calibri" pitchFamily="34" charset="0"/>
                <a:sym typeface="Symbol" pitchFamily="18" charset="2"/>
              </a:rPr>
              <a:t> с одинаковой энергией</a:t>
            </a: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5214938" y="1290638"/>
          <a:ext cx="3025775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2" name="Equation" r:id="rId3" imgW="1549080" imgH="583920" progId="Equation.DSMT4">
                  <p:embed/>
                </p:oleObj>
              </mc:Choice>
              <mc:Fallback>
                <p:oleObj name="Equation" r:id="rId3" imgW="1549080" imgH="583920" progId="Equation.DSMT4">
                  <p:embed/>
                  <p:pic>
                    <p:nvPicPr>
                      <p:cNvPr id="13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1290638"/>
                        <a:ext cx="3025775" cy="1138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59" name="Rectangle 21"/>
          <p:cNvSpPr>
            <a:spLocks noChangeArrowheads="1"/>
          </p:cNvSpPr>
          <p:nvPr/>
        </p:nvSpPr>
        <p:spPr bwMode="auto">
          <a:xfrm>
            <a:off x="2714625" y="2671763"/>
            <a:ext cx="4143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Вероятность ошибки различения</a:t>
            </a:r>
          </a:p>
        </p:txBody>
      </p:sp>
      <p:grpSp>
        <p:nvGrpSpPr>
          <p:cNvPr id="2" name="Группа 50"/>
          <p:cNvGrpSpPr>
            <a:grpSpLocks/>
          </p:cNvGrpSpPr>
          <p:nvPr/>
        </p:nvGrpSpPr>
        <p:grpSpPr bwMode="auto">
          <a:xfrm>
            <a:off x="1143000" y="3170238"/>
            <a:ext cx="7002463" cy="1258887"/>
            <a:chOff x="1142976" y="3286124"/>
            <a:chExt cx="7002463" cy="1259545"/>
          </a:xfrm>
        </p:grpSpPr>
        <p:graphicFrame>
          <p:nvGraphicFramePr>
            <p:cNvPr id="13315" name="Object 3"/>
            <p:cNvGraphicFramePr>
              <a:graphicFrameLocks noChangeAspect="1"/>
            </p:cNvGraphicFramePr>
            <p:nvPr/>
          </p:nvGraphicFramePr>
          <p:xfrm>
            <a:off x="1142976" y="3286124"/>
            <a:ext cx="7002463" cy="704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083" name="Equation" r:id="rId5" imgW="4546440" imgH="444240" progId="Equation.DSMT4">
                    <p:embed/>
                  </p:oleObj>
                </mc:Choice>
                <mc:Fallback>
                  <p:oleObj name="Equation" r:id="rId5" imgW="4546440" imgH="444240" progId="Equation.DSMT4">
                    <p:embed/>
                    <p:pic>
                      <p:nvPicPr>
                        <p:cNvPr id="1331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2976" y="3286124"/>
                          <a:ext cx="7002463" cy="7048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2" name="Прямая со стрелкой 51"/>
            <p:cNvCxnSpPr/>
            <p:nvPr/>
          </p:nvCxnSpPr>
          <p:spPr>
            <a:xfrm rot="10800000">
              <a:off x="2071664" y="3878571"/>
              <a:ext cx="857250" cy="2144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 стрелкой 54"/>
            <p:cNvCxnSpPr/>
            <p:nvPr/>
          </p:nvCxnSpPr>
          <p:spPr>
            <a:xfrm flipV="1">
              <a:off x="2928914" y="3878571"/>
              <a:ext cx="714375" cy="21442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63" name="TextBox 59"/>
            <p:cNvSpPr txBox="1">
              <a:spLocks noChangeArrowheads="1"/>
            </p:cNvSpPr>
            <p:nvPr/>
          </p:nvSpPr>
          <p:spPr bwMode="auto">
            <a:xfrm>
              <a:off x="1643042" y="4022449"/>
              <a:ext cx="3000396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ru-RU" sz="1400">
                  <a:solidFill>
                    <a:srgbClr val="FF0000"/>
                  </a:solidFill>
                  <a:latin typeface="Franklin Gothic Book" pitchFamily="34" charset="0"/>
                </a:rPr>
                <a:t>условные вероятности ошибок</a:t>
              </a:r>
            </a:p>
            <a:p>
              <a:pPr algn="ctr"/>
              <a:r>
                <a:rPr lang="ru-RU" sz="1400">
                  <a:solidFill>
                    <a:srgbClr val="FF0000"/>
                  </a:solidFill>
                  <a:latin typeface="Franklin Gothic Book" pitchFamily="34" charset="0"/>
                </a:rPr>
                <a:t>при приёме сигналов</a:t>
              </a:r>
            </a:p>
          </p:txBody>
        </p:sp>
      </p:grp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143125" y="4548188"/>
          <a:ext cx="48275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name="Equation" r:id="rId7" imgW="3390840" imgH="545760" progId="Equation.DSMT4">
                  <p:embed/>
                </p:oleObj>
              </mc:Choice>
              <mc:Fallback>
                <p:oleObj name="Equation" r:id="rId7" imgW="3390840" imgH="545760" progId="Equation.DSMT4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4548188"/>
                        <a:ext cx="4827588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143125" y="5429250"/>
          <a:ext cx="49260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5" name="Equation" r:id="rId9" imgW="3352680" imgH="545760" progId="Equation.DSMT4">
                  <p:embed/>
                </p:oleObj>
              </mc:Choice>
              <mc:Fallback>
                <p:oleObj name="Equation" r:id="rId9" imgW="3352680" imgH="545760" progId="Equation.DSMT4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5429250"/>
                        <a:ext cx="4926013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596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4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5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6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7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8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49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0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5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6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4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5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79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438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sp>
        <p:nvSpPr>
          <p:cNvPr id="14382" name="Rectangle 21"/>
          <p:cNvSpPr>
            <a:spLocks noChangeArrowheads="1"/>
          </p:cNvSpPr>
          <p:nvPr/>
        </p:nvSpPr>
        <p:spPr bwMode="auto">
          <a:xfrm>
            <a:off x="357188" y="1181100"/>
            <a:ext cx="8501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i="1">
                <a:latin typeface="Calibri" pitchFamily="34" charset="0"/>
                <a:sym typeface="Symbol" pitchFamily="18" charset="2"/>
              </a:rPr>
              <a:t>Статистические характеристики напряжения на входе ПУ</a:t>
            </a:r>
          </a:p>
        </p:txBody>
      </p:sp>
      <p:graphicFrame>
        <p:nvGraphicFramePr>
          <p:cNvPr id="14338" name="Object 10"/>
          <p:cNvGraphicFramePr>
            <a:graphicFrameLocks noChangeAspect="1"/>
          </p:cNvGraphicFramePr>
          <p:nvPr/>
        </p:nvGraphicFramePr>
        <p:xfrm>
          <a:off x="714375" y="1714500"/>
          <a:ext cx="76438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6" name="Equation" r:id="rId3" imgW="5016240" imgH="660240" progId="Equation.DSMT4">
                  <p:embed/>
                </p:oleObj>
              </mc:Choice>
              <mc:Fallback>
                <p:oleObj name="Equation" r:id="rId3" imgW="5016240" imgH="660240" progId="Equation.DSMT4">
                  <p:embed/>
                  <p:pic>
                    <p:nvPicPr>
                      <p:cNvPr id="143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714500"/>
                        <a:ext cx="7643813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7"/>
          <p:cNvGraphicFramePr>
            <a:graphicFrameLocks noChangeAspect="1"/>
          </p:cNvGraphicFramePr>
          <p:nvPr/>
        </p:nvGraphicFramePr>
        <p:xfrm>
          <a:off x="479425" y="2824163"/>
          <a:ext cx="8372475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7" name="Equation" r:id="rId5" imgW="5892480" imgH="1130040" progId="Equation.DSMT4">
                  <p:embed/>
                </p:oleObj>
              </mc:Choice>
              <mc:Fallback>
                <p:oleObj name="Equation" r:id="rId5" imgW="5892480" imgH="1130040" progId="Equation.DSMT4">
                  <p:embed/>
                  <p:pic>
                    <p:nvPicPr>
                      <p:cNvPr id="143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2824163"/>
                        <a:ext cx="8372475" cy="160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8"/>
          <p:cNvGraphicFramePr>
            <a:graphicFrameLocks noChangeAspect="1"/>
          </p:cNvGraphicFramePr>
          <p:nvPr/>
        </p:nvGraphicFramePr>
        <p:xfrm>
          <a:off x="2470150" y="4572000"/>
          <a:ext cx="42862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name="Equation" r:id="rId7" imgW="3009600" imgH="342720" progId="Equation.DSMT4">
                  <p:embed/>
                </p:oleObj>
              </mc:Choice>
              <mc:Fallback>
                <p:oleObj name="Equation" r:id="rId7" imgW="3009600" imgH="342720" progId="Equation.DSMT4">
                  <p:embed/>
                  <p:pic>
                    <p:nvPicPr>
                      <p:cNvPr id="143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4572000"/>
                        <a:ext cx="42862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9"/>
          <p:cNvGraphicFramePr>
            <a:graphicFrameLocks noChangeAspect="1"/>
          </p:cNvGraphicFramePr>
          <p:nvPr/>
        </p:nvGraphicFramePr>
        <p:xfrm>
          <a:off x="1214438" y="5143500"/>
          <a:ext cx="69992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9" name="Equation" r:id="rId9" imgW="4863960" imgH="825480" progId="Equation.DSMT4">
                  <p:embed/>
                </p:oleObj>
              </mc:Choice>
              <mc:Fallback>
                <p:oleObj name="Equation" r:id="rId9" imgW="4863960" imgH="825480" progId="Equation.DSMT4">
                  <p:embed/>
                  <p:pic>
                    <p:nvPicPr>
                      <p:cNvPr id="143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143500"/>
                        <a:ext cx="6999287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161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68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69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0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1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2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3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4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7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8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8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399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40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40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40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403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540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sp>
        <p:nvSpPr>
          <p:cNvPr id="15406" name="Rectangle 21"/>
          <p:cNvSpPr>
            <a:spLocks noChangeArrowheads="1"/>
          </p:cNvSpPr>
          <p:nvPr/>
        </p:nvSpPr>
        <p:spPr bwMode="auto">
          <a:xfrm>
            <a:off x="2071688" y="1143000"/>
            <a:ext cx="5143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i="1">
                <a:latin typeface="Calibri" pitchFamily="34" charset="0"/>
                <a:sym typeface="Symbol" pitchFamily="18" charset="2"/>
              </a:rPr>
              <a:t>Условные плотности вероятности</a:t>
            </a: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857375" y="1706563"/>
          <a:ext cx="53689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0" name="Equation" r:id="rId3" imgW="3301920" imgH="622080" progId="Equation.DSMT4">
                  <p:embed/>
                </p:oleObj>
              </mc:Choice>
              <mc:Fallback>
                <p:oleObj name="Equation" r:id="rId3" imgW="3301920" imgH="622080" progId="Equation.DSMT4">
                  <p:embed/>
                  <p:pic>
                    <p:nvPicPr>
                      <p:cNvPr id="153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1706563"/>
                        <a:ext cx="5368925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857375" y="2778125"/>
          <a:ext cx="543083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1" name="Equation" r:id="rId5" imgW="3340080" imgH="622080" progId="Equation.DSMT4">
                  <p:embed/>
                </p:oleObj>
              </mc:Choice>
              <mc:Fallback>
                <p:oleObj name="Equation" r:id="rId5" imgW="3340080" imgH="622080" progId="Equation.DSMT4">
                  <p:embed/>
                  <p:pic>
                    <p:nvPicPr>
                      <p:cNvPr id="153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2778125"/>
                        <a:ext cx="543083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214438" y="4621213"/>
          <a:ext cx="7215187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2" name="Equation" r:id="rId7" imgW="4483080" imgH="545760" progId="Equation.DSMT4">
                  <p:embed/>
                </p:oleObj>
              </mc:Choice>
              <mc:Fallback>
                <p:oleObj name="Equation" r:id="rId7" imgW="4483080" imgH="545760" progId="Equation.DSMT4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621213"/>
                        <a:ext cx="7215187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2024063" y="5429250"/>
          <a:ext cx="547687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3" name="Equation" r:id="rId9" imgW="3263760" imgH="545760" progId="Equation.DSMT4">
                  <p:embed/>
                </p:oleObj>
              </mc:Choice>
              <mc:Fallback>
                <p:oleObj name="Equation" r:id="rId9" imgW="3263760" imgH="545760" progId="Equation.DSMT4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5429250"/>
                        <a:ext cx="547687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7" name="Rectangle 21"/>
          <p:cNvSpPr>
            <a:spLocks noChangeArrowheads="1"/>
          </p:cNvSpPr>
          <p:nvPr/>
        </p:nvSpPr>
        <p:spPr bwMode="auto">
          <a:xfrm>
            <a:off x="2500313" y="4000500"/>
            <a:ext cx="4643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>
                <a:cs typeface="Times New Roman" pitchFamily="18" charset="0"/>
                <a:sym typeface="Symbol" pitchFamily="18" charset="2"/>
              </a:rPr>
              <a:t>Условное математическое ожидание</a:t>
            </a:r>
          </a:p>
        </p:txBody>
      </p:sp>
    </p:spTree>
    <p:extLst>
      <p:ext uri="{BB962C8B-B14F-4D97-AF65-F5344CB8AC3E}">
        <p14:creationId xmlns:p14="http://schemas.microsoft.com/office/powerpoint/2010/main" val="2498305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1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2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3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4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5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6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7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39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5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0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1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1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2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6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642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graphicFrame>
        <p:nvGraphicFramePr>
          <p:cNvPr id="16386" name="Object 13"/>
          <p:cNvGraphicFramePr>
            <a:graphicFrameLocks noChangeAspect="1"/>
          </p:cNvGraphicFramePr>
          <p:nvPr/>
        </p:nvGraphicFramePr>
        <p:xfrm>
          <a:off x="214313" y="4500563"/>
          <a:ext cx="8786812" cy="165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4" name="Equation" r:id="rId3" imgW="5854680" imgH="1104840" progId="Equation.DSMT4">
                  <p:embed/>
                </p:oleObj>
              </mc:Choice>
              <mc:Fallback>
                <p:oleObj name="Equation" r:id="rId3" imgW="5854680" imgH="1104840" progId="Equation.DSMT4">
                  <p:embed/>
                  <p:pic>
                    <p:nvPicPr>
                      <p:cNvPr id="1638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4500563"/>
                        <a:ext cx="8786812" cy="165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5"/>
          <p:cNvGraphicFramePr>
            <a:graphicFrameLocks noChangeAspect="1"/>
          </p:cNvGraphicFramePr>
          <p:nvPr/>
        </p:nvGraphicFramePr>
        <p:xfrm>
          <a:off x="428625" y="1143000"/>
          <a:ext cx="8331200" cy="314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5" name="Equation" r:id="rId5" imgW="5448240" imgH="2057400" progId="Equation.DSMT4">
                  <p:embed/>
                </p:oleObj>
              </mc:Choice>
              <mc:Fallback>
                <p:oleObj name="Equation" r:id="rId5" imgW="5448240" imgH="2057400" progId="Equation.DSMT4">
                  <p:embed/>
                  <p:pic>
                    <p:nvPicPr>
                      <p:cNvPr id="1638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1143000"/>
                        <a:ext cx="8331200" cy="314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4"/>
          <p:cNvGraphicFramePr>
            <a:graphicFrameLocks noChangeAspect="1"/>
          </p:cNvGraphicFramePr>
          <p:nvPr/>
        </p:nvGraphicFramePr>
        <p:xfrm>
          <a:off x="5715000" y="2879725"/>
          <a:ext cx="22145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56" name="Equation" r:id="rId7" imgW="1384200" imgH="520560" progId="Equation.DSMT4">
                  <p:embed/>
                </p:oleObj>
              </mc:Choice>
              <mc:Fallback>
                <p:oleObj name="Equation" r:id="rId7" imgW="1384200" imgH="520560" progId="Equation.DSMT4">
                  <p:embed/>
                  <p:pic>
                    <p:nvPicPr>
                      <p:cNvPr id="163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79725"/>
                        <a:ext cx="2214563" cy="8350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4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5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6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7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8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19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0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2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3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4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5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49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745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pic>
        <p:nvPicPr>
          <p:cNvPr id="17452" name="Рисунок 53" descr="Плотности вероятности при различении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5938" y="1674813"/>
            <a:ext cx="6215062" cy="3182937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</p:pic>
      <p:sp>
        <p:nvSpPr>
          <p:cNvPr id="17453" name="Rectangle 21"/>
          <p:cNvSpPr>
            <a:spLocks noChangeArrowheads="1"/>
          </p:cNvSpPr>
          <p:nvPr/>
        </p:nvSpPr>
        <p:spPr bwMode="auto">
          <a:xfrm>
            <a:off x="571500" y="1143000"/>
            <a:ext cx="81438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Условные плотности вероятности и условные вероятности ошибок </a:t>
            </a: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214438" y="4929188"/>
          <a:ext cx="721518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8" name="Equation" r:id="rId4" imgW="4952880" imgH="545760" progId="Equation.DSMT4">
                  <p:embed/>
                </p:oleObj>
              </mc:Choice>
              <mc:Fallback>
                <p:oleObj name="Equation" r:id="rId4" imgW="4952880" imgH="545760" progId="Equation.DSMT4">
                  <p:embed/>
                  <p:pic>
                    <p:nvPicPr>
                      <p:cNvPr id="174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929188"/>
                        <a:ext cx="7215187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760788" y="5929313"/>
          <a:ext cx="24098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9" name="Equation" r:id="rId6" imgW="1612800" imgH="266400" progId="Equation.DSMT4">
                  <p:embed/>
                </p:oleObj>
              </mc:Choice>
              <mc:Fallback>
                <p:oleObj name="Equation" r:id="rId6" imgW="1612800" imgH="266400" progId="Equation.DSMT4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0788" y="5929313"/>
                        <a:ext cx="2409825" cy="39846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874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8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39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0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1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2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3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4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4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5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8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69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7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7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7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73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847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500063" y="1165225"/>
          <a:ext cx="8240712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2" name="Equation" r:id="rId3" imgW="5206680" imgH="1739880" progId="Equation.DSMT4">
                  <p:embed/>
                </p:oleObj>
              </mc:Choice>
              <mc:Fallback>
                <p:oleObj name="Equation" r:id="rId3" imgW="5206680" imgH="1739880" progId="Equation.DSMT4">
                  <p:embed/>
                  <p:pic>
                    <p:nvPicPr>
                      <p:cNvPr id="184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165225"/>
                        <a:ext cx="8240712" cy="2835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Rectangle 21"/>
          <p:cNvSpPr>
            <a:spLocks noChangeArrowheads="1"/>
          </p:cNvSpPr>
          <p:nvPr/>
        </p:nvSpPr>
        <p:spPr bwMode="auto">
          <a:xfrm>
            <a:off x="2714625" y="4314825"/>
            <a:ext cx="4143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Вероятность ошибки различения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841375" y="4857750"/>
          <a:ext cx="7373938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03" name="Equation" r:id="rId5" imgW="4787640" imgH="571320" progId="Equation.DSMT4">
                  <p:embed/>
                </p:oleObj>
              </mc:Choice>
              <mc:Fallback>
                <p:oleObj name="Equation" r:id="rId5" imgW="4787640" imgH="571320" progId="Equation.DSMT4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4857750"/>
                        <a:ext cx="7373938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9499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6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67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68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69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0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1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2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3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7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8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7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8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49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50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50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502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950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sp>
        <p:nvSpPr>
          <p:cNvPr id="19505" name="Rectangle 21"/>
          <p:cNvSpPr>
            <a:spLocks noChangeArrowheads="1"/>
          </p:cNvSpPr>
          <p:nvPr/>
        </p:nvSpPr>
        <p:spPr bwMode="auto">
          <a:xfrm>
            <a:off x="500063" y="1690688"/>
            <a:ext cx="3500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Противоположные сигналы: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5265738" y="1404938"/>
          <a:ext cx="36766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6" name="Equation" r:id="rId3" imgW="2387520" imgH="571320" progId="Equation.DSMT4">
                  <p:embed/>
                </p:oleObj>
              </mc:Choice>
              <mc:Fallback>
                <p:oleObj name="Equation" r:id="rId3" imgW="2387520" imgH="571320" progId="Equation.DSMT4">
                  <p:embed/>
                  <p:pic>
                    <p:nvPicPr>
                      <p:cNvPr id="194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1404938"/>
                        <a:ext cx="367665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4000500" y="1660525"/>
          <a:ext cx="1117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Equation" r:id="rId5" imgW="558720" imgH="241200" progId="Equation.DSMT4">
                  <p:embed/>
                </p:oleObj>
              </mc:Choice>
              <mc:Fallback>
                <p:oleObj name="Equation" r:id="rId5" imgW="558720" imgH="241200" progId="Equation.DSMT4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660525"/>
                        <a:ext cx="1117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6" name="Rectangle 21"/>
          <p:cNvSpPr>
            <a:spLocks noChangeArrowheads="1"/>
          </p:cNvSpPr>
          <p:nvPr/>
        </p:nvSpPr>
        <p:spPr bwMode="auto">
          <a:xfrm>
            <a:off x="500063" y="3143250"/>
            <a:ext cx="3500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Ортогональные сигналы: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5743575" y="2857500"/>
          <a:ext cx="27178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8" name="Equation" r:id="rId7" imgW="1765080" imgH="571320" progId="Equation.DSMT4">
                  <p:embed/>
                </p:oleObj>
              </mc:Choice>
              <mc:Fallback>
                <p:oleObj name="Equation" r:id="rId7" imgW="1765080" imgH="571320" progId="Equation.DSMT4">
                  <p:embed/>
                  <p:pic>
                    <p:nvPicPr>
                      <p:cNvPr id="194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3575" y="2857500"/>
                        <a:ext cx="27178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4089400" y="3113088"/>
          <a:ext cx="939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9" name="Equation" r:id="rId9" imgW="469800" imgH="241200" progId="Equation.DSMT4">
                  <p:embed/>
                </p:oleObj>
              </mc:Choice>
              <mc:Fallback>
                <p:oleObj name="Equation" r:id="rId9" imgW="469800" imgH="241200" progId="Equation.DSMT4">
                  <p:embed/>
                  <p:pic>
                    <p:nvPicPr>
                      <p:cNvPr id="194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3113088"/>
                        <a:ext cx="939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07" name="Rectangle 21"/>
          <p:cNvSpPr>
            <a:spLocks noChangeArrowheads="1"/>
          </p:cNvSpPr>
          <p:nvPr/>
        </p:nvSpPr>
        <p:spPr bwMode="auto">
          <a:xfrm>
            <a:off x="500063" y="4405313"/>
            <a:ext cx="35004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Неразличимые сигналы:</a:t>
            </a:r>
          </a:p>
        </p:txBody>
      </p:sp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4127500" y="4375150"/>
          <a:ext cx="8636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0" name="Equation" r:id="rId11" imgW="431640" imgH="241200" progId="Equation.DSMT4">
                  <p:embed/>
                </p:oleObj>
              </mc:Choice>
              <mc:Fallback>
                <p:oleObj name="Equation" r:id="rId11" imgW="431640" imgH="241200" progId="Equation.DSMT4">
                  <p:embed/>
                  <p:pic>
                    <p:nvPicPr>
                      <p:cNvPr id="194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375150"/>
                        <a:ext cx="8636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5988050" y="4224338"/>
          <a:ext cx="213042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1" name="Equation" r:id="rId13" imgW="1384200" imgH="444240" progId="Equation.DSMT4">
                  <p:embed/>
                </p:oleObj>
              </mc:Choice>
              <mc:Fallback>
                <p:oleObj name="Equation" r:id="rId13" imgW="1384200" imgH="444240" progId="Equation.DSMT4">
                  <p:embed/>
                  <p:pic>
                    <p:nvPicPr>
                      <p:cNvPr id="19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4224338"/>
                        <a:ext cx="213042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1214438" y="5356225"/>
          <a:ext cx="678656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2" name="Equation" r:id="rId15" imgW="4698720" imgH="495000" progId="Equation.DSMT4">
                  <p:embed/>
                </p:oleObj>
              </mc:Choice>
              <mc:Fallback>
                <p:oleObj name="Equation" r:id="rId15" imgW="4698720" imgH="495000" progId="Equation.DSMT4">
                  <p:embed/>
                  <p:pic>
                    <p:nvPicPr>
                      <p:cNvPr id="194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5356225"/>
                        <a:ext cx="6786562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3467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6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7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8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59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0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1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2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6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0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7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6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7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8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9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91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359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Вероятность ошибки при оптимальном различении двух известных сигналов</a:t>
            </a:r>
          </a:p>
        </p:txBody>
      </p:sp>
      <p:pic>
        <p:nvPicPr>
          <p:cNvPr id="23594" name="Рисунок 45" descr="Вероятности ошибок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25" y="1214438"/>
            <a:ext cx="6348413" cy="5022850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765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85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86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87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88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89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0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1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499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1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0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5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6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1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20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2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5" name="Прямоугольник 44"/>
          <p:cNvSpPr/>
          <p:nvPr/>
        </p:nvSpPr>
        <p:spPr>
          <a:xfrm>
            <a:off x="428625" y="214313"/>
            <a:ext cx="8215313" cy="10541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Оптимальный приёмник для различения</a:t>
            </a:r>
            <a:b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</a:br>
            <a:r>
              <a:rPr lang="en-US" sz="2750" i="1" kern="0" dirty="0">
                <a:solidFill>
                  <a:srgbClr val="002060"/>
                </a:solidFill>
                <a:latin typeface="Arial" charset="0"/>
                <a:cs typeface="Arial" charset="0"/>
              </a:rPr>
              <a:t>M</a:t>
            </a:r>
            <a:r>
              <a:rPr lang="en-US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 </a:t>
            </a:r>
            <a:r>
              <a:rPr lang="ru-RU" sz="2750" kern="0" dirty="0">
                <a:solidFill>
                  <a:srgbClr val="002060"/>
                </a:solidFill>
                <a:latin typeface="Arial" charset="0"/>
                <a:cs typeface="Arial" charset="0"/>
              </a:rPr>
              <a:t>равновероятных сигналов с одинаковой энергией</a:t>
            </a:r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3571875" y="5500688"/>
          <a:ext cx="235743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0" name="Equation" r:id="rId3" imgW="1460160" imgH="545760" progId="Equation.DSMT4">
                  <p:embed/>
                </p:oleObj>
              </mc:Choice>
              <mc:Fallback>
                <p:oleObj name="Equation" r:id="rId3" imgW="1460160" imgH="545760" progId="Equation.DSMT4">
                  <p:embed/>
                  <p:pic>
                    <p:nvPicPr>
                      <p:cNvPr id="204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5500688"/>
                        <a:ext cx="2357438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23" name="Рисунок 45" descr="Оптимальный приёмник различения M известных сигналов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3875" y="1465263"/>
            <a:ext cx="5556250" cy="3927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91340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8589</TotalTime>
  <Words>967</Words>
  <Application>Microsoft Office PowerPoint</Application>
  <PresentationFormat>On-screen Show (4:3)</PresentationFormat>
  <Paragraphs>210</Paragraphs>
  <Slides>60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0" baseType="lpstr">
      <vt:lpstr>Arial</vt:lpstr>
      <vt:lpstr>Calibri</vt:lpstr>
      <vt:lpstr>Constantia</vt:lpstr>
      <vt:lpstr>Franklin Gothic Book</vt:lpstr>
      <vt:lpstr>Symbol</vt:lpstr>
      <vt:lpstr>Tahoma</vt:lpstr>
      <vt:lpstr>Times New Roman</vt:lpstr>
      <vt:lpstr>Wingdings 2</vt:lpstr>
      <vt:lpstr>Поток</vt:lpstr>
      <vt:lpstr>Equation</vt:lpstr>
      <vt:lpstr>Тема 3: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11</dc:title>
  <dc:creator>Лишак</dc:creator>
  <cp:lastModifiedBy>buuu</cp:lastModifiedBy>
  <cp:revision>1083</cp:revision>
  <dcterms:created xsi:type="dcterms:W3CDTF">2011-09-20T17:29:01Z</dcterms:created>
  <dcterms:modified xsi:type="dcterms:W3CDTF">2020-12-11T10:31:03Z</dcterms:modified>
</cp:coreProperties>
</file>