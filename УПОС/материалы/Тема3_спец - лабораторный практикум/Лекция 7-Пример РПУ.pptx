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0" r:id="rId1"/>
  </p:sldMasterIdLst>
  <p:notesMasterIdLst>
    <p:notesMasterId r:id="rId13"/>
  </p:notesMasterIdLst>
  <p:sldIdLst>
    <p:sldId id="256" r:id="rId2"/>
    <p:sldId id="277" r:id="rId3"/>
    <p:sldId id="276" r:id="rId4"/>
    <p:sldId id="278" r:id="rId5"/>
    <p:sldId id="279" r:id="rId6"/>
    <p:sldId id="280" r:id="rId7"/>
    <p:sldId id="282" r:id="rId8"/>
    <p:sldId id="281" r:id="rId9"/>
    <p:sldId id="257" r:id="rId10"/>
    <p:sldId id="283" r:id="rId11"/>
    <p:sldId id="28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5DF76-6EA5-4834-8811-006BD2D6C35C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916CA-8AE6-4F80-8840-BA82AD12AD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794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916CA-8AE6-4F80-8840-BA82AD12AD0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819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6FBE352-986D-4B74-A68B-9A4C3AAF683F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884982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26831-D5CC-4D85-B87B-7EF1CDE04F9E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0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1025AA-6329-4902-9333-EA0CC5A15695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662634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E56D8-3C45-4740-A271-E442E2125E9E}" type="datetime1">
              <a:rPr lang="ru-RU" smtClean="0"/>
              <a:t>11.12.2025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69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2E2FE-CF61-4851-8CCB-39B11513414E}" type="datetime1">
              <a:rPr lang="ru-RU" smtClean="0"/>
              <a:t>11.12.2025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5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36D71-F72D-43DD-861B-C28F25384BA0}" type="datetime1">
              <a:rPr lang="ru-RU" smtClean="0"/>
              <a:t>11.12.2025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62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798C-E4E9-444C-AE55-5CA10EB47789}" type="datetime1">
              <a:rPr lang="ru-RU" smtClean="0"/>
              <a:t>11.12.2025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0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C896BD-2406-4454-A780-A9BE49419637}" type="datetime1">
              <a:rPr lang="ru-RU" smtClean="0"/>
              <a:t>11.12.2025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185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BC9DC2-A017-425B-8A61-B9AD44280321}" type="datetime1">
              <a:rPr lang="ru-RU" smtClean="0"/>
              <a:t>11.12.2025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641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F4537-D7B5-471A-9BA8-093340D9ECD6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662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19EB-22DD-48B9-A043-102A3343D889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56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746915C-D03C-4FB3-9C31-6EF48850FD8B}" type="datetime1">
              <a:rPr lang="ru-RU" smtClean="0"/>
              <a:t>11.12.2025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42C11EA-0E81-49E5-87AC-41FBF36ECF9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80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E1049-52E0-951E-AE43-27C3CB14C0A2}"/>
              </a:ext>
            </a:extLst>
          </p:cNvPr>
          <p:cNvSpPr txBox="1"/>
          <p:nvPr/>
        </p:nvSpPr>
        <p:spPr>
          <a:xfrm>
            <a:off x="1310213" y="1940767"/>
            <a:ext cx="96139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построения устройств приема и обработки радиосигналов с помощью</a:t>
            </a:r>
          </a:p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«ПРОГРАММНО-ОПРЕДЕЛЯЕМЫХ СИСТЕМ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0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2CB17-17A8-463F-8383-DEF4801B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Стандарты радиосвязи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6240F8-25C5-4030-85FE-4968BA7D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2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F8990E2-320C-4616-8089-F9BA1B5B8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345218"/>
              </p:ext>
            </p:extLst>
          </p:nvPr>
        </p:nvGraphicFramePr>
        <p:xfrm>
          <a:off x="1118681" y="1517945"/>
          <a:ext cx="10739336" cy="4055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7700">
                  <a:extLst>
                    <a:ext uri="{9D8B030D-6E8A-4147-A177-3AD203B41FA5}">
                      <a16:colId xmlns:a16="http://schemas.microsoft.com/office/drawing/2014/main" val="2070405574"/>
                    </a:ext>
                  </a:extLst>
                </a:gridCol>
                <a:gridCol w="3106989">
                  <a:extLst>
                    <a:ext uri="{9D8B030D-6E8A-4147-A177-3AD203B41FA5}">
                      <a16:colId xmlns:a16="http://schemas.microsoft.com/office/drawing/2014/main" val="507183371"/>
                    </a:ext>
                  </a:extLst>
                </a:gridCol>
                <a:gridCol w="1906622">
                  <a:extLst>
                    <a:ext uri="{9D8B030D-6E8A-4147-A177-3AD203B41FA5}">
                      <a16:colId xmlns:a16="http://schemas.microsoft.com/office/drawing/2014/main" val="647276698"/>
                    </a:ext>
                  </a:extLst>
                </a:gridCol>
                <a:gridCol w="2928025">
                  <a:extLst>
                    <a:ext uri="{9D8B030D-6E8A-4147-A177-3AD203B41FA5}">
                      <a16:colId xmlns:a16="http://schemas.microsoft.com/office/drawing/2014/main" val="1685221969"/>
                    </a:ext>
                  </a:extLst>
                </a:gridCol>
              </a:tblGrid>
              <a:tr h="4931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 dirty="0">
                          <a:effectLst/>
                        </a:rPr>
                        <a:t>Параметр</a:t>
                      </a:r>
                      <a:endParaRPr lang="ru-RU" sz="2400" spc="-1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 dirty="0">
                          <a:effectLst/>
                        </a:rPr>
                        <a:t>GSM</a:t>
                      </a:r>
                      <a:endParaRPr lang="ru-RU" sz="2400" spc="-1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 dirty="0">
                          <a:effectLst/>
                        </a:rPr>
                        <a:t>LTE</a:t>
                      </a:r>
                      <a:endParaRPr lang="ru-RU" sz="2400" spc="-1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Wi-Fi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40451098"/>
                  </a:ext>
                </a:extLst>
              </a:tr>
              <a:tr h="6850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Частотный диапазон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850/900/1800/1900 МГц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450 МГц – 6 ГГц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2,4 ГГц, 5 ГГц, 6 ГГц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64491918"/>
                  </a:ext>
                </a:extLst>
              </a:tr>
              <a:tr h="4931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Ширина полосы частот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200 кГц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1,4 – 20 МГц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20/40/80/160 МГц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90244116"/>
                  </a:ext>
                </a:extLst>
              </a:tr>
              <a:tr h="82978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Модуляция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GMSK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OFDM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OFDM (BPSK, QPSK, QAM)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53425660"/>
                  </a:ext>
                </a:extLst>
              </a:tr>
              <a:tr h="77613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Скорость передачи данных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до 9,6 кбит/с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до 1 Гбит/с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до 9,6 Гбит/с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369209640"/>
                  </a:ext>
                </a:extLst>
              </a:tr>
              <a:tr h="77821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Дальность связи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до 35 км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>
                          <a:effectLst/>
                        </a:rPr>
                        <a:t>до 100 км</a:t>
                      </a:r>
                      <a:endParaRPr lang="ru-RU" sz="2400" spc="-1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49580" algn="l"/>
                        </a:tabLst>
                      </a:pPr>
                      <a:r>
                        <a:rPr lang="ru-RU" sz="2000" spc="0" dirty="0">
                          <a:effectLst/>
                        </a:rPr>
                        <a:t>50–300 м</a:t>
                      </a:r>
                      <a:endParaRPr lang="ru-RU" sz="2400" spc="-1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504426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73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BFED76-05CB-4D0B-AA3B-8D32DF90A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417" y="362239"/>
            <a:ext cx="10204312" cy="967262"/>
          </a:xfrm>
        </p:spPr>
        <p:txBody>
          <a:bodyPr>
            <a:normAutofit/>
          </a:bodyPr>
          <a:lstStyle/>
          <a:p>
            <a:r>
              <a:rPr lang="ru-RU" dirty="0"/>
              <a:t>Программно-определяемое радио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8FFCF1-8F69-47FF-8F5B-E99A22268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8A777-74B7-432E-8955-E7ABC4A4E0FA}"/>
              </a:ext>
            </a:extLst>
          </p:cNvPr>
          <p:cNvSpPr txBox="1"/>
          <p:nvPr/>
        </p:nvSpPr>
        <p:spPr>
          <a:xfrm>
            <a:off x="1371600" y="4331825"/>
            <a:ext cx="49882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Решает задачу обеспечения максимальной гибкости изменения параметров оборудования с целью обеспечить максимальную совместимость радиостанций различных стандартов вне зависимости от метода модуляции, рабочего диапазона частот, скорости передачи данных и т.д.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D7A3A8-87F6-42C5-8E83-98AA3266F8C3}"/>
              </a:ext>
            </a:extLst>
          </p:cNvPr>
          <p:cNvSpPr/>
          <p:nvPr/>
        </p:nvSpPr>
        <p:spPr>
          <a:xfrm>
            <a:off x="6663447" y="1962349"/>
            <a:ext cx="4988282" cy="44008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2DC04-8092-4AB9-88E4-D9A0F4391DA6}"/>
              </a:ext>
            </a:extLst>
          </p:cNvPr>
          <p:cNvSpPr txBox="1"/>
          <p:nvPr/>
        </p:nvSpPr>
        <p:spPr>
          <a:xfrm>
            <a:off x="7964941" y="2061380"/>
            <a:ext cx="2324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АППАРАТНАЯ ЧАСТЬ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C96DF-2F83-482D-B7F3-FF7FD2E5A486}"/>
              </a:ext>
            </a:extLst>
          </p:cNvPr>
          <p:cNvSpPr txBox="1"/>
          <p:nvPr/>
        </p:nvSpPr>
        <p:spPr>
          <a:xfrm>
            <a:off x="7001903" y="2419947"/>
            <a:ext cx="4250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адаптируется под управлением программного обеспечения, принимает команды на изменение рабочих параметров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B4E1EB-E680-4468-832B-95E140EA4700}"/>
              </a:ext>
            </a:extLst>
          </p:cNvPr>
          <p:cNvSpPr/>
          <p:nvPr/>
        </p:nvSpPr>
        <p:spPr>
          <a:xfrm>
            <a:off x="1447417" y="1962349"/>
            <a:ext cx="4988282" cy="21524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03AEAC-B21B-4383-8606-7861BC729B8B}"/>
              </a:ext>
            </a:extLst>
          </p:cNvPr>
          <p:cNvSpPr txBox="1"/>
          <p:nvPr/>
        </p:nvSpPr>
        <p:spPr>
          <a:xfrm>
            <a:off x="2697181" y="2061380"/>
            <a:ext cx="2488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ПРОГРАММНАЯ ЧАСТЬ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A28BD-8E67-40B5-891D-1E27BFBAC99A}"/>
              </a:ext>
            </a:extLst>
          </p:cNvPr>
          <p:cNvSpPr txBox="1"/>
          <p:nvPr/>
        </p:nvSpPr>
        <p:spPr>
          <a:xfrm>
            <a:off x="1626376" y="2516031"/>
            <a:ext cx="46303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реализует большинство функций  физического уровня: преобразование информационного потока в реальный сигнал и обратно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управляет аппаратной частью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6D85A8-187C-4097-82CF-E63BFB25CFB4}"/>
              </a:ext>
            </a:extLst>
          </p:cNvPr>
          <p:cNvSpPr txBox="1"/>
          <p:nvPr/>
        </p:nvSpPr>
        <p:spPr>
          <a:xfrm>
            <a:off x="7001903" y="3655537"/>
            <a:ext cx="4250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Приемник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Малошумящее усиление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Преобразование частоты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АЦП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AD396F-FDBB-428C-82CD-3E0A0C85348A}"/>
              </a:ext>
            </a:extLst>
          </p:cNvPr>
          <p:cNvSpPr txBox="1"/>
          <p:nvPr/>
        </p:nvSpPr>
        <p:spPr>
          <a:xfrm>
            <a:off x="7001903" y="4842067"/>
            <a:ext cx="4250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Передатчик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Формирование модулированного сигнала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Усиление мощности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65692"/>
            <a:ext cx="724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Программно-определяемое радио </a:t>
            </a:r>
            <a:r>
              <a:rPr lang="en-US" dirty="0" smtClean="0"/>
              <a:t>-- 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Defined</a:t>
            </a:r>
            <a:r>
              <a:rPr lang="ru-RU" dirty="0"/>
              <a:t> </a:t>
            </a:r>
            <a:r>
              <a:rPr lang="ru-RU" dirty="0" err="1" smtClean="0"/>
              <a:t>Radio</a:t>
            </a:r>
            <a:r>
              <a:rPr lang="en-US" dirty="0"/>
              <a:t> </a:t>
            </a:r>
            <a:r>
              <a:rPr lang="en-US" dirty="0" smtClean="0"/>
              <a:t>(SDR)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0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C7BFD0C-0764-4C11-AE5B-81A1EB7E77F6}"/>
              </a:ext>
            </a:extLst>
          </p:cNvPr>
          <p:cNvSpPr/>
          <p:nvPr/>
        </p:nvSpPr>
        <p:spPr>
          <a:xfrm>
            <a:off x="7956368" y="1209569"/>
            <a:ext cx="3997719" cy="31386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EEED0D7-858B-4567-BB9F-464115E1DDD3}"/>
              </a:ext>
            </a:extLst>
          </p:cNvPr>
          <p:cNvSpPr/>
          <p:nvPr/>
        </p:nvSpPr>
        <p:spPr>
          <a:xfrm>
            <a:off x="909128" y="1209569"/>
            <a:ext cx="6903389" cy="31386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7AE0F-FC29-47AB-8693-399F8DA6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015" y="472931"/>
            <a:ext cx="10911185" cy="954425"/>
          </a:xfrm>
        </p:spPr>
        <p:txBody>
          <a:bodyPr>
            <a:normAutofit/>
          </a:bodyPr>
          <a:lstStyle/>
          <a:p>
            <a:r>
              <a:rPr lang="ru-RU" dirty="0"/>
              <a:t>Аппаратная часть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046C18-6BFB-4955-B241-29D90FD4D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4</a:t>
            </a:fld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E31BC-F62F-4CB0-BBB3-D0AC86939370}"/>
              </a:ext>
            </a:extLst>
          </p:cNvPr>
          <p:cNvSpPr txBox="1"/>
          <p:nvPr/>
        </p:nvSpPr>
        <p:spPr>
          <a:xfrm>
            <a:off x="941486" y="4790721"/>
            <a:ext cx="1104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Требования:</a:t>
            </a:r>
          </a:p>
          <a:p>
            <a:r>
              <a:rPr lang="ru-RU" dirty="0"/>
              <a:t>Независимость от основных параметров радиоканала: несущей частоты, типа модуляции, скорости передачи данных и т.д.</a:t>
            </a:r>
          </a:p>
          <a:p>
            <a:r>
              <a:rPr lang="ru-RU" dirty="0"/>
              <a:t>Габариты, мощность потребления, цена – сопоставимые с узкоспециализированными устройствами.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C9F1254-E334-457A-8A24-B3D23EF51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055" y="1919114"/>
            <a:ext cx="6428096" cy="22871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02BB9B-B94F-4B2E-B6D0-65281744E3ED}"/>
              </a:ext>
            </a:extLst>
          </p:cNvPr>
          <p:cNvSpPr txBox="1"/>
          <p:nvPr/>
        </p:nvSpPr>
        <p:spPr>
          <a:xfrm>
            <a:off x="2454201" y="1295558"/>
            <a:ext cx="3977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Приемопередатчик с аппаратным ПЧ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9EA274-106D-4F28-A88D-BD81A3C8B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770" y="1895518"/>
            <a:ext cx="3367343" cy="19067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FF0193-15BD-44A8-87A6-CBBF9318FE01}"/>
              </a:ext>
            </a:extLst>
          </p:cNvPr>
          <p:cNvSpPr txBox="1"/>
          <p:nvPr/>
        </p:nvSpPr>
        <p:spPr>
          <a:xfrm flipH="1">
            <a:off x="8014736" y="1295558"/>
            <a:ext cx="3786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Приемопередатчик с цифровым ПЧ</a:t>
            </a:r>
          </a:p>
        </p:txBody>
      </p:sp>
    </p:spTree>
    <p:extLst>
      <p:ext uri="{BB962C8B-B14F-4D97-AF65-F5344CB8AC3E}">
        <p14:creationId xmlns:p14="http://schemas.microsoft.com/office/powerpoint/2010/main" val="291479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ПЧ для переноса на 0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5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88719" y="1330268"/>
            <a:ext cx="10598727" cy="10266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0" name="Группа 19"/>
          <p:cNvGrpSpPr/>
          <p:nvPr/>
        </p:nvGrpSpPr>
        <p:grpSpPr>
          <a:xfrm>
            <a:off x="1188720" y="2399893"/>
            <a:ext cx="3541222" cy="2696793"/>
            <a:chOff x="1188720" y="2399893"/>
            <a:chExt cx="3541222" cy="2696793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3EEED0D7-858B-4567-BB9F-464115E1DDD3}"/>
                </a:ext>
              </a:extLst>
            </p:cNvPr>
            <p:cNvSpPr/>
            <p:nvPr/>
          </p:nvSpPr>
          <p:spPr>
            <a:xfrm>
              <a:off x="1188720" y="2399893"/>
              <a:ext cx="3541222" cy="26967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4554" y="3028745"/>
              <a:ext cx="2502469" cy="1374083"/>
            </a:xfrm>
            <a:prstGeom prst="rect">
              <a:avLst/>
            </a:prstGeom>
          </p:spPr>
        </p:pic>
      </p:grpSp>
      <p:grpSp>
        <p:nvGrpSpPr>
          <p:cNvPr id="19" name="Группа 18"/>
          <p:cNvGrpSpPr/>
          <p:nvPr/>
        </p:nvGrpSpPr>
        <p:grpSpPr>
          <a:xfrm>
            <a:off x="5428211" y="2399893"/>
            <a:ext cx="3399905" cy="2673235"/>
            <a:chOff x="5428211" y="2399893"/>
            <a:chExt cx="3399905" cy="267323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EEED0D7-858B-4567-BB9F-464115E1DDD3}"/>
                </a:ext>
              </a:extLst>
            </p:cNvPr>
            <p:cNvSpPr/>
            <p:nvPr/>
          </p:nvSpPr>
          <p:spPr>
            <a:xfrm>
              <a:off x="5428211" y="2399893"/>
              <a:ext cx="3399905" cy="267323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6113" y="2492662"/>
              <a:ext cx="2171700" cy="244475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1097281" y="5210784"/>
                <a:ext cx="375699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𝐼𝐹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𝐿𝑂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1" y="5210784"/>
                <a:ext cx="3756990" cy="6109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5203768" y="5162402"/>
                <a:ext cx="3948950" cy="14073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  <a:tabLst>
                    <a:tab pos="4495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pc="-10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𝐼</m:t>
                      </m:r>
                      <m:d>
                        <m:d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𝑅𝐹</m:t>
                          </m:r>
                        </m:sub>
                      </m:sSub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t</m:t>
                      </m:r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𝐿𝑂</m:t>
                          </m:r>
                        </m:sub>
                      </m:sSub>
                      <m:d>
                        <m:d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∆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𝜑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pc="-1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  <a:tabLst>
                    <a:tab pos="44958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𝑄</m:t>
                      </m:r>
                      <m:d>
                        <m:d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𝑅𝐹</m:t>
                          </m:r>
                        </m:sub>
                      </m:sSub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ru-RU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t</m:t>
                      </m:r>
                      <m:r>
                        <a:rPr lang="ru-RU" i="1" spc="-1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  <m:sSub>
                        <m:sSub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𝐿𝑂</m:t>
                          </m:r>
                        </m:sub>
                      </m:sSub>
                      <m:d>
                        <m:d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ru-RU" i="1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pc="-1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∆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𝜑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𝑡</m:t>
                              </m:r>
                              <m:r>
                                <a:rPr lang="ru-RU" i="1" spc="-1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pc="-1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768" y="5162402"/>
                <a:ext cx="3948950" cy="140730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41049" y="1374235"/>
                <a:ext cx="6364260" cy="92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Если </a:t>
                </a:r>
                <a:r>
                  <a:rPr lang="en-US" sz="1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sz="1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sz="1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RF</a:t>
                </a:r>
                <a:r>
                  <a:rPr lang="ru-RU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𝑅𝐹</m:t>
                                  </m:r>
                                </m:sub>
                              </m:s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𝑅𝐹</m:t>
                                  </m:r>
                                </m:sub>
                              </m:s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ru-RU" sz="1400" i="1">
                          <a:latin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𝐿𝑂</m:t>
                                  </m:r>
                                </m:sub>
                              </m:sSub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𝐿𝑂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sz="1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𝑅𝐹</m:t>
                                      </m:r>
                                    </m:sub>
                                  </m:s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𝐿𝑂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ru-RU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2∙2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𝑅𝐹</m:t>
                                      </m:r>
                                    </m:sub>
                                  </m:s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𝑅𝐹</m:t>
                                      </m:r>
                                    </m:sub>
                                  </m:s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𝐿𝑂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049" y="1374235"/>
                <a:ext cx="6364260" cy="926536"/>
              </a:xfrm>
              <a:prstGeom prst="rect">
                <a:avLst/>
              </a:prstGeom>
              <a:blipFill rotWithShape="0">
                <a:blip r:embed="rId7"/>
                <a:stretch>
                  <a:fillRect l="-287" t="-1316" b="-6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284822" y="1366553"/>
            <a:ext cx="3569449" cy="95410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1400" b="1" i="1" dirty="0"/>
              <a:t>RF – Radio frequency</a:t>
            </a:r>
            <a:r>
              <a:rPr lang="en-US" sz="1400" b="1" dirty="0"/>
              <a:t>, </a:t>
            </a:r>
            <a:r>
              <a:rPr lang="ru-RU" sz="1400" dirty="0"/>
              <a:t>радиочастоты</a:t>
            </a:r>
            <a:endParaRPr lang="en-US" sz="1400" dirty="0"/>
          </a:p>
          <a:p>
            <a:r>
              <a:rPr lang="en-US" sz="1400" b="1" i="1" dirty="0"/>
              <a:t>LO – Local oscillator</a:t>
            </a:r>
            <a:r>
              <a:rPr lang="ru-RU" sz="1400" b="1" dirty="0"/>
              <a:t>, </a:t>
            </a:r>
            <a:r>
              <a:rPr lang="ru-RU" sz="1400" dirty="0"/>
              <a:t>гетеродин</a:t>
            </a:r>
            <a:endParaRPr lang="en-US" sz="1400" dirty="0"/>
          </a:p>
          <a:p>
            <a:r>
              <a:rPr lang="en-US" sz="1400" b="1" i="1" dirty="0"/>
              <a:t>IF – Intermediate Frequency</a:t>
            </a:r>
            <a:r>
              <a:rPr lang="ru-RU" sz="1400" b="1" i="1" dirty="0"/>
              <a:t>, </a:t>
            </a:r>
            <a:r>
              <a:rPr lang="ru-RU" sz="1400" dirty="0"/>
              <a:t>промежуточная частота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09986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222" y="326952"/>
            <a:ext cx="9601200" cy="121921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 реализации приемной части в </a:t>
            </a:r>
            <a:r>
              <a:rPr lang="en-US" dirty="0"/>
              <a:t>SDR </a:t>
            </a:r>
            <a:r>
              <a:rPr lang="ru-RU" dirty="0"/>
              <a:t>устройстве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6</a:t>
            </a:fld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864" y="1688838"/>
            <a:ext cx="8216672" cy="462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7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2302"/>
          </a:xfrm>
        </p:spPr>
        <p:txBody>
          <a:bodyPr/>
          <a:lstStyle/>
          <a:p>
            <a:r>
              <a:rPr lang="ru-RU" dirty="0"/>
              <a:t>Реализация </a:t>
            </a:r>
            <a:r>
              <a:rPr lang="en-US" dirty="0"/>
              <a:t>FM </a:t>
            </a:r>
            <a:r>
              <a:rPr lang="ru-RU" dirty="0"/>
              <a:t>приемника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mtClean="0"/>
              <a:t>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371600" y="1438102"/>
            <a:ext cx="401504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49580" algn="l"/>
              </a:tabLs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FM-радиовещание</a:t>
            </a:r>
            <a:endParaRPr lang="ru-RU" sz="1400" spc="-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Частотный диапазон: 88–108 МГц</a:t>
            </a:r>
            <a:endParaRPr lang="ru-RU" sz="1400" spc="-1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Полоса частот одной станции: ≈ 200 кГц</a:t>
            </a:r>
          </a:p>
          <a:p>
            <a:pPr marL="34290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 модуляции: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FM</a:t>
            </a:r>
            <a:endParaRPr lang="ru-RU" sz="1400" dirty="0"/>
          </a:p>
        </p:txBody>
      </p:sp>
      <p:grpSp>
        <p:nvGrpSpPr>
          <p:cNvPr id="10" name="Группа 9"/>
          <p:cNvGrpSpPr/>
          <p:nvPr/>
        </p:nvGrpSpPr>
        <p:grpSpPr>
          <a:xfrm>
            <a:off x="1188720" y="2657588"/>
            <a:ext cx="9784080" cy="3294325"/>
            <a:chOff x="1188720" y="2399893"/>
            <a:chExt cx="9784080" cy="3294325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EEED0D7-858B-4567-BB9F-464115E1DDD3}"/>
                </a:ext>
              </a:extLst>
            </p:cNvPr>
            <p:cNvSpPr/>
            <p:nvPr/>
          </p:nvSpPr>
          <p:spPr>
            <a:xfrm>
              <a:off x="1188720" y="2399893"/>
              <a:ext cx="9784080" cy="329432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7987" y="2644660"/>
              <a:ext cx="9555710" cy="2949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7371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D4FFF-3841-5D8A-D107-75B895B49352}"/>
              </a:ext>
            </a:extLst>
          </p:cNvPr>
          <p:cNvSpPr txBox="1"/>
          <p:nvPr/>
        </p:nvSpPr>
        <p:spPr>
          <a:xfrm>
            <a:off x="3563105" y="178525"/>
            <a:ext cx="60891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Структурная схема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FM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-приемника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9D18FA-C9DF-D767-947B-89F51D4DA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370" y="1594256"/>
            <a:ext cx="10559084" cy="350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3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8D11253-2CCD-3666-DB95-6A838ED1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11152" y="7316112"/>
            <a:ext cx="1596292" cy="404614"/>
          </a:xfrm>
        </p:spPr>
        <p:txBody>
          <a:bodyPr/>
          <a:lstStyle/>
          <a:p>
            <a:fld id="{D42C11EA-0E81-49E5-87AC-41FBF36ECF9D}" type="slidenum">
              <a:rPr lang="ru-RU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0D467-42E9-DE6B-298A-F2408D925B91}"/>
              </a:ext>
            </a:extLst>
          </p:cNvPr>
          <p:cNvSpPr txBox="1"/>
          <p:nvPr/>
        </p:nvSpPr>
        <p:spPr>
          <a:xfrm>
            <a:off x="4126882" y="1803251"/>
            <a:ext cx="5256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Подходы к программированию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8073461-54E0-BCA0-3E1D-F24B8EA08136}"/>
              </a:ext>
            </a:extLst>
          </p:cNvPr>
          <p:cNvCxnSpPr>
            <a:cxnSpLocks/>
          </p:cNvCxnSpPr>
          <p:nvPr/>
        </p:nvCxnSpPr>
        <p:spPr>
          <a:xfrm>
            <a:off x="6552315" y="2326471"/>
            <a:ext cx="0" cy="443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C7AC62A-52FE-5C64-1FB5-4B5E892E86EC}"/>
              </a:ext>
            </a:extLst>
          </p:cNvPr>
          <p:cNvCxnSpPr/>
          <p:nvPr/>
        </p:nvCxnSpPr>
        <p:spPr>
          <a:xfrm>
            <a:off x="3216932" y="2778612"/>
            <a:ext cx="67230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B82516E8-8D07-372C-75DB-67D16F74256C}"/>
              </a:ext>
            </a:extLst>
          </p:cNvPr>
          <p:cNvCxnSpPr/>
          <p:nvPr/>
        </p:nvCxnSpPr>
        <p:spPr>
          <a:xfrm>
            <a:off x="3216932" y="2778612"/>
            <a:ext cx="0" cy="51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8B4FE4DA-58B3-E735-4394-7127F78BA8F7}"/>
              </a:ext>
            </a:extLst>
          </p:cNvPr>
          <p:cNvCxnSpPr/>
          <p:nvPr/>
        </p:nvCxnSpPr>
        <p:spPr>
          <a:xfrm>
            <a:off x="9939949" y="2778612"/>
            <a:ext cx="0" cy="51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4B65E9-98F4-B59B-D8DC-D6870710328F}"/>
              </a:ext>
            </a:extLst>
          </p:cNvPr>
          <p:cNvSpPr txBox="1"/>
          <p:nvPr/>
        </p:nvSpPr>
        <p:spPr>
          <a:xfrm>
            <a:off x="9611152" y="3327151"/>
            <a:ext cx="776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FE66E-0915-61CF-A083-DB658F751794}"/>
              </a:ext>
            </a:extLst>
          </p:cNvPr>
          <p:cNvSpPr txBox="1"/>
          <p:nvPr/>
        </p:nvSpPr>
        <p:spPr>
          <a:xfrm>
            <a:off x="2773708" y="3267107"/>
            <a:ext cx="1112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C4C5B-BA91-12D7-671B-67CBB313E2D8}"/>
              </a:ext>
            </a:extLst>
          </p:cNvPr>
          <p:cNvSpPr txBox="1"/>
          <p:nvPr/>
        </p:nvSpPr>
        <p:spPr>
          <a:xfrm>
            <a:off x="1333246" y="3790327"/>
            <a:ext cx="45092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самым базовым уровнем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сложное и быстрое создание проекта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Низкие 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26BBD3-336D-ADCA-097D-C44FA5B8703C}"/>
              </a:ext>
            </a:extLst>
          </p:cNvPr>
          <p:cNvSpPr txBox="1"/>
          <p:nvPr/>
        </p:nvSpPr>
        <p:spPr>
          <a:xfrm>
            <a:off x="7858987" y="3988958"/>
            <a:ext cx="45092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Требует больше времени для разработки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работы может быть выше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372C3-64E7-0E3C-CD7E-85651CA2C462}"/>
              </a:ext>
            </a:extLst>
          </p:cNvPr>
          <p:cNvSpPr txBox="1"/>
          <p:nvPr/>
        </p:nvSpPr>
        <p:spPr>
          <a:xfrm>
            <a:off x="2169998" y="346401"/>
            <a:ext cx="90341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с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SDR –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Radio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Позволяет создавать собственные радиосистемы, используя периферию: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 RF, RTL-SDR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т. д.</a:t>
            </a:r>
            <a:endParaRPr lang="ru-RU" sz="2800" dirty="0"/>
          </a:p>
        </p:txBody>
      </p:sp>
      <p:sp>
        <p:nvSpPr>
          <p:cNvPr id="21" name="Номер слайда 3"/>
          <p:cNvSpPr txBox="1">
            <a:spLocks/>
          </p:cNvSpPr>
          <p:nvPr/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36090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E24B87-D2AA-99A1-9932-2E3CD2B84734}"/>
              </a:ext>
            </a:extLst>
          </p:cNvPr>
          <p:cNvSpPr txBox="1"/>
          <p:nvPr/>
        </p:nvSpPr>
        <p:spPr>
          <a:xfrm>
            <a:off x="3391445" y="313508"/>
            <a:ext cx="609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компиляции в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Radio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AF09132-0EC2-96D7-5DA2-9747B7AAF157}"/>
              </a:ext>
            </a:extLst>
          </p:cNvPr>
          <p:cNvCxnSpPr>
            <a:cxnSpLocks/>
          </p:cNvCxnSpPr>
          <p:nvPr/>
        </p:nvCxnSpPr>
        <p:spPr>
          <a:xfrm>
            <a:off x="6152642" y="836728"/>
            <a:ext cx="0" cy="443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5E5AD88-3025-01DE-70A3-65A34CF7B738}"/>
              </a:ext>
            </a:extLst>
          </p:cNvPr>
          <p:cNvCxnSpPr/>
          <p:nvPr/>
        </p:nvCxnSpPr>
        <p:spPr>
          <a:xfrm>
            <a:off x="2817259" y="1288869"/>
            <a:ext cx="67230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8A64993A-FFE7-4D23-8A2A-19DD435F98AC}"/>
              </a:ext>
            </a:extLst>
          </p:cNvPr>
          <p:cNvCxnSpPr/>
          <p:nvPr/>
        </p:nvCxnSpPr>
        <p:spPr>
          <a:xfrm>
            <a:off x="2817259" y="1288869"/>
            <a:ext cx="0" cy="51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9148C55-9EDB-E57F-9F2B-301F49D21783}"/>
              </a:ext>
            </a:extLst>
          </p:cNvPr>
          <p:cNvCxnSpPr/>
          <p:nvPr/>
        </p:nvCxnSpPr>
        <p:spPr>
          <a:xfrm>
            <a:off x="9540276" y="1288869"/>
            <a:ext cx="0" cy="513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9C027D-E4B8-DA65-9979-FD8A6A61B60C}"/>
              </a:ext>
            </a:extLst>
          </p:cNvPr>
          <p:cNvSpPr txBox="1"/>
          <p:nvPr/>
        </p:nvSpPr>
        <p:spPr>
          <a:xfrm>
            <a:off x="8639869" y="1741011"/>
            <a:ext cx="180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16E10-4955-D335-090F-1F072DB78437}"/>
              </a:ext>
            </a:extLst>
          </p:cNvPr>
          <p:cNvSpPr txBox="1"/>
          <p:nvPr/>
        </p:nvSpPr>
        <p:spPr>
          <a:xfrm>
            <a:off x="2051778" y="1802675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Flowgraph</a:t>
            </a:r>
            <a:endParaRPr lang="ru-RU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Номер слайда 1">
            <a:extLst>
              <a:ext uri="{FF2B5EF4-FFF2-40B4-BE49-F238E27FC236}">
                <a16:creationId xmlns:a16="http://schemas.microsoft.com/office/drawing/2014/main" id="{61DD4134-6BD9-BFE6-A1E6-0C4B9A30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2770" y="6453386"/>
            <a:ext cx="1596292" cy="404614"/>
          </a:xfrm>
        </p:spPr>
        <p:txBody>
          <a:bodyPr/>
          <a:lstStyle/>
          <a:p>
            <a:fld id="{D42C11EA-0E81-49E5-87AC-41FBF36ECF9D}" type="slidenum">
              <a:rPr lang="ru-RU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FFEF560-A95E-46B1-36BE-CF19A85F9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86" y="2629100"/>
            <a:ext cx="5406133" cy="285419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9DB70B2-D822-7DEB-99E5-6650BB5F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149" y="2517466"/>
            <a:ext cx="5257241" cy="36826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72DD83-E8BF-6B9B-4A33-BAB264A0A389}"/>
              </a:ext>
            </a:extLst>
          </p:cNvPr>
          <p:cNvSpPr txBox="1"/>
          <p:nvPr/>
        </p:nvSpPr>
        <p:spPr>
          <a:xfrm>
            <a:off x="7907589" y="2117356"/>
            <a:ext cx="4186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Можно дополнять!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9121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8AE481-795D-121A-FD70-9469C701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11EA-0E81-49E5-87AC-41FBF36ECF9D}" type="slidenum">
              <a:rPr lang="ru-RU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A07DAC-24CE-F5DC-C768-74BDF508E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496" y="1084331"/>
            <a:ext cx="10049691" cy="5207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28E62A-C582-2997-DDFA-50B19F2129F2}"/>
              </a:ext>
            </a:extLst>
          </p:cNvPr>
          <p:cNvSpPr txBox="1"/>
          <p:nvPr/>
        </p:nvSpPr>
        <p:spPr>
          <a:xfrm>
            <a:off x="4549685" y="304882"/>
            <a:ext cx="3595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видим на экране</a:t>
            </a:r>
          </a:p>
        </p:txBody>
      </p:sp>
    </p:spTree>
    <p:extLst>
      <p:ext uri="{BB962C8B-B14F-4D97-AF65-F5344CB8AC3E}">
        <p14:creationId xmlns:p14="http://schemas.microsoft.com/office/powerpoint/2010/main" val="43777310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1240</TotalTime>
  <Words>353</Words>
  <Application>Microsoft Office PowerPoint</Application>
  <PresentationFormat>Широкоэкранный</PresentationFormat>
  <Paragraphs>90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Franklin Gothic Book</vt:lpstr>
      <vt:lpstr>Symbol</vt:lpstr>
      <vt:lpstr>Times New Roman</vt:lpstr>
      <vt:lpstr>Уголки</vt:lpstr>
      <vt:lpstr>Презентация PowerPoint</vt:lpstr>
      <vt:lpstr>Стандарты радиосвязи</vt:lpstr>
      <vt:lpstr>Программно-определяемое радио </vt:lpstr>
      <vt:lpstr>Аппаратная часть</vt:lpstr>
      <vt:lpstr>Реализация ПЧ для переноса на 0</vt:lpstr>
      <vt:lpstr>Пример реализации приемной части в SDR устройстве</vt:lpstr>
      <vt:lpstr>Реализация FM приемника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1  «Обзор возможностей программы gnu radio»</dc:title>
  <dc:creator>Nasty</dc:creator>
  <cp:lastModifiedBy>NaumovaYD</cp:lastModifiedBy>
  <cp:revision>238</cp:revision>
  <dcterms:created xsi:type="dcterms:W3CDTF">2024-09-17T17:26:04Z</dcterms:created>
  <dcterms:modified xsi:type="dcterms:W3CDTF">2025-12-11T17:44:40Z</dcterms:modified>
</cp:coreProperties>
</file>