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77" r:id="rId5"/>
    <p:sldId id="282" r:id="rId6"/>
    <p:sldId id="268" r:id="rId7"/>
    <p:sldId id="278" r:id="rId8"/>
    <p:sldId id="279" r:id="rId9"/>
    <p:sldId id="280" r:id="rId10"/>
    <p:sldId id="281" r:id="rId11"/>
    <p:sldId id="276" r:id="rId12"/>
    <p:sldId id="264" r:id="rId13"/>
    <p:sldId id="259" r:id="rId14"/>
    <p:sldId id="260" r:id="rId15"/>
    <p:sldId id="266" r:id="rId16"/>
    <p:sldId id="267" r:id="rId17"/>
    <p:sldId id="261" r:id="rId18"/>
    <p:sldId id="269" r:id="rId19"/>
    <p:sldId id="262" r:id="rId20"/>
    <p:sldId id="265" r:id="rId21"/>
    <p:sldId id="270" r:id="rId22"/>
    <p:sldId id="271" r:id="rId23"/>
    <p:sldId id="272" r:id="rId24"/>
    <p:sldId id="273" r:id="rId25"/>
    <p:sldId id="274" r:id="rId26"/>
    <p:sldId id="275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43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image" Target="../media/image29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image" Target="../media/image35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2.emf"/><Relationship Id="rId1" Type="http://schemas.openxmlformats.org/officeDocument/2006/relationships/image" Target="../media/image41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image" Target="../media/image45.emf"/><Relationship Id="rId1" Type="http://schemas.openxmlformats.org/officeDocument/2006/relationships/image" Target="../media/image44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7.emf"/><Relationship Id="rId1" Type="http://schemas.openxmlformats.org/officeDocument/2006/relationships/image" Target="../media/image56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2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9.emf"/><Relationship Id="rId1" Type="http://schemas.openxmlformats.org/officeDocument/2006/relationships/image" Target="../media/image68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7.emf"/><Relationship Id="rId1" Type="http://schemas.openxmlformats.org/officeDocument/2006/relationships/image" Target="../media/image73.emf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84DA3CD5-4E8E-431E-BF98-E08F75DE224C}" type="datetimeFigureOut">
              <a:rPr lang="ru-RU" smtClean="0"/>
              <a:t>24.05.2023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59BED83D-B878-4C86-A7B6-8A33AFB2DB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2535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A3CD5-4E8E-431E-BF98-E08F75DE224C}" type="datetimeFigureOut">
              <a:rPr lang="ru-RU" smtClean="0"/>
              <a:t>24.05.2023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ED83D-B878-4C86-A7B6-8A33AFB2DB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8620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A3CD5-4E8E-431E-BF98-E08F75DE224C}" type="datetimeFigureOut">
              <a:rPr lang="ru-RU" smtClean="0"/>
              <a:t>24.05.2023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ED83D-B878-4C86-A7B6-8A33AFB2DB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5261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A3CD5-4E8E-431E-BF98-E08F75DE224C}" type="datetimeFigureOut">
              <a:rPr lang="ru-RU" smtClean="0"/>
              <a:t>24.05.2023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ED83D-B878-4C86-A7B6-8A33AFB2DB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4685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A3CD5-4E8E-431E-BF98-E08F75DE224C}" type="datetimeFigureOut">
              <a:rPr lang="ru-RU" smtClean="0"/>
              <a:t>24.05.2023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ED83D-B878-4C86-A7B6-8A33AFB2DB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8693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A3CD5-4E8E-431E-BF98-E08F75DE224C}" type="datetimeFigureOut">
              <a:rPr lang="ru-RU" smtClean="0"/>
              <a:t>24.05.2023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ED83D-B878-4C86-A7B6-8A33AFB2DB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8816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A3CD5-4E8E-431E-BF98-E08F75DE224C}" type="datetimeFigureOut">
              <a:rPr lang="ru-RU" smtClean="0"/>
              <a:t>24.05.2023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ED83D-B878-4C86-A7B6-8A33AFB2DB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7658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A3CD5-4E8E-431E-BF98-E08F75DE224C}" type="datetimeFigureOut">
              <a:rPr lang="ru-RU" smtClean="0"/>
              <a:t>24.05.2023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ED83D-B878-4C86-A7B6-8A33AFB2DB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4742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A3CD5-4E8E-431E-BF98-E08F75DE224C}" type="datetimeFigureOut">
              <a:rPr lang="ru-RU" smtClean="0"/>
              <a:t>24.05.2023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ED83D-B878-4C86-A7B6-8A33AFB2DB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1658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A3CD5-4E8E-431E-BF98-E08F75DE224C}" type="datetimeFigureOut">
              <a:rPr lang="ru-RU" smtClean="0"/>
              <a:t>24.05.2023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ED83D-B878-4C86-A7B6-8A33AFB2DB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4965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A3CD5-4E8E-431E-BF98-E08F75DE224C}" type="datetimeFigureOut">
              <a:rPr lang="ru-RU" smtClean="0"/>
              <a:t>24.05.2023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ED83D-B878-4C86-A7B6-8A33AFB2DB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55504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A3CD5-4E8E-431E-BF98-E08F75DE224C}" type="datetimeFigureOut">
              <a:rPr lang="ru-RU" smtClean="0"/>
              <a:t>24.05.2023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ED83D-B878-4C86-A7B6-8A33AFB2DB18}" type="slidenum">
              <a:rPr lang="ru-RU" smtClean="0"/>
              <a:t>‹#›</a:t>
            </a:fld>
            <a:endParaRPr lang="ru-RU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442371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A3CD5-4E8E-431E-BF98-E08F75DE224C}" type="datetimeFigureOut">
              <a:rPr lang="ru-RU" smtClean="0"/>
              <a:t>24.05.2023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ED83D-B878-4C86-A7B6-8A33AFB2DB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16590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A3CD5-4E8E-431E-BF98-E08F75DE224C}" type="datetimeFigureOut">
              <a:rPr lang="ru-RU" smtClean="0"/>
              <a:t>24.05.2023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ED83D-B878-4C86-A7B6-8A33AFB2DB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68239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A3CD5-4E8E-431E-BF98-E08F75DE224C}" type="datetimeFigureOut">
              <a:rPr lang="ru-RU" smtClean="0"/>
              <a:t>24.05.2023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ED83D-B878-4C86-A7B6-8A33AFB2DB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77853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A3CD5-4E8E-431E-BF98-E08F75DE224C}" type="datetimeFigureOut">
              <a:rPr lang="ru-RU" smtClean="0"/>
              <a:t>24.05.2023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ED83D-B878-4C86-A7B6-8A33AFB2DB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99168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A3CD5-4E8E-431E-BF98-E08F75DE224C}" type="datetimeFigureOut">
              <a:rPr lang="ru-RU" smtClean="0"/>
              <a:t>24.05.2023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ED83D-B878-4C86-A7B6-8A33AFB2DB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4517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DA3CD5-4E8E-431E-BF98-E08F75DE224C}" type="datetimeFigureOut">
              <a:rPr lang="ru-RU" smtClean="0"/>
              <a:t>24.05.2023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BED83D-B878-4C86-A7B6-8A33AFB2DB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7273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8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22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24.jpeg"/><Relationship Id="rId4" Type="http://schemas.openxmlformats.org/officeDocument/2006/relationships/image" Target="../media/image23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25.emf"/><Relationship Id="rId4" Type="http://schemas.openxmlformats.org/officeDocument/2006/relationships/oleObject" Target="../embeddings/oleObject7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7" Type="http://schemas.openxmlformats.org/officeDocument/2006/relationships/image" Target="../media/image31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0.e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29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jpe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8.jpeg"/><Relationship Id="rId5" Type="http://schemas.openxmlformats.org/officeDocument/2006/relationships/image" Target="../media/image37.jpeg"/><Relationship Id="rId4" Type="http://schemas.openxmlformats.org/officeDocument/2006/relationships/image" Target="../media/image35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e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42.e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41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e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5.e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44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9.jpeg"/><Relationship Id="rId5" Type="http://schemas.openxmlformats.org/officeDocument/2006/relationships/image" Target="../media/image48.jpeg"/><Relationship Id="rId4" Type="http://schemas.openxmlformats.org/officeDocument/2006/relationships/image" Target="../media/image47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4.jpeg"/><Relationship Id="rId5" Type="http://schemas.openxmlformats.org/officeDocument/2006/relationships/image" Target="../media/image53.jpeg"/><Relationship Id="rId4" Type="http://schemas.openxmlformats.org/officeDocument/2006/relationships/image" Target="../media/image52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jpeg"/><Relationship Id="rId3" Type="http://schemas.openxmlformats.org/officeDocument/2006/relationships/oleObject" Target="../embeddings/oleObject19.bin"/><Relationship Id="rId7" Type="http://schemas.openxmlformats.org/officeDocument/2006/relationships/image" Target="../media/image60.jpe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9.jpeg"/><Relationship Id="rId5" Type="http://schemas.openxmlformats.org/officeDocument/2006/relationships/image" Target="../media/image58.jpeg"/><Relationship Id="rId10" Type="http://schemas.openxmlformats.org/officeDocument/2006/relationships/image" Target="../media/image57.emf"/><Relationship Id="rId4" Type="http://schemas.openxmlformats.org/officeDocument/2006/relationships/image" Target="../media/image56.emf"/><Relationship Id="rId9" Type="http://schemas.openxmlformats.org/officeDocument/2006/relationships/oleObject" Target="../embeddings/oleObject20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64.jpeg"/><Relationship Id="rId5" Type="http://schemas.openxmlformats.org/officeDocument/2006/relationships/image" Target="../media/image63.jpeg"/><Relationship Id="rId4" Type="http://schemas.openxmlformats.org/officeDocument/2006/relationships/image" Target="../media/image62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7.jpe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jpeg"/><Relationship Id="rId3" Type="http://schemas.openxmlformats.org/officeDocument/2006/relationships/oleObject" Target="../embeddings/oleObject22.bin"/><Relationship Id="rId7" Type="http://schemas.openxmlformats.org/officeDocument/2006/relationships/image" Target="../media/image70.jpe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69.e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68.e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jpeg"/><Relationship Id="rId3" Type="http://schemas.openxmlformats.org/officeDocument/2006/relationships/oleObject" Target="../embeddings/oleObject24.bin"/><Relationship Id="rId7" Type="http://schemas.openxmlformats.org/officeDocument/2006/relationships/image" Target="../media/image74.jpe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57.e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73.emf"/><Relationship Id="rId9" Type="http://schemas.openxmlformats.org/officeDocument/2006/relationships/image" Target="../media/image76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eg"/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Измерение основных параметров РПУ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Лабораторный практикум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24627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Единицы измерения</a:t>
            </a:r>
            <a:r>
              <a:rPr lang="en-US" dirty="0" smtClean="0"/>
              <a:t> </a:t>
            </a:r>
            <a:endParaRPr lang="ru-RU" dirty="0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7189417"/>
              </p:ext>
            </p:extLst>
          </p:nvPr>
        </p:nvGraphicFramePr>
        <p:xfrm>
          <a:off x="3086903" y="1739996"/>
          <a:ext cx="5519410" cy="10132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7" name="Equation" r:id="rId3" imgW="2679480" imgH="495000" progId="Equation.DSMT4">
                  <p:embed/>
                </p:oleObj>
              </mc:Choice>
              <mc:Fallback>
                <p:oleObj name="Equation" r:id="rId3" imgW="2679480" imgH="4950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6903" y="1739996"/>
                        <a:ext cx="5519410" cy="10132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678075" y="149720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1678075" y="309740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1905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 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1" name="Объект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301761"/>
              </p:ext>
            </p:extLst>
          </p:nvPr>
        </p:nvGraphicFramePr>
        <p:xfrm>
          <a:off x="3086903" y="2892542"/>
          <a:ext cx="5599897" cy="10079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8" name="Equation" r:id="rId5" imgW="2730240" imgH="495000" progId="Equation.DSMT4">
                  <p:embed/>
                </p:oleObj>
              </mc:Choice>
              <mc:Fallback>
                <p:oleObj name="Equation" r:id="rId5" imgW="2730240" imgH="4950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6903" y="2892542"/>
                        <a:ext cx="5599897" cy="100798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Объект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1624235"/>
              </p:ext>
            </p:extLst>
          </p:nvPr>
        </p:nvGraphicFramePr>
        <p:xfrm>
          <a:off x="4234154" y="4260850"/>
          <a:ext cx="376237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9" name="Equation" r:id="rId7" imgW="1841400" imgH="291960" progId="Equation.DSMT4">
                  <p:embed/>
                </p:oleObj>
              </mc:Choice>
              <mc:Fallback>
                <p:oleObj name="Equation" r:id="rId7" imgW="184140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34154" y="4260850"/>
                        <a:ext cx="3762375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04794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Быстрый перевод</a:t>
            </a:r>
            <a:endParaRPr lang="ru-RU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98764" y="2097088"/>
            <a:ext cx="11984948" cy="2185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0 </a:t>
            </a:r>
            <a:r>
              <a:rPr kumimoji="0" lang="ru-RU" altLang="ru-RU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дБм</a:t>
            </a:r>
            <a:r>
              <a:rPr kumimoji="0" lang="ru-RU" alt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– 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мощность 1 мВт, амплитуда 0.32 В;</a:t>
            </a:r>
            <a:endParaRPr kumimoji="0" lang="ru-RU" altLang="ru-RU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10 </a:t>
            </a:r>
            <a:r>
              <a:rPr kumimoji="0" lang="ru-RU" altLang="ru-RU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дБм</a:t>
            </a:r>
            <a:r>
              <a:rPr kumimoji="0" lang="ru-RU" alt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- 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мощность 10мВт, амплитуда 1 В.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ru-RU" altLang="ru-RU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добавление (вычитание) </a:t>
            </a:r>
            <a:r>
              <a:rPr kumimoji="0" lang="ru-RU" alt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10 </a:t>
            </a:r>
            <a:r>
              <a:rPr kumimoji="0" lang="ru-RU" altLang="ru-RU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дБм</a:t>
            </a:r>
            <a:r>
              <a:rPr kumimoji="0" lang="ru-RU" alt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-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увеличение (уменьшение) мощности в 10 раз, а амплитуды</a:t>
            </a:r>
            <a:r>
              <a:rPr kumimoji="0" lang="ru-RU" altLang="ru-RU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altLang="ru-RU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в 3,2 раза;</a:t>
            </a:r>
            <a:endParaRPr kumimoji="0" lang="ru-RU" altLang="ru-RU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добавление (вычитание)</a:t>
            </a:r>
            <a:r>
              <a:rPr kumimoji="0" lang="ru-RU" alt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20 </a:t>
            </a:r>
            <a:r>
              <a:rPr kumimoji="0" lang="ru-RU" altLang="ru-RU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дБм</a:t>
            </a:r>
            <a:r>
              <a:rPr kumimoji="0" lang="ru-RU" alt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- 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увеличение (уменьшение) мощности в 100 раз, а амплитуды в 10 раз;</a:t>
            </a:r>
            <a:endParaRPr kumimoji="0" lang="ru-RU" altLang="ru-RU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добавление (вычитание) </a:t>
            </a:r>
            <a:r>
              <a:rPr kumimoji="0" lang="ru-RU" alt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6 дБ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- увеличение (уменьшение) мощности в 4 раза, а амплитуды в 2 раза;</a:t>
            </a:r>
            <a:endParaRPr lang="ru-RU" altLang="ru-RU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endParaRPr kumimoji="0" lang="ru-RU" alt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9148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Используемое оборудование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7" t="19670" b="12739"/>
          <a:stretch/>
        </p:blipFill>
        <p:spPr>
          <a:xfrm>
            <a:off x="6002447" y="3603279"/>
            <a:ext cx="5398852" cy="279119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1" t="32475" r="2212" b="15157"/>
          <a:stretch/>
        </p:blipFill>
        <p:spPr>
          <a:xfrm>
            <a:off x="860080" y="1596292"/>
            <a:ext cx="5561110" cy="226953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TextBox 9"/>
          <p:cNvSpPr txBox="1"/>
          <p:nvPr/>
        </p:nvSpPr>
        <p:spPr>
          <a:xfrm>
            <a:off x="2164248" y="3865829"/>
            <a:ext cx="2303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Генератор сигналова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7622122" y="6394473"/>
            <a:ext cx="2159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Анализатор спектра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987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Анализатор спектра, построенный по принципу супергетеродинного приемника</a:t>
            </a:r>
            <a:endParaRPr lang="en-US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1313485"/>
              </p:ext>
            </p:extLst>
          </p:nvPr>
        </p:nvGraphicFramePr>
        <p:xfrm>
          <a:off x="1752600" y="2097088"/>
          <a:ext cx="7315200" cy="33563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3" r:id="rId3" imgW="4047097" imgH="1859128" progId="Visio.Drawing.11">
                  <p:embed/>
                </p:oleObj>
              </mc:Choice>
              <mc:Fallback>
                <p:oleObj r:id="rId3" imgW="4047097" imgH="1859128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2097088"/>
                        <a:ext cx="7315200" cy="335638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31641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Основы работы с контрольно-измерительным оборудование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Работа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542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Контроль области исследуемых частот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88" t="35776" r="42607" b="28580"/>
          <a:stretch/>
        </p:blipFill>
        <p:spPr>
          <a:xfrm>
            <a:off x="860079" y="1611516"/>
            <a:ext cx="4155541" cy="224399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38678" y="4118059"/>
            <a:ext cx="2832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Автоматическая настройка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1141413" y="3404104"/>
            <a:ext cx="3657600" cy="534154"/>
          </a:xfrm>
          <a:prstGeom prst="ellipse">
            <a:avLst/>
          </a:prstGeom>
          <a:noFill/>
          <a:ln w="76200">
            <a:solidFill>
              <a:schemeClr val="tx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Curved Connector 11"/>
          <p:cNvCxnSpPr>
            <a:stCxn id="4" idx="1"/>
          </p:cNvCxnSpPr>
          <p:nvPr/>
        </p:nvCxnSpPr>
        <p:spPr>
          <a:xfrm rot="10800000">
            <a:off x="1358020" y="3855509"/>
            <a:ext cx="280658" cy="447216"/>
          </a:xfrm>
          <a:prstGeom prst="curvedConnector2">
            <a:avLst/>
          </a:prstGeom>
          <a:ln w="76200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20" t="24159" r="5478" b="4819"/>
          <a:stretch/>
        </p:blipFill>
        <p:spPr>
          <a:xfrm>
            <a:off x="5296279" y="1620570"/>
            <a:ext cx="3811508" cy="225836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8" t="22442" r="5083" b="7195"/>
          <a:stretch/>
        </p:blipFill>
        <p:spPr>
          <a:xfrm>
            <a:off x="5296279" y="4079117"/>
            <a:ext cx="3811508" cy="223245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TextBox 14"/>
          <p:cNvSpPr txBox="1"/>
          <p:nvPr/>
        </p:nvSpPr>
        <p:spPr>
          <a:xfrm>
            <a:off x="9795849" y="2917730"/>
            <a:ext cx="21728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Автоматическая регулировка при различных значениях </a:t>
            </a:r>
            <a:r>
              <a:rPr lang="en-US" dirty="0" smtClean="0"/>
              <a:t>Span</a:t>
            </a:r>
            <a:endParaRPr lang="en-US" dirty="0"/>
          </a:p>
        </p:txBody>
      </p:sp>
      <p:cxnSp>
        <p:nvCxnSpPr>
          <p:cNvPr id="17" name="Curved Connector 16"/>
          <p:cNvCxnSpPr/>
          <p:nvPr/>
        </p:nvCxnSpPr>
        <p:spPr>
          <a:xfrm rot="10800000">
            <a:off x="9107787" y="2097088"/>
            <a:ext cx="1303698" cy="820642"/>
          </a:xfrm>
          <a:prstGeom prst="curvedConnector3">
            <a:avLst>
              <a:gd name="adj1" fmla="val -36805"/>
            </a:avLst>
          </a:prstGeom>
          <a:ln w="76200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urved Connector 19"/>
          <p:cNvCxnSpPr/>
          <p:nvPr/>
        </p:nvCxnSpPr>
        <p:spPr>
          <a:xfrm rot="10800000" flipV="1">
            <a:off x="9107787" y="4233843"/>
            <a:ext cx="1303698" cy="820642"/>
          </a:xfrm>
          <a:prstGeom prst="curvedConnector3">
            <a:avLst>
              <a:gd name="adj1" fmla="val -36805"/>
            </a:avLst>
          </a:prstGeom>
          <a:ln w="76200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303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Влияние полосы </a:t>
            </a:r>
            <a:r>
              <a:rPr lang="en-US" dirty="0" smtClean="0"/>
              <a:t>RBW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02" r="7857" b="9206"/>
          <a:stretch/>
        </p:blipFill>
        <p:spPr>
          <a:xfrm>
            <a:off x="6147253" y="1752598"/>
            <a:ext cx="3996644" cy="239075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88" t="35776" r="42607" b="28580"/>
          <a:stretch/>
        </p:blipFill>
        <p:spPr>
          <a:xfrm>
            <a:off x="1088198" y="1774617"/>
            <a:ext cx="4155541" cy="2243993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1369532" y="3567205"/>
            <a:ext cx="3657600" cy="534154"/>
          </a:xfrm>
          <a:prstGeom prst="ellipse">
            <a:avLst/>
          </a:prstGeom>
          <a:noFill/>
          <a:ln w="76200">
            <a:solidFill>
              <a:schemeClr val="tx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Curved Connector 6"/>
          <p:cNvCxnSpPr/>
          <p:nvPr/>
        </p:nvCxnSpPr>
        <p:spPr>
          <a:xfrm rot="10800000">
            <a:off x="1586139" y="4018610"/>
            <a:ext cx="280658" cy="447216"/>
          </a:xfrm>
          <a:prstGeom prst="curvedConnector2">
            <a:avLst/>
          </a:prstGeom>
          <a:ln w="76200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943478" y="4368098"/>
            <a:ext cx="2832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Автоматическая настройка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549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Влияние полосы </a:t>
            </a:r>
            <a:r>
              <a:rPr lang="en-US" dirty="0"/>
              <a:t>V</a:t>
            </a:r>
            <a:r>
              <a:rPr lang="en-US" dirty="0" smtClean="0"/>
              <a:t>BW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88" t="35776" r="42607" b="28580"/>
          <a:stretch/>
        </p:blipFill>
        <p:spPr>
          <a:xfrm>
            <a:off x="1088198" y="1774617"/>
            <a:ext cx="4155541" cy="2243993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1369532" y="3567205"/>
            <a:ext cx="3657600" cy="534154"/>
          </a:xfrm>
          <a:prstGeom prst="ellipse">
            <a:avLst/>
          </a:prstGeom>
          <a:noFill/>
          <a:ln w="76200">
            <a:solidFill>
              <a:schemeClr val="tx1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Curved Connector 6"/>
          <p:cNvCxnSpPr/>
          <p:nvPr/>
        </p:nvCxnSpPr>
        <p:spPr>
          <a:xfrm rot="10800000">
            <a:off x="1586139" y="4018610"/>
            <a:ext cx="280658" cy="447216"/>
          </a:xfrm>
          <a:prstGeom prst="curvedConnector2">
            <a:avLst/>
          </a:prstGeom>
          <a:ln w="76200">
            <a:solidFill>
              <a:schemeClr val="tx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943478" y="4368098"/>
            <a:ext cx="2832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Автоматическая настройка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47" t="15873" b="13016"/>
          <a:stretch/>
        </p:blipFill>
        <p:spPr>
          <a:xfrm>
            <a:off x="5704114" y="1774617"/>
            <a:ext cx="4016829" cy="229240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57" t="18572" b="10000"/>
          <a:stretch/>
        </p:blipFill>
        <p:spPr>
          <a:xfrm>
            <a:off x="5704114" y="4168300"/>
            <a:ext cx="4016829" cy="2400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002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47845"/>
          </a:xfrm>
        </p:spPr>
        <p:txBody>
          <a:bodyPr/>
          <a:lstStyle/>
          <a:p>
            <a:r>
              <a:rPr lang="ru-RU" dirty="0" smtClean="0"/>
              <a:t>Исследование спектра ЧМ-сигнала</a:t>
            </a:r>
            <a:endParaRPr lang="en-US" dirty="0"/>
          </a:p>
        </p:txBody>
      </p:sp>
      <p:grpSp>
        <p:nvGrpSpPr>
          <p:cNvPr id="49" name="Group 48"/>
          <p:cNvGrpSpPr/>
          <p:nvPr/>
        </p:nvGrpSpPr>
        <p:grpSpPr>
          <a:xfrm>
            <a:off x="1141413" y="1679365"/>
            <a:ext cx="4898309" cy="3932031"/>
            <a:chOff x="1141413" y="1679365"/>
            <a:chExt cx="4898309" cy="3932031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500" t="11392" r="12857" b="22785"/>
            <a:stretch/>
          </p:blipFill>
          <p:spPr>
            <a:xfrm>
              <a:off x="1141413" y="3870021"/>
              <a:ext cx="2624620" cy="1741375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309" t="8730" r="17500" b="13016"/>
            <a:stretch/>
          </p:blipFill>
          <p:spPr>
            <a:xfrm>
              <a:off x="1141413" y="1679365"/>
              <a:ext cx="2624620" cy="2021778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4114800" y="2199420"/>
              <a:ext cx="112293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600" dirty="0" smtClean="0"/>
                <a:t>Режим ЧМ</a:t>
              </a:r>
              <a:endParaRPr lang="en-US" sz="1600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108819" y="2392980"/>
              <a:ext cx="16251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600" dirty="0"/>
                <a:t>н</a:t>
              </a:r>
              <a:r>
                <a:rPr lang="ru-RU" sz="1600" dirty="0" smtClean="0"/>
                <a:t>есущая частота</a:t>
              </a:r>
              <a:endParaRPr lang="en-US" sz="1600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108820" y="2633399"/>
              <a:ext cx="163217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600" dirty="0" smtClean="0"/>
                <a:t>уровень сигнала</a:t>
              </a:r>
              <a:endParaRPr lang="en-US" sz="1600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108819" y="2876798"/>
              <a:ext cx="176272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600" dirty="0" smtClean="0"/>
                <a:t>девиация частоты</a:t>
              </a:r>
              <a:endParaRPr lang="en-US" sz="1600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180110" y="4348066"/>
              <a:ext cx="176272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600" dirty="0" smtClean="0"/>
                <a:t>девиация частоты</a:t>
              </a:r>
              <a:endParaRPr lang="en-US" sz="1600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180110" y="4708050"/>
              <a:ext cx="18596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600" dirty="0" smtClean="0"/>
                <a:t>частота модуляции</a:t>
              </a:r>
              <a:endParaRPr lang="en-US" sz="1600" dirty="0"/>
            </a:p>
          </p:txBody>
        </p:sp>
        <p:cxnSp>
          <p:nvCxnSpPr>
            <p:cNvPr id="12" name="Straight Connector 11"/>
            <p:cNvCxnSpPr/>
            <p:nvPr/>
          </p:nvCxnSpPr>
          <p:spPr>
            <a:xfrm flipH="1">
              <a:off x="3752050" y="2351429"/>
              <a:ext cx="406292" cy="0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Elbow Connector 15"/>
            <p:cNvCxnSpPr/>
            <p:nvPr/>
          </p:nvCxnSpPr>
          <p:spPr>
            <a:xfrm rot="10800000">
              <a:off x="3755147" y="2898283"/>
              <a:ext cx="375445" cy="147793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Elbow Connector 38"/>
            <p:cNvCxnSpPr>
              <a:stCxn id="7" idx="1"/>
              <a:endCxn id="4" idx="3"/>
            </p:cNvCxnSpPr>
            <p:nvPr/>
          </p:nvCxnSpPr>
          <p:spPr>
            <a:xfrm rot="10800000">
              <a:off x="3766034" y="2690254"/>
              <a:ext cx="342787" cy="112422"/>
            </a:xfrm>
            <a:prstGeom prst="bentConnector3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flipH="1">
              <a:off x="3773818" y="2558259"/>
              <a:ext cx="406292" cy="0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flipH="1">
              <a:off x="3773818" y="4543964"/>
              <a:ext cx="406292" cy="0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flipH="1">
              <a:off x="3773818" y="4877443"/>
              <a:ext cx="406292" cy="0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7" name="Picture 46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7" t="17302" r="1786" b="9524"/>
          <a:stretch/>
        </p:blipFill>
        <p:spPr>
          <a:xfrm>
            <a:off x="6039722" y="1937484"/>
            <a:ext cx="5503368" cy="321146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33653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Измерение параметров фильтра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Работа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32108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Фильтры</a:t>
            </a:r>
            <a:br>
              <a:rPr lang="ru-RU" dirty="0" smtClean="0"/>
            </a:b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35" t="14687" r="27812" b="7995"/>
          <a:stretch/>
        </p:blipFill>
        <p:spPr>
          <a:xfrm rot="5400000">
            <a:off x="6835385" y="1218463"/>
            <a:ext cx="1818751" cy="330069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59" t="14919" r="20360" b="5265"/>
          <a:stretch/>
        </p:blipFill>
        <p:spPr>
          <a:xfrm rot="5400000">
            <a:off x="2298813" y="1380742"/>
            <a:ext cx="1818750" cy="297614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835" t="12621" r="23956" b="15486"/>
          <a:stretch/>
        </p:blipFill>
        <p:spPr>
          <a:xfrm rot="5400000">
            <a:off x="2346886" y="3794505"/>
            <a:ext cx="1722605" cy="29761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24" t="13207" r="25128" b="11970"/>
          <a:stretch/>
        </p:blipFill>
        <p:spPr>
          <a:xfrm rot="5400000">
            <a:off x="6814015" y="3694643"/>
            <a:ext cx="1861491" cy="330069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2306649" y="1590104"/>
            <a:ext cx="1174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Бригада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7030" y="1586316"/>
            <a:ext cx="1174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Бригада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06649" y="4044915"/>
            <a:ext cx="1174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Бригада 3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6802734" y="4010199"/>
            <a:ext cx="1174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Бригада 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3471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Основные параметры фильтров</a:t>
            </a:r>
            <a:endParaRPr lang="ru-RU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987136" y="185997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pSp>
        <p:nvGrpSpPr>
          <p:cNvPr id="8" name="Группа 7"/>
          <p:cNvGrpSpPr/>
          <p:nvPr/>
        </p:nvGrpSpPr>
        <p:grpSpPr>
          <a:xfrm>
            <a:off x="987136" y="1745673"/>
            <a:ext cx="5122719" cy="3325091"/>
            <a:chOff x="987136" y="1745673"/>
            <a:chExt cx="4520046" cy="2795154"/>
          </a:xfrm>
        </p:grpSpPr>
        <p:sp>
          <p:nvSpPr>
            <p:cNvPr id="7" name="Прямоугольник 6"/>
            <p:cNvSpPr/>
            <p:nvPr/>
          </p:nvSpPr>
          <p:spPr>
            <a:xfrm>
              <a:off x="987136" y="1745673"/>
              <a:ext cx="4520046" cy="279515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aphicFrame>
          <p:nvGraphicFramePr>
            <p:cNvPr id="6" name="Объект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2747993"/>
                </p:ext>
              </p:extLst>
            </p:nvPr>
          </p:nvGraphicFramePr>
          <p:xfrm>
            <a:off x="987136" y="1859973"/>
            <a:ext cx="4275138" cy="2492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0" r:id="rId3" imgW="3267528" imgH="1904040" progId="Visio.Drawing.11">
                    <p:embed/>
                  </p:oleObj>
                </mc:Choice>
                <mc:Fallback>
                  <p:oleObj r:id="rId3" imgW="3267528" imgH="1904040" progId="Visio.Drawing.11">
                    <p:embed/>
                    <p:pic>
                      <p:nvPicPr>
                        <p:cNvPr id="0" name="Object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87136" y="1859973"/>
                          <a:ext cx="4275138" cy="24923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TextBox 8"/>
          <p:cNvSpPr txBox="1"/>
          <p:nvPr/>
        </p:nvSpPr>
        <p:spPr>
          <a:xfrm>
            <a:off x="6567056" y="2097088"/>
            <a:ext cx="528897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Амплитудно-частотная характеристика: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Полоса пропускания и частота </a:t>
            </a:r>
            <a:r>
              <a:rPr lang="ru-RU" dirty="0" err="1" smtClean="0"/>
              <a:t>среха</a:t>
            </a:r>
            <a:endParaRPr lang="ru-RU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Неравномерность АЧХ в полосе пропускания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Полоса подавления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Наибольший коэффициент отражения по входу и выходу в полосе пропускания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763036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Измерение АЧХ фильтра</a:t>
            </a:r>
            <a:endParaRPr lang="ru-RU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2994409" y="188909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pSp>
        <p:nvGrpSpPr>
          <p:cNvPr id="8" name="Группа 7"/>
          <p:cNvGrpSpPr/>
          <p:nvPr/>
        </p:nvGrpSpPr>
        <p:grpSpPr>
          <a:xfrm>
            <a:off x="1035284" y="2389215"/>
            <a:ext cx="5606981" cy="1708220"/>
            <a:chOff x="2612571" y="1728316"/>
            <a:chExt cx="5606981" cy="1708220"/>
          </a:xfrm>
        </p:grpSpPr>
        <p:sp>
          <p:nvSpPr>
            <p:cNvPr id="7" name="Прямоугольник 6"/>
            <p:cNvSpPr/>
            <p:nvPr/>
          </p:nvSpPr>
          <p:spPr>
            <a:xfrm>
              <a:off x="2612571" y="1728316"/>
              <a:ext cx="5606981" cy="170822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aphicFrame>
          <p:nvGraphicFramePr>
            <p:cNvPr id="6" name="Объект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72709868"/>
                </p:ext>
              </p:extLst>
            </p:nvPr>
          </p:nvGraphicFramePr>
          <p:xfrm>
            <a:off x="2994409" y="1889091"/>
            <a:ext cx="4922838" cy="1235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99" r:id="rId3" imgW="2746982" imgH="696060" progId="Visio.Drawing.11">
                    <p:embed/>
                  </p:oleObj>
                </mc:Choice>
                <mc:Fallback>
                  <p:oleObj r:id="rId3" imgW="2746982" imgH="696060" progId="Visio.Drawing.11">
                    <p:embed/>
                    <p:pic>
                      <p:nvPicPr>
                        <p:cNvPr id="0" name="Object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94409" y="1889091"/>
                          <a:ext cx="4922838" cy="12350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4762919" y="414996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5" name="TextBox 14"/>
          <p:cNvSpPr txBox="1"/>
          <p:nvPr/>
        </p:nvSpPr>
        <p:spPr>
          <a:xfrm>
            <a:off x="2496963" y="4159373"/>
            <a:ext cx="2367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Схема измерения АЧХ</a:t>
            </a:r>
            <a:endParaRPr lang="ru-RU" dirty="0"/>
          </a:p>
        </p:txBody>
      </p:sp>
      <p:sp>
        <p:nvSpPr>
          <p:cNvPr id="16" name="TextBox 15"/>
          <p:cNvSpPr txBox="1"/>
          <p:nvPr/>
        </p:nvSpPr>
        <p:spPr>
          <a:xfrm>
            <a:off x="5045353" y="3635898"/>
            <a:ext cx="1596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Измерить - Р1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19" name="Рисунок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4289" y="1728316"/>
            <a:ext cx="4133122" cy="309984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29286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12"/>
          <a:stretch/>
        </p:blipFill>
        <p:spPr>
          <a:xfrm rot="5400000">
            <a:off x="7129495" y="1393047"/>
            <a:ext cx="3623535" cy="344930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4" name="Группа 12"/>
          <p:cNvGrpSpPr/>
          <p:nvPr/>
        </p:nvGrpSpPr>
        <p:grpSpPr>
          <a:xfrm>
            <a:off x="1480174" y="1305932"/>
            <a:ext cx="5104562" cy="1537398"/>
            <a:chOff x="2903547" y="4040082"/>
            <a:chExt cx="5104562" cy="1537398"/>
          </a:xfrm>
        </p:grpSpPr>
        <p:sp>
          <p:nvSpPr>
            <p:cNvPr id="5" name="Прямоугольник 11"/>
            <p:cNvSpPr/>
            <p:nvPr/>
          </p:nvSpPr>
          <p:spPr>
            <a:xfrm>
              <a:off x="2903547" y="4040082"/>
              <a:ext cx="5104562" cy="1537398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aphicFrame>
          <p:nvGraphicFramePr>
            <p:cNvPr id="6" name="Объект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8442511"/>
                </p:ext>
              </p:extLst>
            </p:nvPr>
          </p:nvGraphicFramePr>
          <p:xfrm>
            <a:off x="3175279" y="4149969"/>
            <a:ext cx="4389438" cy="1317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14" r:id="rId4" imgW="2296940" imgH="696060" progId="Visio.Drawing.11">
                    <p:embed/>
                  </p:oleObj>
                </mc:Choice>
                <mc:Fallback>
                  <p:oleObj r:id="rId4" imgW="2296940" imgH="696060" progId="Visio.Drawing.11">
                    <p:embed/>
                    <p:pic>
                      <p:nvPicPr>
                        <p:cNvPr id="11" name="Объект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75279" y="4149969"/>
                          <a:ext cx="4389438" cy="1317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TextBox 6"/>
          <p:cNvSpPr txBox="1"/>
          <p:nvPr/>
        </p:nvSpPr>
        <p:spPr>
          <a:xfrm>
            <a:off x="2827080" y="2896090"/>
            <a:ext cx="2014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Схема калибровки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4949352" y="2466227"/>
            <a:ext cx="1635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Измерить – Р2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80174" y="3476536"/>
            <a:ext cx="28459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/>
              <a:t>АЧХ:</a:t>
            </a:r>
          </a:p>
          <a:p>
            <a:r>
              <a:rPr lang="en-US" sz="2800" dirty="0" smtClean="0"/>
              <a:t>K = P1-P2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8913263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552" y="381839"/>
            <a:ext cx="4742822" cy="355711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6145" y="2451071"/>
            <a:ext cx="5051939" cy="378895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397731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Измерение модуля коэффициента отражения</a:t>
            </a:r>
            <a:br>
              <a:rPr lang="ru-RU" dirty="0"/>
            </a:br>
            <a:endParaRPr lang="ru-RU" dirty="0"/>
          </a:p>
        </p:txBody>
      </p:sp>
      <p:grpSp>
        <p:nvGrpSpPr>
          <p:cNvPr id="9" name="Группа 8"/>
          <p:cNvGrpSpPr/>
          <p:nvPr/>
        </p:nvGrpSpPr>
        <p:grpSpPr>
          <a:xfrm>
            <a:off x="1383670" y="1557495"/>
            <a:ext cx="3360249" cy="1688123"/>
            <a:chOff x="1141413" y="2361363"/>
            <a:chExt cx="3360249" cy="1688123"/>
          </a:xfrm>
        </p:grpSpPr>
        <p:sp>
          <p:nvSpPr>
            <p:cNvPr id="8" name="Прямоугольник 7"/>
            <p:cNvSpPr/>
            <p:nvPr/>
          </p:nvSpPr>
          <p:spPr>
            <a:xfrm>
              <a:off x="1141413" y="2361363"/>
              <a:ext cx="3360249" cy="168812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aphicFrame>
          <p:nvGraphicFramePr>
            <p:cNvPr id="7" name="Объект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70751205"/>
                </p:ext>
              </p:extLst>
            </p:nvPr>
          </p:nvGraphicFramePr>
          <p:xfrm>
            <a:off x="1342781" y="2528486"/>
            <a:ext cx="2976563" cy="12620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89" r:id="rId3" imgW="2026807" imgH="856980" progId="">
                    <p:embed/>
                  </p:oleObj>
                </mc:Choice>
                <mc:Fallback>
                  <p:oleObj r:id="rId3" imgW="2026807" imgH="856980" progId="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2781" y="2528486"/>
                          <a:ext cx="2976563" cy="12620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2833635" y="155749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pSp>
        <p:nvGrpSpPr>
          <p:cNvPr id="14" name="Группа 13"/>
          <p:cNvGrpSpPr/>
          <p:nvPr/>
        </p:nvGrpSpPr>
        <p:grpSpPr>
          <a:xfrm>
            <a:off x="1232345" y="3412740"/>
            <a:ext cx="5876646" cy="2903974"/>
            <a:chOff x="2351314" y="1406769"/>
            <a:chExt cx="5876646" cy="2903974"/>
          </a:xfrm>
        </p:grpSpPr>
        <p:sp>
          <p:nvSpPr>
            <p:cNvPr id="13" name="Прямоугольник 12"/>
            <p:cNvSpPr/>
            <p:nvPr/>
          </p:nvSpPr>
          <p:spPr>
            <a:xfrm>
              <a:off x="2351314" y="1406769"/>
              <a:ext cx="5876646" cy="290397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aphicFrame>
          <p:nvGraphicFramePr>
            <p:cNvPr id="12" name="Объект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24696766"/>
                </p:ext>
              </p:extLst>
            </p:nvPr>
          </p:nvGraphicFramePr>
          <p:xfrm>
            <a:off x="2592474" y="1557495"/>
            <a:ext cx="5394325" cy="2536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90" r:id="rId5" imgW="4115205" imgH="1936980" progId="Visio.Drawing.11">
                    <p:embed/>
                  </p:oleObj>
                </mc:Choice>
                <mc:Fallback>
                  <p:oleObj r:id="rId5" imgW="4115205" imgH="1936980" progId="Visio.Drawing.11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2474" y="1557495"/>
                          <a:ext cx="5394325" cy="25368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TextBox 14"/>
          <p:cNvSpPr txBox="1"/>
          <p:nvPr/>
        </p:nvSpPr>
        <p:spPr>
          <a:xfrm>
            <a:off x="4890533" y="1941044"/>
            <a:ext cx="61568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latin typeface="Times New Roman" panose="02020603050405020304" pitchFamily="18" charset="0"/>
              </a:rPr>
              <a:t>IN – вход (падающая волна),  OUT- выход - первичная линия</a:t>
            </a:r>
          </a:p>
          <a:p>
            <a:r>
              <a:rPr lang="ru-RU" dirty="0" smtClean="0">
                <a:latin typeface="Times New Roman" panose="02020603050405020304" pitchFamily="18" charset="0"/>
              </a:rPr>
              <a:t>CPL </a:t>
            </a:r>
            <a:r>
              <a:rPr lang="ru-RU" dirty="0">
                <a:latin typeface="Times New Roman" panose="02020603050405020304" pitchFamily="18" charset="0"/>
              </a:rPr>
              <a:t>IN (</a:t>
            </a:r>
            <a:r>
              <a:rPr lang="ru-RU" dirty="0" err="1">
                <a:latin typeface="Times New Roman" panose="02020603050405020304" pitchFamily="18" charset="0"/>
              </a:rPr>
              <a:t>Coupled</a:t>
            </a:r>
            <a:r>
              <a:rPr lang="ru-RU" dirty="0">
                <a:latin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</a:rPr>
              <a:t>Input</a:t>
            </a:r>
            <a:r>
              <a:rPr lang="ru-RU" dirty="0" smtClean="0">
                <a:latin typeface="Times New Roman" panose="02020603050405020304" pitchFamily="18" charset="0"/>
              </a:rPr>
              <a:t>), </a:t>
            </a:r>
            <a:r>
              <a:rPr lang="ru-RU" dirty="0">
                <a:latin typeface="Times New Roman" panose="02020603050405020304" pitchFamily="18" charset="0"/>
              </a:rPr>
              <a:t>CPL </a:t>
            </a:r>
            <a:r>
              <a:rPr lang="ru-RU" dirty="0" smtClean="0">
                <a:latin typeface="Times New Roman" panose="02020603050405020304" pitchFamily="18" charset="0"/>
              </a:rPr>
              <a:t>OUT – вторичная линия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25" t="21804" r="13846" b="11774"/>
          <a:stretch/>
        </p:blipFill>
        <p:spPr>
          <a:xfrm rot="5400000">
            <a:off x="7501092" y="3026191"/>
            <a:ext cx="3526975" cy="341643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110495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Измерение параметров усилителя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Работа 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3639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Основные параметры усилителей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950494" y="1819986"/>
            <a:ext cx="980124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36195" lvl="0" indent="-342900" algn="just">
              <a:spcAft>
                <a:spcPts val="0"/>
              </a:spcAft>
              <a:buSzPts val="1400"/>
              <a:buFont typeface="Symbol" panose="05050102010706020507" pitchFamily="18" charset="2"/>
              <a:buChar char=""/>
            </a:pPr>
            <a:r>
              <a:rPr lang="x-none" spc="-1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коэффициент усиления;</a:t>
            </a:r>
            <a:endParaRPr lang="ru-RU" sz="16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34925" lvl="0" indent="-342900" algn="just">
              <a:spcAft>
                <a:spcPts val="0"/>
              </a:spcAft>
              <a:buSzPts val="1400"/>
              <a:buFont typeface="Symbol" panose="05050102010706020507" pitchFamily="18" charset="2"/>
              <a:buChar char=""/>
            </a:pPr>
            <a:r>
              <a:rPr lang="x-none" spc="-1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коэффициент шума;</a:t>
            </a:r>
            <a:endParaRPr lang="ru-RU" sz="16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34925" lvl="0" indent="-342900" algn="just">
              <a:spcAft>
                <a:spcPts val="0"/>
              </a:spcAft>
              <a:buSzPts val="1400"/>
              <a:buFont typeface="Symbol" panose="05050102010706020507" pitchFamily="18" charset="2"/>
              <a:buChar char=""/>
            </a:pPr>
            <a:r>
              <a:rPr lang="ru-RU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м</a:t>
            </a:r>
            <a:r>
              <a:rPr lang="x-none" spc="-1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одул</a:t>
            </a:r>
            <a:r>
              <a:rPr lang="ru-RU" spc="-1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ь коэффициента отражения</a:t>
            </a:r>
            <a:r>
              <a:rPr lang="x-none" spc="-1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по </a:t>
            </a:r>
            <a:r>
              <a:rPr lang="x-none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входу и выходу </a:t>
            </a:r>
            <a:r>
              <a:rPr lang="x-none" spc="-1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усилителя;</a:t>
            </a:r>
            <a:endParaRPr lang="ru-RU" sz="16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34925" lvl="0" indent="-342900" algn="just">
              <a:spcAft>
                <a:spcPts val="0"/>
              </a:spcAft>
              <a:buSzPts val="1400"/>
              <a:buFont typeface="Symbol" panose="05050102010706020507" pitchFamily="18" charset="2"/>
              <a:buChar char=""/>
            </a:pPr>
            <a:r>
              <a:rPr lang="x-none" spc="-1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точк</a:t>
            </a:r>
            <a:r>
              <a:rPr lang="ru-RU" spc="-1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а</a:t>
            </a:r>
            <a:r>
              <a:rPr lang="x-none" spc="-1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x-none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одно-децибельной компрессии </a:t>
            </a:r>
            <a:r>
              <a:rPr lang="x-none" spc="-1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x-none" spc="-10" baseline="-25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1dB</a:t>
            </a:r>
            <a:r>
              <a:rPr lang="x-none" spc="-1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6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34925" lvl="0" indent="-342900" algn="just">
              <a:spcAft>
                <a:spcPts val="0"/>
              </a:spcAft>
              <a:buSzPts val="1400"/>
              <a:buFont typeface="Symbol" panose="05050102010706020507" pitchFamily="18" charset="2"/>
              <a:buChar char=""/>
            </a:pPr>
            <a:r>
              <a:rPr lang="x-none" spc="-1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точк</a:t>
            </a:r>
            <a:r>
              <a:rPr lang="ru-RU" spc="-1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а</a:t>
            </a:r>
            <a:r>
              <a:rPr lang="x-none" spc="-1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x-none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пересечения по интермодуляции 3-го порядка (</a:t>
            </a:r>
            <a:r>
              <a:rPr lang="x-none" i="1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IP3</a:t>
            </a:r>
            <a:r>
              <a:rPr lang="x-none" spc="-1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);</a:t>
            </a:r>
            <a:endParaRPr lang="ru-RU" sz="16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58" t="24553" r="45621" b="23856"/>
          <a:stretch/>
        </p:blipFill>
        <p:spPr>
          <a:xfrm rot="5400000">
            <a:off x="3316941" y="3638170"/>
            <a:ext cx="1757083" cy="265355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24" t="7822" r="34902" b="12875"/>
          <a:stretch/>
        </p:blipFill>
        <p:spPr>
          <a:xfrm rot="5400000">
            <a:off x="6454017" y="2807921"/>
            <a:ext cx="1157949" cy="262122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98" t="23975" r="46405" b="9619"/>
          <a:stretch/>
        </p:blipFill>
        <p:spPr>
          <a:xfrm rot="5400000">
            <a:off x="6283086" y="4262304"/>
            <a:ext cx="1499810" cy="2621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3220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коэффициент усиления</a:t>
            </a:r>
            <a:endParaRPr lang="ru-RU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28165" y="197223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032553" y="1772198"/>
            <a:ext cx="5063447" cy="1410273"/>
            <a:chOff x="1141413" y="1763234"/>
            <a:chExt cx="5473255" cy="1571636"/>
          </a:xfrm>
        </p:grpSpPr>
        <p:sp>
          <p:nvSpPr>
            <p:cNvPr id="6" name="Прямоугольник 12"/>
            <p:cNvSpPr/>
            <p:nvPr/>
          </p:nvSpPr>
          <p:spPr>
            <a:xfrm>
              <a:off x="1141413" y="1763234"/>
              <a:ext cx="5473255" cy="157163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aphicFrame>
          <p:nvGraphicFramePr>
            <p:cNvPr id="4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30996318"/>
                </p:ext>
              </p:extLst>
            </p:nvPr>
          </p:nvGraphicFramePr>
          <p:xfrm>
            <a:off x="1495822" y="1887059"/>
            <a:ext cx="4953000" cy="1247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99" r:id="rId3" imgW="2746982" imgH="696060" progId="Visio.Drawing.11">
                    <p:embed/>
                  </p:oleObj>
                </mc:Choice>
                <mc:Fallback>
                  <p:oleObj r:id="rId3" imgW="2746982" imgH="696060" progId="Visio.Drawing.11">
                    <p:embed/>
                    <p:pic>
                      <p:nvPicPr>
                        <p:cNvPr id="0" name="Object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95822" y="1887059"/>
                          <a:ext cx="4953000" cy="12477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3" t="27974" r="15099" b="9542"/>
          <a:stretch/>
        </p:blipFill>
        <p:spPr>
          <a:xfrm>
            <a:off x="2853674" y="3911420"/>
            <a:ext cx="3422885" cy="20949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61" r="23791"/>
          <a:stretch/>
        </p:blipFill>
        <p:spPr>
          <a:xfrm rot="5400000">
            <a:off x="6195147" y="4124453"/>
            <a:ext cx="2408694" cy="19826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" name="Rectangle 10"/>
          <p:cNvSpPr>
            <a:spLocks noChangeArrowheads="1"/>
          </p:cNvSpPr>
          <p:nvPr/>
        </p:nvSpPr>
        <p:spPr bwMode="auto">
          <a:xfrm>
            <a:off x="6631834" y="188331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3" name="Прямоугольник 12"/>
          <p:cNvSpPr/>
          <p:nvPr/>
        </p:nvSpPr>
        <p:spPr>
          <a:xfrm>
            <a:off x="6471835" y="1772198"/>
            <a:ext cx="5063447" cy="141027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19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4010420"/>
              </p:ext>
            </p:extLst>
          </p:nvPr>
        </p:nvGraphicFramePr>
        <p:xfrm>
          <a:off x="6631834" y="1883310"/>
          <a:ext cx="4743450" cy="119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0" r:id="rId7" imgW="2746982" imgH="696060" progId="Visio.Drawing.11">
                  <p:embed/>
                </p:oleObj>
              </mc:Choice>
              <mc:Fallback>
                <p:oleObj r:id="rId7" imgW="2746982" imgH="696060" progId="Visio.Drawing.11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1834" y="1883310"/>
                        <a:ext cx="4743450" cy="1190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2011660" y="3266139"/>
            <a:ext cx="2553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Проведение измерения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8390808" y="3243658"/>
            <a:ext cx="1353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Калибровка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89383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01" t="18070" r="2259" b="9648"/>
          <a:stretch/>
        </p:blipFill>
        <p:spPr>
          <a:xfrm>
            <a:off x="5104745" y="2237703"/>
            <a:ext cx="6907962" cy="445076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32" b="27843"/>
          <a:stretch/>
        </p:blipFill>
        <p:spPr>
          <a:xfrm>
            <a:off x="1201271" y="349623"/>
            <a:ext cx="5909095" cy="245633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1201271" y="3551756"/>
            <a:ext cx="402515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Рассчитать коэффициент передачи, считая потери пренебрежительно малыми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Опишите методику измерения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Опишите методику измерения развязки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Приведите пример характеристик из документации на аналогичный усилитель</a:t>
            </a:r>
          </a:p>
        </p:txBody>
      </p:sp>
    </p:spTree>
    <p:extLst>
      <p:ext uri="{BB962C8B-B14F-4D97-AF65-F5344CB8AC3E}">
        <p14:creationId xmlns:p14="http://schemas.microsoft.com/office/powerpoint/2010/main" val="7615522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0387" y="141904"/>
            <a:ext cx="9905998" cy="1478570"/>
          </a:xfrm>
        </p:spPr>
        <p:txBody>
          <a:bodyPr/>
          <a:lstStyle/>
          <a:p>
            <a:r>
              <a:rPr lang="x-none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коэффициент шума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76955" y="1189175"/>
            <a:ext cx="742436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Дайте определение коэффициента шума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Опишите методику измерения коэффициента шума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Составьте выражение, позволяющее рассчитать коэффициент шума, опираясь на проделанные измерения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Приведите примеры из документации на аналогичный усилитель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 smtClean="0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141413" y="32541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Прямоугольник 12"/>
          <p:cNvSpPr/>
          <p:nvPr/>
        </p:nvSpPr>
        <p:spPr>
          <a:xfrm>
            <a:off x="1141414" y="3449564"/>
            <a:ext cx="2991316" cy="141027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5450675"/>
              </p:ext>
            </p:extLst>
          </p:nvPr>
        </p:nvGraphicFramePr>
        <p:xfrm>
          <a:off x="1141413" y="3576919"/>
          <a:ext cx="2876550" cy="158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0" r:id="rId3" imgW="1703188" imgH="939870" progId="Visio.Drawing.11">
                  <p:embed/>
                </p:oleObj>
              </mc:Choice>
              <mc:Fallback>
                <p:oleObj r:id="rId3" imgW="1703188" imgH="93987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1413" y="3576919"/>
                        <a:ext cx="2876550" cy="158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538322" y="4968588"/>
            <a:ext cx="2294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Схема измерения Кш</a:t>
            </a:r>
            <a:endParaRPr lang="en-US" dirty="0"/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5738859" y="300529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9" name="Прямоугольник 12"/>
          <p:cNvSpPr/>
          <p:nvPr/>
        </p:nvSpPr>
        <p:spPr>
          <a:xfrm>
            <a:off x="5704776" y="2943501"/>
            <a:ext cx="3528873" cy="141027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7622401"/>
              </p:ext>
            </p:extLst>
          </p:nvPr>
        </p:nvGraphicFramePr>
        <p:xfrm>
          <a:off x="5819544" y="3077014"/>
          <a:ext cx="3200400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1" r:id="rId5" imgW="1936853" imgH="696060" progId="Visio.Drawing.11">
                  <p:embed/>
                </p:oleObj>
              </mc:Choice>
              <mc:Fallback>
                <p:oleObj r:id="rId5" imgW="1936853" imgH="696060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9544" y="3077014"/>
                        <a:ext cx="3200400" cy="1152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8"/>
          <p:cNvSpPr>
            <a:spLocks noChangeArrowheads="1"/>
          </p:cNvSpPr>
          <p:nvPr/>
        </p:nvSpPr>
        <p:spPr bwMode="auto">
          <a:xfrm>
            <a:off x="5244353" y="511319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" name="Прямоугольник 12"/>
          <p:cNvSpPr/>
          <p:nvPr/>
        </p:nvSpPr>
        <p:spPr>
          <a:xfrm>
            <a:off x="5058802" y="4887903"/>
            <a:ext cx="5071316" cy="141027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9425789"/>
              </p:ext>
            </p:extLst>
          </p:nvPr>
        </p:nvGraphicFramePr>
        <p:xfrm>
          <a:off x="5244353" y="5032514"/>
          <a:ext cx="4505325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2" r:id="rId7" imgW="2746982" imgH="696060" progId="Visio.Drawing.11">
                  <p:embed/>
                </p:oleObj>
              </mc:Choice>
              <mc:Fallback>
                <p:oleObj r:id="rId7" imgW="2746982" imgH="696060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4353" y="5032514"/>
                        <a:ext cx="4505325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282125" y="4365282"/>
            <a:ext cx="2275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Калибровка по входу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6173386" y="6296609"/>
            <a:ext cx="2430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Калибровка по выходу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19653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2"/>
          <p:cNvSpPr/>
          <p:nvPr/>
        </p:nvSpPr>
        <p:spPr>
          <a:xfrm>
            <a:off x="6188543" y="2448589"/>
            <a:ext cx="5026304" cy="32171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2"/>
          <p:cNvSpPr/>
          <p:nvPr/>
        </p:nvSpPr>
        <p:spPr>
          <a:xfrm>
            <a:off x="385482" y="3449564"/>
            <a:ext cx="5450542" cy="141027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9576" y="376471"/>
            <a:ext cx="10829366" cy="1478570"/>
          </a:xfrm>
        </p:spPr>
        <p:txBody>
          <a:bodyPr/>
          <a:lstStyle/>
          <a:p>
            <a:r>
              <a:rPr lang="x-none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точк</a:t>
            </a:r>
            <a:r>
              <a:rPr lang="ru-RU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а</a:t>
            </a:r>
            <a:r>
              <a:rPr lang="x-none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одно-децибельной </a:t>
            </a:r>
            <a:r>
              <a:rPr lang="x-none" spc="-1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компрессии</a:t>
            </a:r>
            <a:r>
              <a:rPr lang="ru-RU" spc="-1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x-none" spc="-1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x-none" spc="-10" baseline="-25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1dB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869576" y="1393376"/>
            <a:ext cx="70201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Дайте определение точки одно-децибельной компрессии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Поясните методику измерения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Приведите примеры из документации на аналогичный усилитель</a:t>
            </a:r>
            <a:endParaRPr lang="en-US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475129" y="353209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8169439"/>
              </p:ext>
            </p:extLst>
          </p:nvPr>
        </p:nvGraphicFramePr>
        <p:xfrm>
          <a:off x="475129" y="3532094"/>
          <a:ext cx="5143500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15" r:id="rId3" imgW="3106799" imgH="696060" progId="Visio.Drawing.11">
                  <p:embed/>
                </p:oleObj>
              </mc:Choice>
              <mc:Fallback>
                <p:oleObj r:id="rId3" imgW="3106799" imgH="69606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129" y="3532094"/>
                        <a:ext cx="5143500" cy="1133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6275295" y="25908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6603937"/>
              </p:ext>
            </p:extLst>
          </p:nvPr>
        </p:nvGraphicFramePr>
        <p:xfrm>
          <a:off x="6275295" y="2590800"/>
          <a:ext cx="4829175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16" r:id="rId5" imgW="3106799" imgH="696060" progId="Visio.Drawing.11">
                  <p:embed/>
                </p:oleObj>
              </mc:Choice>
              <mc:Fallback>
                <p:oleObj r:id="rId5" imgW="3106799" imgH="69606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5295" y="2590800"/>
                        <a:ext cx="4829175" cy="1076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7126941" y="43062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2759462"/>
              </p:ext>
            </p:extLst>
          </p:nvPr>
        </p:nvGraphicFramePr>
        <p:xfrm>
          <a:off x="7126941" y="4306250"/>
          <a:ext cx="3086100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17" r:id="rId7" imgW="1846899" imgH="696060" progId="Visio.Drawing.11">
                  <p:embed/>
                </p:oleObj>
              </mc:Choice>
              <mc:Fallback>
                <p:oleObj r:id="rId7" imgW="1846899" imgH="696060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6941" y="4306250"/>
                        <a:ext cx="3086100" cy="1152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837765" y="4969710"/>
            <a:ext cx="1936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Схема измерения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7297756" y="5687958"/>
            <a:ext cx="2915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Калибровочные измерения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81688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12"/>
          <p:cNvSpPr/>
          <p:nvPr/>
        </p:nvSpPr>
        <p:spPr>
          <a:xfrm>
            <a:off x="783217" y="1892777"/>
            <a:ext cx="5655421" cy="237442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точк</a:t>
            </a:r>
            <a:r>
              <a:rPr lang="ru-RU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а</a:t>
            </a:r>
            <a:r>
              <a:rPr lang="x-none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пересечения по интермодуляции 3-го порядка (</a:t>
            </a:r>
            <a:r>
              <a:rPr lang="x-none" i="1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IP3</a:t>
            </a:r>
            <a:r>
              <a:rPr lang="x-none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738158"/>
              </p:ext>
            </p:extLst>
          </p:nvPr>
        </p:nvGraphicFramePr>
        <p:xfrm>
          <a:off x="856523" y="2034335"/>
          <a:ext cx="5508625" cy="209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8" r:id="rId3" imgW="3736749" imgH="1416150" progId="">
                  <p:embed/>
                </p:oleObj>
              </mc:Choice>
              <mc:Fallback>
                <p:oleObj r:id="rId3" imgW="3736749" imgH="141615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6523" y="2034335"/>
                        <a:ext cx="5508625" cy="209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34" r="2941"/>
          <a:stretch/>
        </p:blipFill>
        <p:spPr>
          <a:xfrm>
            <a:off x="6547386" y="1892777"/>
            <a:ext cx="5275978" cy="360258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86" t="21699" r="10883" b="16209"/>
          <a:stretch/>
        </p:blipFill>
        <p:spPr>
          <a:xfrm>
            <a:off x="2178950" y="4442985"/>
            <a:ext cx="3164015" cy="215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1521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95834" y="3140587"/>
            <a:ext cx="44196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Дайте определение точки </a:t>
            </a:r>
            <a:r>
              <a:rPr lang="en-US" dirty="0" smtClean="0"/>
              <a:t>IP3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Поясните методику измерения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Приведите примеры из документации на аналогичный усилитель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90" t="9674" r="27549" b="4837"/>
          <a:stretch/>
        </p:blipFill>
        <p:spPr>
          <a:xfrm>
            <a:off x="8589015" y="2732201"/>
            <a:ext cx="2531603" cy="261972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62" t="9674" r="16372" b="15164"/>
          <a:stretch/>
        </p:blipFill>
        <p:spPr>
          <a:xfrm>
            <a:off x="4839452" y="2732201"/>
            <a:ext cx="3102669" cy="261972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37" t="9543" r="3824" b="13072"/>
          <a:stretch/>
        </p:blipFill>
        <p:spPr>
          <a:xfrm>
            <a:off x="1017928" y="233081"/>
            <a:ext cx="3463074" cy="242047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94" t="17683" r="19165" b="19608"/>
          <a:stretch/>
        </p:blipFill>
        <p:spPr>
          <a:xfrm>
            <a:off x="4576895" y="233083"/>
            <a:ext cx="3500305" cy="233381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0" t="4575" b="4444"/>
          <a:stretch/>
        </p:blipFill>
        <p:spPr>
          <a:xfrm>
            <a:off x="8202139" y="233081"/>
            <a:ext cx="3387268" cy="2420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0468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1742" y="152354"/>
            <a:ext cx="9905998" cy="959270"/>
          </a:xfrm>
        </p:spPr>
        <p:txBody>
          <a:bodyPr/>
          <a:lstStyle/>
          <a:p>
            <a:r>
              <a:rPr lang="ru-RU" dirty="0" smtClean="0"/>
              <a:t>Дополнительное задание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13" b="14248"/>
          <a:stretch/>
        </p:blipFill>
        <p:spPr>
          <a:xfrm>
            <a:off x="2348753" y="1900518"/>
            <a:ext cx="7109012" cy="425146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1192306" y="1111623"/>
            <a:ext cx="87495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Как необходимо изменить методику измерения при использовании кабеля между сумматором и усилителем?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5248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Измерение параметров преобразователя чатоты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Работа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5980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12"/>
          <p:cNvSpPr/>
          <p:nvPr/>
        </p:nvSpPr>
        <p:spPr>
          <a:xfrm>
            <a:off x="3037531" y="1347658"/>
            <a:ext cx="2602778" cy="15656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76128"/>
          </a:xfrm>
        </p:spPr>
        <p:txBody>
          <a:bodyPr/>
          <a:lstStyle/>
          <a:p>
            <a:r>
              <a:rPr lang="ru-RU" dirty="0" smtClean="0"/>
              <a:t>Преобразовтель частоты</a:t>
            </a:r>
            <a:endParaRPr lang="en-US" dirty="0"/>
          </a:p>
        </p:txBody>
      </p:sp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690480"/>
              </p:ext>
            </p:extLst>
          </p:nvPr>
        </p:nvGraphicFramePr>
        <p:xfrm>
          <a:off x="3152992" y="1387571"/>
          <a:ext cx="2487317" cy="1485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9" name="Visio" r:id="rId3" imgW="4018490" imgH="2399107" progId="">
                  <p:embed/>
                </p:oleObj>
              </mc:Choice>
              <mc:Fallback>
                <p:oleObj name="Visio" r:id="rId3" imgW="4018490" imgH="2399107" progId="">
                  <p:embed/>
                  <p:pic>
                    <p:nvPicPr>
                      <p:cNvPr id="2150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2992" y="1387571"/>
                        <a:ext cx="2487317" cy="148582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39" t="18020" r="22542" b="20990"/>
          <a:stretch/>
        </p:blipFill>
        <p:spPr>
          <a:xfrm rot="5400000">
            <a:off x="1462970" y="3184295"/>
            <a:ext cx="1847613" cy="175637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78" t="30169" r="52739" b="13506"/>
          <a:stretch/>
        </p:blipFill>
        <p:spPr>
          <a:xfrm rot="5400000">
            <a:off x="3860024" y="3040458"/>
            <a:ext cx="1403285" cy="208861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07" t="27353" r="41518" b="12626"/>
          <a:stretch/>
        </p:blipFill>
        <p:spPr>
          <a:xfrm rot="5400000">
            <a:off x="6153990" y="3002139"/>
            <a:ext cx="1403287" cy="216524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02" t="37914" r="51287" b="11393"/>
          <a:stretch/>
        </p:blipFill>
        <p:spPr>
          <a:xfrm rot="5400000">
            <a:off x="8453988" y="3043148"/>
            <a:ext cx="1403286" cy="2083229"/>
          </a:xfrm>
          <a:prstGeom prst="rect">
            <a:avLst/>
          </a:prstGeom>
        </p:spPr>
      </p:pic>
      <p:grpSp>
        <p:nvGrpSpPr>
          <p:cNvPr id="16" name="Group 15"/>
          <p:cNvGrpSpPr/>
          <p:nvPr/>
        </p:nvGrpSpPr>
        <p:grpSpPr>
          <a:xfrm>
            <a:off x="6314441" y="1261820"/>
            <a:ext cx="2349723" cy="1651485"/>
            <a:chOff x="4177824" y="1261820"/>
            <a:chExt cx="1729870" cy="1200594"/>
          </a:xfrm>
        </p:grpSpPr>
        <p:sp>
          <p:nvSpPr>
            <p:cNvPr id="15" name="Прямоугольник 12"/>
            <p:cNvSpPr/>
            <p:nvPr/>
          </p:nvSpPr>
          <p:spPr>
            <a:xfrm>
              <a:off x="4273602" y="1353144"/>
              <a:ext cx="1634092" cy="110927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aphicFrame>
          <p:nvGraphicFramePr>
            <p:cNvPr id="14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13115472"/>
                </p:ext>
              </p:extLst>
            </p:nvPr>
          </p:nvGraphicFramePr>
          <p:xfrm>
            <a:off x="4177824" y="1261820"/>
            <a:ext cx="1724025" cy="1190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90" r:id="rId9" imgW="1076480" imgH="742230" progId="">
                    <p:embed/>
                  </p:oleObj>
                </mc:Choice>
                <mc:Fallback>
                  <p:oleObj r:id="rId9" imgW="1076480" imgH="742230" progId="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7824" y="1261820"/>
                          <a:ext cx="1724025" cy="11906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1498889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002052"/>
          </a:xfrm>
        </p:spPr>
        <p:txBody>
          <a:bodyPr>
            <a:normAutofit fontScale="90000"/>
          </a:bodyPr>
          <a:lstStyle/>
          <a:p>
            <a:r>
              <a:rPr lang="x-none" b="1" i="1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Измерение коэффициентов передачи при преобразовании частоты </a:t>
            </a:r>
            <a:r>
              <a:rPr lang="x-none" b="1" i="1" spc="-1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вниз</a:t>
            </a:r>
            <a:endParaRPr lang="en-US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213164" y="17654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9553401"/>
              </p:ext>
            </p:extLst>
          </p:nvPr>
        </p:nvGraphicFramePr>
        <p:xfrm>
          <a:off x="2064186" y="1765425"/>
          <a:ext cx="4581525" cy="221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6" r:id="rId3" imgW="2926890" imgH="1416150" progId="Visio.Drawing.11">
                  <p:embed/>
                </p:oleObj>
              </mc:Choice>
              <mc:Fallback>
                <p:oleObj r:id="rId3" imgW="2926890" imgH="141615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4186" y="1765425"/>
                        <a:ext cx="4581525" cy="2219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2" t="22248" r="24620" b="3473"/>
          <a:stretch/>
        </p:blipFill>
        <p:spPr>
          <a:xfrm rot="5400000">
            <a:off x="6666367" y="2041466"/>
            <a:ext cx="3512745" cy="267095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4" t="14521" b="2839"/>
          <a:stretch/>
        </p:blipFill>
        <p:spPr>
          <a:xfrm>
            <a:off x="2163779" y="4075285"/>
            <a:ext cx="4119326" cy="26385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742128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567846"/>
              </p:ext>
            </p:extLst>
          </p:nvPr>
        </p:nvGraphicFramePr>
        <p:xfrm>
          <a:off x="1493213" y="1673720"/>
          <a:ext cx="3327400" cy="1117627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447040">
                  <a:extLst>
                    <a:ext uri="{9D8B030D-6E8A-4147-A177-3AD203B41FA5}">
                      <a16:colId xmlns:a16="http://schemas.microsoft.com/office/drawing/2014/main" val="2327886745"/>
                    </a:ext>
                  </a:extLst>
                </a:gridCol>
                <a:gridCol w="845185">
                  <a:extLst>
                    <a:ext uri="{9D8B030D-6E8A-4147-A177-3AD203B41FA5}">
                      <a16:colId xmlns:a16="http://schemas.microsoft.com/office/drawing/2014/main" val="543024663"/>
                    </a:ext>
                  </a:extLst>
                </a:gridCol>
                <a:gridCol w="669925">
                  <a:extLst>
                    <a:ext uri="{9D8B030D-6E8A-4147-A177-3AD203B41FA5}">
                      <a16:colId xmlns:a16="http://schemas.microsoft.com/office/drawing/2014/main" val="1508608129"/>
                    </a:ext>
                  </a:extLst>
                </a:gridCol>
                <a:gridCol w="465455">
                  <a:extLst>
                    <a:ext uri="{9D8B030D-6E8A-4147-A177-3AD203B41FA5}">
                      <a16:colId xmlns:a16="http://schemas.microsoft.com/office/drawing/2014/main" val="1857950533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671503895"/>
                    </a:ext>
                  </a:extLst>
                </a:gridCol>
                <a:gridCol w="450215">
                  <a:extLst>
                    <a:ext uri="{9D8B030D-6E8A-4147-A177-3AD203B41FA5}">
                      <a16:colId xmlns:a16="http://schemas.microsoft.com/office/drawing/2014/main" val="3741959182"/>
                    </a:ext>
                  </a:extLst>
                </a:gridCol>
              </a:tblGrid>
              <a:tr h="22068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№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f</a:t>
                      </a:r>
                      <a:r>
                        <a:rPr lang="en-US" sz="1100" baseline="-25000">
                          <a:effectLst/>
                        </a:rPr>
                        <a:t>LO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f</a:t>
                      </a:r>
                      <a:r>
                        <a:rPr lang="en-US" sz="1100" baseline="-25000">
                          <a:effectLst/>
                        </a:rPr>
                        <a:t>c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P</a:t>
                      </a:r>
                      <a:r>
                        <a:rPr lang="en-US" sz="1100" baseline="-25000">
                          <a:effectLst/>
                        </a:rPr>
                        <a:t>IF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P</a:t>
                      </a:r>
                      <a:r>
                        <a:rPr lang="en-US" sz="1100" baseline="-25000">
                          <a:effectLst/>
                        </a:rPr>
                        <a:t>RF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K</a:t>
                      </a:r>
                      <a:r>
                        <a:rPr lang="en-US" sz="1100" baseline="-25000" dirty="0">
                          <a:effectLst/>
                        </a:rPr>
                        <a:t>p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775556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f</a:t>
                      </a:r>
                      <a:r>
                        <a:rPr lang="en-US" sz="1100" baseline="-25000">
                          <a:effectLst/>
                        </a:rPr>
                        <a:t>o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f</a:t>
                      </a:r>
                      <a:r>
                        <a:rPr lang="en-US" sz="1100" baseline="-25000">
                          <a:effectLst/>
                        </a:rPr>
                        <a:t>o</a:t>
                      </a:r>
                      <a:r>
                        <a:rPr lang="ru-RU" sz="1100">
                          <a:effectLst/>
                        </a:rPr>
                        <a:t>+</a:t>
                      </a:r>
                      <a:r>
                        <a:rPr lang="en-US" sz="1100">
                          <a:effectLst/>
                        </a:rPr>
                        <a:t> f</a:t>
                      </a:r>
                      <a:r>
                        <a:rPr lang="ru-RU" sz="1100" baseline="-25000">
                          <a:effectLst/>
                        </a:rPr>
                        <a:t>п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33224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2f</a:t>
                      </a:r>
                      <a:r>
                        <a:rPr lang="en-US" sz="1100" baseline="-25000">
                          <a:effectLst/>
                        </a:rPr>
                        <a:t>o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2f</a:t>
                      </a:r>
                      <a:r>
                        <a:rPr lang="en-US" sz="1100" baseline="-25000">
                          <a:effectLst/>
                        </a:rPr>
                        <a:t>o</a:t>
                      </a:r>
                      <a:r>
                        <a:rPr lang="ru-RU" sz="1100">
                          <a:effectLst/>
                        </a:rPr>
                        <a:t>+</a:t>
                      </a:r>
                      <a:r>
                        <a:rPr lang="en-US" sz="1100">
                          <a:effectLst/>
                        </a:rPr>
                        <a:t> f</a:t>
                      </a:r>
                      <a:r>
                        <a:rPr lang="ru-RU" sz="1100" baseline="-25000">
                          <a:effectLst/>
                        </a:rPr>
                        <a:t>п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98163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3f</a:t>
                      </a:r>
                      <a:r>
                        <a:rPr lang="en-US" sz="1100" baseline="-25000">
                          <a:effectLst/>
                        </a:rPr>
                        <a:t>o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3f</a:t>
                      </a:r>
                      <a:r>
                        <a:rPr lang="en-US" sz="1100" baseline="-25000">
                          <a:effectLst/>
                        </a:rPr>
                        <a:t>o</a:t>
                      </a:r>
                      <a:r>
                        <a:rPr lang="ru-RU" sz="1100">
                          <a:effectLst/>
                        </a:rPr>
                        <a:t>+</a:t>
                      </a:r>
                      <a:r>
                        <a:rPr lang="en-US" sz="1100">
                          <a:effectLst/>
                        </a:rPr>
                        <a:t> f</a:t>
                      </a:r>
                      <a:r>
                        <a:rPr lang="ru-RU" sz="1100" baseline="-25000">
                          <a:effectLst/>
                        </a:rPr>
                        <a:t>п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25404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4f</a:t>
                      </a:r>
                      <a:r>
                        <a:rPr lang="en-US" sz="1100" baseline="-25000">
                          <a:effectLst/>
                        </a:rPr>
                        <a:t>o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4f</a:t>
                      </a:r>
                      <a:r>
                        <a:rPr lang="en-US" sz="1100" baseline="-25000">
                          <a:effectLst/>
                        </a:rPr>
                        <a:t>o</a:t>
                      </a:r>
                      <a:r>
                        <a:rPr lang="ru-RU" sz="1100">
                          <a:effectLst/>
                        </a:rPr>
                        <a:t>+</a:t>
                      </a:r>
                      <a:r>
                        <a:rPr lang="en-US" sz="1100">
                          <a:effectLst/>
                        </a:rPr>
                        <a:t> f</a:t>
                      </a:r>
                      <a:r>
                        <a:rPr lang="ru-RU" sz="1100" baseline="-25000">
                          <a:effectLst/>
                        </a:rPr>
                        <a:t>п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377726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5f</a:t>
                      </a:r>
                      <a:r>
                        <a:rPr lang="en-US" sz="1100" baseline="-25000">
                          <a:effectLst/>
                        </a:rPr>
                        <a:t>o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5f</a:t>
                      </a:r>
                      <a:r>
                        <a:rPr lang="en-US" sz="1100" baseline="-25000">
                          <a:effectLst/>
                        </a:rPr>
                        <a:t>o</a:t>
                      </a:r>
                      <a:r>
                        <a:rPr lang="ru-RU" sz="1100">
                          <a:effectLst/>
                        </a:rPr>
                        <a:t>+</a:t>
                      </a:r>
                      <a:r>
                        <a:rPr lang="en-US" sz="1100">
                          <a:effectLst/>
                        </a:rPr>
                        <a:t> f</a:t>
                      </a:r>
                      <a:r>
                        <a:rPr lang="ru-RU" sz="1100" baseline="-25000">
                          <a:effectLst/>
                        </a:rPr>
                        <a:t>п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35663961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493213" y="1196391"/>
            <a:ext cx="30171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i="1" dirty="0">
                <a:latin typeface="Times New Roman" panose="02020603050405020304" pitchFamily="18" charset="0"/>
                <a:ea typeface="Arial" panose="020B0604020202020204" pitchFamily="34" charset="0"/>
              </a:rPr>
              <a:t>f</a:t>
            </a:r>
            <a:r>
              <a:rPr lang="ru-RU" baseline="-25000" dirty="0">
                <a:latin typeface="Times New Roman" panose="02020603050405020304" pitchFamily="18" charset="0"/>
                <a:ea typeface="Verdana" panose="020B0604030504040204" pitchFamily="34" charset="0"/>
              </a:rPr>
              <a:t>0</a:t>
            </a:r>
            <a:r>
              <a:rPr lang="ru-RU" dirty="0">
                <a:latin typeface="Times New Roman" panose="02020603050405020304" pitchFamily="18" charset="0"/>
                <a:ea typeface="Verdana" panose="020B0604030504040204" pitchFamily="34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ea typeface="Tahoma" panose="020B0604030504040204" pitchFamily="34" charset="0"/>
              </a:rPr>
              <a:t>= 100 </a:t>
            </a:r>
            <a:r>
              <a:rPr lang="ru-RU" dirty="0">
                <a:latin typeface="Times New Roman" panose="02020603050405020304" pitchFamily="18" charset="0"/>
                <a:ea typeface="Book Antiqua" panose="02040602050305030304" pitchFamily="18" charset="0"/>
              </a:rPr>
              <a:t>МГц, </a:t>
            </a:r>
            <a:r>
              <a:rPr lang="ru-RU" dirty="0">
                <a:latin typeface="Times New Roman" panose="02020603050405020304" pitchFamily="18" charset="0"/>
                <a:ea typeface="Tahoma" panose="020B0604030504040204" pitchFamily="34" charset="0"/>
              </a:rPr>
              <a:t>∆ =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</a:t>
            </a:r>
            <a:r>
              <a:rPr lang="ru-RU" i="1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= 20 МГц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182986" y="550060"/>
            <a:ext cx="83593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latin typeface="Times New Roman" panose="02020603050405020304" pitchFamily="18" charset="0"/>
                <a:ea typeface="Book Antiqua" panose="02040602050305030304" pitchFamily="18" charset="0"/>
              </a:rPr>
              <a:t>Измерить </a:t>
            </a:r>
            <a:r>
              <a:rPr lang="ru-RU" dirty="0">
                <a:latin typeface="Times New Roman" panose="02020603050405020304" pitchFamily="18" charset="0"/>
                <a:ea typeface="Book Antiqua" panose="02040602050305030304" pitchFamily="18" charset="0"/>
              </a:rPr>
              <a:t>коэффициент преобразования (</a:t>
            </a:r>
            <a:r>
              <a:rPr lang="ru-RU" i="1" dirty="0">
                <a:latin typeface="Times New Roman" panose="02020603050405020304" pitchFamily="18" charset="0"/>
                <a:ea typeface="Book Antiqua" panose="02040602050305030304" pitchFamily="18" charset="0"/>
              </a:rPr>
              <a:t>Conversion Loss</a:t>
            </a:r>
            <a:r>
              <a:rPr lang="ru-RU" dirty="0">
                <a:latin typeface="Times New Roman" panose="02020603050405020304" pitchFamily="18" charset="0"/>
                <a:ea typeface="Book Antiqua" panose="02040602050305030304" pitchFamily="18" charset="0"/>
              </a:rPr>
              <a:t>), равный </a:t>
            </a:r>
            <a:r>
              <a:rPr lang="ru-RU" i="1" dirty="0">
                <a:latin typeface="Times New Roman" panose="02020603050405020304" pitchFamily="18" charset="0"/>
                <a:ea typeface="Arial" panose="020B0604020202020204" pitchFamily="34" charset="0"/>
              </a:rPr>
              <a:t>P</a:t>
            </a:r>
            <a:r>
              <a:rPr lang="ru-RU" i="1" baseline="-25000" dirty="0">
                <a:latin typeface="Times New Roman" panose="02020603050405020304" pitchFamily="18" charset="0"/>
                <a:ea typeface="Arial" panose="020B0604020202020204" pitchFamily="34" charset="0"/>
              </a:rPr>
              <a:t>IF</a:t>
            </a:r>
            <a:r>
              <a:rPr lang="ru-RU" i="1" dirty="0">
                <a:latin typeface="Times New Roman" panose="02020603050405020304" pitchFamily="18" charset="0"/>
                <a:ea typeface="Arial" panose="020B0604020202020204" pitchFamily="34" charset="0"/>
              </a:rPr>
              <a:t> /P</a:t>
            </a:r>
            <a:r>
              <a:rPr lang="ru-RU" i="1" baseline="-25000" dirty="0">
                <a:latin typeface="Times New Roman" panose="02020603050405020304" pitchFamily="18" charset="0"/>
                <a:ea typeface="Arial" panose="020B0604020202020204" pitchFamily="34" charset="0"/>
              </a:rPr>
              <a:t>RF</a:t>
            </a:r>
            <a:r>
              <a:rPr lang="ru-RU" i="1" dirty="0">
                <a:latin typeface="Times New Roman" panose="02020603050405020304" pitchFamily="18" charset="0"/>
                <a:ea typeface="Arial" panose="020B0604020202020204" pitchFamily="34" charset="0"/>
              </a:rPr>
              <a:t>   </a:t>
            </a:r>
            <a:r>
              <a:rPr lang="ru-RU" dirty="0">
                <a:latin typeface="Times New Roman" panose="02020603050405020304" pitchFamily="18" charset="0"/>
                <a:ea typeface="Book Antiqua" panose="02040602050305030304" pitchFamily="18" charset="0"/>
              </a:rPr>
              <a:t>для частот </a:t>
            </a:r>
            <a:r>
              <a:rPr lang="ru-RU" i="1" dirty="0">
                <a:latin typeface="Times New Roman" panose="02020603050405020304" pitchFamily="18" charset="0"/>
                <a:ea typeface="Meiryo"/>
              </a:rPr>
              <a:t>{</a:t>
            </a:r>
            <a:r>
              <a:rPr lang="ru-RU" i="1" dirty="0">
                <a:latin typeface="Times New Roman" panose="02020603050405020304" pitchFamily="18" charset="0"/>
                <a:ea typeface="Arial" panose="020B0604020202020204" pitchFamily="34" charset="0"/>
              </a:rPr>
              <a:t>f</a:t>
            </a:r>
            <a:r>
              <a:rPr lang="ru-RU" i="1" baseline="-25000" dirty="0">
                <a:latin typeface="Times New Roman" panose="02020603050405020304" pitchFamily="18" charset="0"/>
                <a:ea typeface="Arial" panose="020B0604020202020204" pitchFamily="34" charset="0"/>
              </a:rPr>
              <a:t>LO</a:t>
            </a:r>
            <a:r>
              <a:rPr lang="ru-RU" i="1" dirty="0">
                <a:latin typeface="Times New Roman" panose="02020603050405020304" pitchFamily="18" charset="0"/>
                <a:ea typeface="Arial" panose="020B0604020202020204" pitchFamily="34" charset="0"/>
              </a:rPr>
              <a:t>, f</a:t>
            </a:r>
            <a:r>
              <a:rPr lang="ru-RU" i="1" baseline="-25000" dirty="0">
                <a:latin typeface="Times New Roman" panose="02020603050405020304" pitchFamily="18" charset="0"/>
                <a:ea typeface="Arial" panose="020B0604020202020204" pitchFamily="34" charset="0"/>
              </a:rPr>
              <a:t>с</a:t>
            </a:r>
            <a:r>
              <a:rPr lang="ru-RU" i="1" dirty="0">
                <a:latin typeface="Times New Roman" panose="02020603050405020304" pitchFamily="18" charset="0"/>
                <a:ea typeface="Arial" panose="020B0604020202020204" pitchFamily="34" charset="0"/>
              </a:rPr>
              <a:t> </a:t>
            </a:r>
            <a:r>
              <a:rPr lang="ru-RU" i="1" dirty="0">
                <a:latin typeface="Times New Roman" panose="02020603050405020304" pitchFamily="18" charset="0"/>
                <a:ea typeface="Meiryo"/>
              </a:rPr>
              <a:t>} </a:t>
            </a:r>
            <a:r>
              <a:rPr lang="ru-RU" dirty="0">
                <a:latin typeface="Times New Roman" panose="02020603050405020304" pitchFamily="18" charset="0"/>
                <a:ea typeface="Tahoma" panose="020B0604030504040204" pitchFamily="34" charset="0"/>
              </a:rPr>
              <a:t>= </a:t>
            </a:r>
            <a:r>
              <a:rPr lang="ru-RU" i="1" dirty="0">
                <a:latin typeface="Times New Roman" panose="02020603050405020304" pitchFamily="18" charset="0"/>
                <a:ea typeface="Meiryo"/>
              </a:rPr>
              <a:t>{</a:t>
            </a:r>
            <a:r>
              <a:rPr lang="ru-RU" i="1" dirty="0">
                <a:latin typeface="Times New Roman" panose="02020603050405020304" pitchFamily="18" charset="0"/>
                <a:ea typeface="Arial" panose="020B0604020202020204" pitchFamily="34" charset="0"/>
              </a:rPr>
              <a:t>f</a:t>
            </a:r>
            <a:r>
              <a:rPr lang="ru-RU" baseline="-25000" dirty="0">
                <a:latin typeface="Times New Roman" panose="02020603050405020304" pitchFamily="18" charset="0"/>
                <a:ea typeface="Verdana" panose="020B0604030504040204" pitchFamily="34" charset="0"/>
              </a:rPr>
              <a:t>0</a:t>
            </a:r>
            <a:r>
              <a:rPr lang="ru-RU" i="1" dirty="0">
                <a:latin typeface="Times New Roman" panose="02020603050405020304" pitchFamily="18" charset="0"/>
                <a:ea typeface="Arial" panose="020B0604020202020204" pitchFamily="34" charset="0"/>
              </a:rPr>
              <a:t>, f</a:t>
            </a:r>
            <a:r>
              <a:rPr lang="ru-RU" baseline="-25000" dirty="0">
                <a:latin typeface="Times New Roman" panose="02020603050405020304" pitchFamily="18" charset="0"/>
                <a:ea typeface="Verdana" panose="020B0604030504040204" pitchFamily="34" charset="0"/>
              </a:rPr>
              <a:t>0</a:t>
            </a:r>
            <a:r>
              <a:rPr lang="ru-RU" dirty="0">
                <a:latin typeface="Times New Roman" panose="02020603050405020304" pitchFamily="18" charset="0"/>
                <a:ea typeface="Verdana" panose="020B0604030504040204" pitchFamily="34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ea typeface="Tahoma" panose="020B0604030504040204" pitchFamily="34" charset="0"/>
              </a:rPr>
              <a:t>+ ∆; 2</a:t>
            </a:r>
            <a:r>
              <a:rPr lang="ru-RU" i="1" dirty="0">
                <a:latin typeface="Times New Roman" panose="02020603050405020304" pitchFamily="18" charset="0"/>
                <a:ea typeface="Arial" panose="020B0604020202020204" pitchFamily="34" charset="0"/>
              </a:rPr>
              <a:t>f</a:t>
            </a:r>
            <a:r>
              <a:rPr lang="ru-RU" baseline="-25000" dirty="0">
                <a:latin typeface="Times New Roman" panose="02020603050405020304" pitchFamily="18" charset="0"/>
                <a:ea typeface="Verdana" panose="020B0604030504040204" pitchFamily="34" charset="0"/>
              </a:rPr>
              <a:t>0</a:t>
            </a:r>
            <a:r>
              <a:rPr lang="ru-RU" i="1" dirty="0">
                <a:latin typeface="Times New Roman" panose="02020603050405020304" pitchFamily="18" charset="0"/>
                <a:ea typeface="Arial" panose="020B0604020202020204" pitchFamily="34" charset="0"/>
              </a:rPr>
              <a:t>, </a:t>
            </a:r>
            <a:r>
              <a:rPr lang="ru-RU" dirty="0">
                <a:latin typeface="Times New Roman" panose="02020603050405020304" pitchFamily="18" charset="0"/>
                <a:ea typeface="Tahoma" panose="020B0604030504040204" pitchFamily="34" charset="0"/>
              </a:rPr>
              <a:t>2</a:t>
            </a:r>
            <a:r>
              <a:rPr lang="ru-RU" i="1" dirty="0">
                <a:latin typeface="Times New Roman" panose="02020603050405020304" pitchFamily="18" charset="0"/>
                <a:ea typeface="Arial" panose="020B0604020202020204" pitchFamily="34" charset="0"/>
              </a:rPr>
              <a:t>f</a:t>
            </a:r>
            <a:r>
              <a:rPr lang="ru-RU" baseline="-25000" dirty="0">
                <a:latin typeface="Times New Roman" panose="02020603050405020304" pitchFamily="18" charset="0"/>
                <a:ea typeface="Verdana" panose="020B0604030504040204" pitchFamily="34" charset="0"/>
              </a:rPr>
              <a:t>0</a:t>
            </a:r>
            <a:r>
              <a:rPr lang="ru-RU" dirty="0">
                <a:latin typeface="Times New Roman" panose="02020603050405020304" pitchFamily="18" charset="0"/>
                <a:ea typeface="Verdana" panose="020B0604030504040204" pitchFamily="34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ea typeface="Tahoma" panose="020B0604030504040204" pitchFamily="34" charset="0"/>
              </a:rPr>
              <a:t>+∆; 3</a:t>
            </a:r>
            <a:r>
              <a:rPr lang="ru-RU" i="1" dirty="0">
                <a:latin typeface="Times New Roman" panose="02020603050405020304" pitchFamily="18" charset="0"/>
                <a:ea typeface="Arial" panose="020B0604020202020204" pitchFamily="34" charset="0"/>
              </a:rPr>
              <a:t>f</a:t>
            </a:r>
            <a:r>
              <a:rPr lang="ru-RU" baseline="-25000" dirty="0">
                <a:latin typeface="Times New Roman" panose="02020603050405020304" pitchFamily="18" charset="0"/>
                <a:ea typeface="Verdana" panose="020B0604030504040204" pitchFamily="34" charset="0"/>
              </a:rPr>
              <a:t>0</a:t>
            </a:r>
            <a:r>
              <a:rPr lang="ru-RU" i="1" dirty="0">
                <a:latin typeface="Times New Roman" panose="02020603050405020304" pitchFamily="18" charset="0"/>
                <a:ea typeface="Arial" panose="020B0604020202020204" pitchFamily="34" charset="0"/>
              </a:rPr>
              <a:t>, </a:t>
            </a:r>
            <a:r>
              <a:rPr lang="ru-RU" dirty="0">
                <a:latin typeface="Times New Roman" panose="02020603050405020304" pitchFamily="18" charset="0"/>
                <a:ea typeface="Tahoma" panose="020B0604030504040204" pitchFamily="34" charset="0"/>
              </a:rPr>
              <a:t>3</a:t>
            </a:r>
            <a:r>
              <a:rPr lang="ru-RU" i="1" dirty="0">
                <a:latin typeface="Times New Roman" panose="02020603050405020304" pitchFamily="18" charset="0"/>
                <a:ea typeface="Arial" panose="020B0604020202020204" pitchFamily="34" charset="0"/>
              </a:rPr>
              <a:t>f</a:t>
            </a:r>
            <a:r>
              <a:rPr lang="ru-RU" baseline="-25000" dirty="0">
                <a:latin typeface="Times New Roman" panose="02020603050405020304" pitchFamily="18" charset="0"/>
                <a:ea typeface="Verdana" panose="020B0604030504040204" pitchFamily="34" charset="0"/>
              </a:rPr>
              <a:t>0</a:t>
            </a:r>
            <a:r>
              <a:rPr lang="ru-RU" dirty="0">
                <a:latin typeface="Times New Roman" panose="02020603050405020304" pitchFamily="18" charset="0"/>
                <a:ea typeface="Verdana" panose="020B0604030504040204" pitchFamily="34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ea typeface="Tahoma" panose="020B0604030504040204" pitchFamily="34" charset="0"/>
              </a:rPr>
              <a:t>+ ∆; 4</a:t>
            </a:r>
            <a:r>
              <a:rPr lang="ru-RU" i="1" dirty="0">
                <a:latin typeface="Times New Roman" panose="02020603050405020304" pitchFamily="18" charset="0"/>
                <a:ea typeface="Arial" panose="020B0604020202020204" pitchFamily="34" charset="0"/>
              </a:rPr>
              <a:t>f</a:t>
            </a:r>
            <a:r>
              <a:rPr lang="ru-RU" baseline="-25000" dirty="0">
                <a:latin typeface="Times New Roman" panose="02020603050405020304" pitchFamily="18" charset="0"/>
                <a:ea typeface="Verdana" panose="020B0604030504040204" pitchFamily="34" charset="0"/>
              </a:rPr>
              <a:t>0</a:t>
            </a:r>
            <a:r>
              <a:rPr lang="ru-RU" i="1" dirty="0">
                <a:latin typeface="Times New Roman" panose="02020603050405020304" pitchFamily="18" charset="0"/>
                <a:ea typeface="Arial" panose="020B0604020202020204" pitchFamily="34" charset="0"/>
              </a:rPr>
              <a:t>, </a:t>
            </a:r>
            <a:r>
              <a:rPr lang="ru-RU" dirty="0">
                <a:latin typeface="Times New Roman" panose="02020603050405020304" pitchFamily="18" charset="0"/>
                <a:ea typeface="Tahoma" panose="020B0604030504040204" pitchFamily="34" charset="0"/>
              </a:rPr>
              <a:t>4</a:t>
            </a:r>
            <a:r>
              <a:rPr lang="ru-RU" i="1" dirty="0">
                <a:latin typeface="Times New Roman" panose="02020603050405020304" pitchFamily="18" charset="0"/>
                <a:ea typeface="Arial" panose="020B0604020202020204" pitchFamily="34" charset="0"/>
              </a:rPr>
              <a:t>f</a:t>
            </a:r>
            <a:r>
              <a:rPr lang="ru-RU" baseline="-25000" dirty="0">
                <a:latin typeface="Times New Roman" panose="02020603050405020304" pitchFamily="18" charset="0"/>
                <a:ea typeface="Verdana" panose="020B0604030504040204" pitchFamily="34" charset="0"/>
              </a:rPr>
              <a:t>0</a:t>
            </a:r>
            <a:r>
              <a:rPr lang="ru-RU" dirty="0">
                <a:latin typeface="Times New Roman" panose="02020603050405020304" pitchFamily="18" charset="0"/>
                <a:ea typeface="Verdana" panose="020B0604030504040204" pitchFamily="34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ea typeface="Tahoma" panose="020B0604030504040204" pitchFamily="34" charset="0"/>
              </a:rPr>
              <a:t>+ ∆; 5</a:t>
            </a:r>
            <a:r>
              <a:rPr lang="ru-RU" i="1" dirty="0">
                <a:latin typeface="Times New Roman" panose="02020603050405020304" pitchFamily="18" charset="0"/>
                <a:ea typeface="Arial" panose="020B0604020202020204" pitchFamily="34" charset="0"/>
              </a:rPr>
              <a:t>f</a:t>
            </a:r>
            <a:r>
              <a:rPr lang="ru-RU" baseline="-25000" dirty="0">
                <a:latin typeface="Times New Roman" panose="02020603050405020304" pitchFamily="18" charset="0"/>
                <a:ea typeface="Verdana" panose="020B0604030504040204" pitchFamily="34" charset="0"/>
              </a:rPr>
              <a:t>0</a:t>
            </a:r>
            <a:r>
              <a:rPr lang="ru-RU" i="1" dirty="0">
                <a:latin typeface="Times New Roman" panose="02020603050405020304" pitchFamily="18" charset="0"/>
                <a:ea typeface="Arial" panose="020B0604020202020204" pitchFamily="34" charset="0"/>
              </a:rPr>
              <a:t>, </a:t>
            </a:r>
            <a:r>
              <a:rPr lang="ru-RU" dirty="0">
                <a:latin typeface="Times New Roman" panose="02020603050405020304" pitchFamily="18" charset="0"/>
                <a:ea typeface="Tahoma" panose="020B0604030504040204" pitchFamily="34" charset="0"/>
              </a:rPr>
              <a:t>5</a:t>
            </a:r>
            <a:r>
              <a:rPr lang="ru-RU" i="1" dirty="0">
                <a:latin typeface="Times New Roman" panose="02020603050405020304" pitchFamily="18" charset="0"/>
                <a:ea typeface="Arial" panose="020B0604020202020204" pitchFamily="34" charset="0"/>
              </a:rPr>
              <a:t>f</a:t>
            </a:r>
            <a:r>
              <a:rPr lang="ru-RU" baseline="-25000" dirty="0">
                <a:latin typeface="Times New Roman" panose="02020603050405020304" pitchFamily="18" charset="0"/>
                <a:ea typeface="Verdana" panose="020B0604030504040204" pitchFamily="34" charset="0"/>
              </a:rPr>
              <a:t>0</a:t>
            </a:r>
            <a:r>
              <a:rPr lang="ru-RU" dirty="0">
                <a:latin typeface="Times New Roman" panose="02020603050405020304" pitchFamily="18" charset="0"/>
                <a:ea typeface="Verdana" panose="020B0604030504040204" pitchFamily="34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ea typeface="Tahoma" panose="020B0604030504040204" pitchFamily="34" charset="0"/>
              </a:rPr>
              <a:t>+ ∆</a:t>
            </a:r>
            <a:r>
              <a:rPr lang="ru-RU" i="1" dirty="0">
                <a:latin typeface="Times New Roman" panose="02020603050405020304" pitchFamily="18" charset="0"/>
                <a:ea typeface="Meiryo"/>
              </a:rPr>
              <a:t>}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1" t="16171" r="300" b="5244"/>
          <a:stretch/>
        </p:blipFill>
        <p:spPr>
          <a:xfrm>
            <a:off x="5635430" y="1452216"/>
            <a:ext cx="2797520" cy="168885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7" t="17426" b="3762"/>
          <a:stretch/>
        </p:blipFill>
        <p:spPr>
          <a:xfrm>
            <a:off x="5734138" y="4019972"/>
            <a:ext cx="4447800" cy="26544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01505" y="2858384"/>
            <a:ext cx="477419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Рассмотреть спектральные составляющие на выходе ПЧ для случая </a:t>
            </a:r>
            <a:r>
              <a:rPr lang="ru-RU" i="1" dirty="0" smtClean="0">
                <a:latin typeface="Times New Roman" panose="02020603050405020304" pitchFamily="18" charset="0"/>
                <a:ea typeface="Arial" panose="020B0604020202020204" pitchFamily="34" charset="0"/>
              </a:rPr>
              <a:t>f</a:t>
            </a:r>
            <a:r>
              <a:rPr lang="ru-RU" baseline="-25000" dirty="0" smtClean="0">
                <a:latin typeface="Times New Roman" panose="02020603050405020304" pitchFamily="18" charset="0"/>
                <a:ea typeface="Verdana" panose="020B0604030504040204" pitchFamily="34" charset="0"/>
              </a:rPr>
              <a:t>г</a:t>
            </a:r>
            <a:r>
              <a:rPr lang="ru-RU" dirty="0" smtClean="0">
                <a:latin typeface="Times New Roman" panose="02020603050405020304" pitchFamily="18" charset="0"/>
                <a:ea typeface="Verdana" panose="020B0604030504040204" pitchFamily="34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ea typeface="Tahoma" panose="020B0604030504040204" pitchFamily="34" charset="0"/>
              </a:rPr>
              <a:t>=</a:t>
            </a:r>
            <a:r>
              <a:rPr lang="en-US" dirty="0" smtClean="0">
                <a:latin typeface="Times New Roman" panose="02020603050405020304" pitchFamily="18" charset="0"/>
                <a:ea typeface="Tahoma" panose="020B0604030504040204" pitchFamily="34" charset="0"/>
              </a:rPr>
              <a:t>n*</a:t>
            </a:r>
            <a:r>
              <a:rPr lang="ru-RU" dirty="0" smtClean="0">
                <a:latin typeface="Times New Roman" panose="02020603050405020304" pitchFamily="18" charset="0"/>
                <a:ea typeface="Tahoma" panose="020B0604030504040204" pitchFamily="34" charset="0"/>
              </a:rPr>
              <a:t>100 </a:t>
            </a:r>
            <a:r>
              <a:rPr lang="ru-RU" dirty="0" smtClean="0">
                <a:latin typeface="Times New Roman" panose="02020603050405020304" pitchFamily="18" charset="0"/>
                <a:ea typeface="Book Antiqua" panose="02040602050305030304" pitchFamily="18" charset="0"/>
              </a:rPr>
              <a:t>МГц, где </a:t>
            </a:r>
            <a:r>
              <a:rPr lang="en-US" dirty="0" smtClean="0">
                <a:latin typeface="Times New Roman" panose="02020603050405020304" pitchFamily="18" charset="0"/>
                <a:ea typeface="Book Antiqua" panose="02040602050305030304" pitchFamily="18" charset="0"/>
              </a:rPr>
              <a:t>n – </a:t>
            </a:r>
            <a:r>
              <a:rPr lang="ru-RU" dirty="0" smtClean="0">
                <a:latin typeface="Times New Roman" panose="02020603050405020304" pitchFamily="18" charset="0"/>
                <a:ea typeface="Book Antiqua" panose="02040602050305030304" pitchFamily="18" charset="0"/>
              </a:rPr>
              <a:t>номер бригады. В отчете указать каждую спектральную составляющую и ее связь с гармониками гетеродина и сигнала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71" t="4489" b="4422"/>
          <a:stretch/>
        </p:blipFill>
        <p:spPr>
          <a:xfrm>
            <a:off x="8646059" y="1335329"/>
            <a:ext cx="3452868" cy="2605701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101505" y="4341396"/>
            <a:ext cx="453392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34925" indent="-285750" algn="just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x-none" dirty="0">
                <a:latin typeface="Times New Roman" panose="02020603050405020304" pitchFamily="18" charset="0"/>
                <a:ea typeface="Times New Roman" panose="02020603050405020304" pitchFamily="18" charset="0"/>
              </a:rPr>
              <a:t>Рассчитайте подавление результатов преобразования вниз двойного балансного смесителя </a:t>
            </a:r>
            <a:r>
              <a:rPr lang="x-none" i="1" dirty="0">
                <a:latin typeface="Times New Roman" panose="02020603050405020304" pitchFamily="18" charset="0"/>
                <a:ea typeface="Arial" panose="020B0604020202020204" pitchFamily="34" charset="0"/>
              </a:rPr>
              <a:t>f</a:t>
            </a:r>
            <a:r>
              <a:rPr lang="x-none" i="1" baseline="-25000" dirty="0">
                <a:latin typeface="Times New Roman" panose="02020603050405020304" pitchFamily="18" charset="0"/>
                <a:ea typeface="Arial" panose="020B0604020202020204" pitchFamily="34" charset="0"/>
              </a:rPr>
              <a:t>п</a:t>
            </a:r>
            <a:r>
              <a:rPr lang="x-none" i="1" dirty="0">
                <a:latin typeface="Times New Roman" panose="02020603050405020304" pitchFamily="18" charset="0"/>
                <a:ea typeface="Arial" panose="020B0604020202020204" pitchFamily="34" charset="0"/>
              </a:rPr>
              <a:t> </a:t>
            </a:r>
            <a:r>
              <a:rPr lang="x-none" dirty="0">
                <a:latin typeface="Times New Roman" panose="02020603050405020304" pitchFamily="18" charset="0"/>
                <a:ea typeface="Tahoma" panose="020B0604030504040204" pitchFamily="34" charset="0"/>
              </a:rPr>
              <a:t>= </a:t>
            </a:r>
            <a:r>
              <a:rPr lang="x-none" i="1" dirty="0">
                <a:latin typeface="Times New Roman" panose="02020603050405020304" pitchFamily="18" charset="0"/>
                <a:ea typeface="Arial" panose="020B0604020202020204" pitchFamily="34" charset="0"/>
              </a:rPr>
              <a:t>f</a:t>
            </a:r>
            <a:r>
              <a:rPr lang="x-none" i="1" baseline="-25000" dirty="0">
                <a:latin typeface="Times New Roman" panose="02020603050405020304" pitchFamily="18" charset="0"/>
                <a:ea typeface="Arial" panose="020B0604020202020204" pitchFamily="34" charset="0"/>
              </a:rPr>
              <a:t>с</a:t>
            </a:r>
            <a:r>
              <a:rPr lang="x-none" i="1" dirty="0">
                <a:latin typeface="Times New Roman" panose="02020603050405020304" pitchFamily="18" charset="0"/>
                <a:ea typeface="Arial" panose="020B0604020202020204" pitchFamily="34" charset="0"/>
              </a:rPr>
              <a:t> </a:t>
            </a:r>
            <a:r>
              <a:rPr lang="x-none" i="1" dirty="0">
                <a:latin typeface="Times New Roman" panose="02020603050405020304" pitchFamily="18" charset="0"/>
                <a:ea typeface="Meiryo"/>
              </a:rPr>
              <a:t>− </a:t>
            </a:r>
            <a:r>
              <a:rPr lang="x-none" i="1" dirty="0">
                <a:latin typeface="Times New Roman" panose="02020603050405020304" pitchFamily="18" charset="0"/>
                <a:ea typeface="Arial" panose="020B0604020202020204" pitchFamily="34" charset="0"/>
              </a:rPr>
              <a:t>nf</a:t>
            </a:r>
            <a:r>
              <a:rPr lang="x-none" i="1" baseline="-25000" dirty="0">
                <a:latin typeface="Times New Roman" panose="02020603050405020304" pitchFamily="18" charset="0"/>
                <a:ea typeface="Arial" panose="020B0604020202020204" pitchFamily="34" charset="0"/>
              </a:rPr>
              <a:t>LO</a:t>
            </a:r>
            <a:r>
              <a:rPr lang="x-none" i="1" dirty="0">
                <a:latin typeface="Times New Roman" panose="02020603050405020304" pitchFamily="18" charset="0"/>
                <a:ea typeface="Arial" panose="020B0604020202020204" pitchFamily="34" charset="0"/>
              </a:rPr>
              <a:t> </a:t>
            </a:r>
            <a:r>
              <a:rPr lang="x-none" dirty="0">
                <a:latin typeface="Times New Roman" panose="02020603050405020304" pitchFamily="18" charset="0"/>
                <a:ea typeface="Times New Roman" panose="02020603050405020304" pitchFamily="18" charset="0"/>
              </a:rPr>
              <a:t>для </a:t>
            </a:r>
            <a:r>
              <a:rPr lang="x-none" i="1" dirty="0">
                <a:latin typeface="Times New Roman" panose="02020603050405020304" pitchFamily="18" charset="0"/>
                <a:ea typeface="Arial" panose="020B0604020202020204" pitchFamily="34" charset="0"/>
              </a:rPr>
              <a:t>n </a:t>
            </a:r>
            <a:r>
              <a:rPr lang="x-none" dirty="0">
                <a:latin typeface="Times New Roman" panose="02020603050405020304" pitchFamily="18" charset="0"/>
                <a:ea typeface="Tahoma" panose="020B0604030504040204" pitchFamily="34" charset="0"/>
              </a:rPr>
              <a:t>= 2</a:t>
            </a:r>
            <a:r>
              <a:rPr lang="x-none" i="1" dirty="0">
                <a:latin typeface="Times New Roman" panose="02020603050405020304" pitchFamily="18" charset="0"/>
                <a:ea typeface="Arial" panose="020B0604020202020204" pitchFamily="34" charset="0"/>
              </a:rPr>
              <a:t>, </a:t>
            </a:r>
            <a:r>
              <a:rPr lang="x-none" dirty="0">
                <a:latin typeface="Times New Roman" panose="02020603050405020304" pitchFamily="18" charset="0"/>
                <a:ea typeface="Tahoma" panose="020B0604030504040204" pitchFamily="34" charset="0"/>
              </a:rPr>
              <a:t>3</a:t>
            </a:r>
            <a:r>
              <a:rPr lang="x-none" i="1" dirty="0">
                <a:latin typeface="Times New Roman" panose="02020603050405020304" pitchFamily="18" charset="0"/>
                <a:ea typeface="Arial" panose="020B0604020202020204" pitchFamily="34" charset="0"/>
              </a:rPr>
              <a:t>, </a:t>
            </a:r>
            <a:r>
              <a:rPr lang="x-none" dirty="0">
                <a:latin typeface="Times New Roman" panose="02020603050405020304" pitchFamily="18" charset="0"/>
                <a:ea typeface="Tahoma" panose="020B0604030504040204" pitchFamily="34" charset="0"/>
              </a:rPr>
              <a:t>4</a:t>
            </a:r>
            <a:r>
              <a:rPr lang="x-none" i="1" dirty="0">
                <a:latin typeface="Times New Roman" panose="02020603050405020304" pitchFamily="18" charset="0"/>
                <a:ea typeface="Arial" panose="020B0604020202020204" pitchFamily="34" charset="0"/>
              </a:rPr>
              <a:t>, </a:t>
            </a:r>
            <a:r>
              <a:rPr lang="x-none" dirty="0">
                <a:latin typeface="Times New Roman" panose="02020603050405020304" pitchFamily="18" charset="0"/>
                <a:ea typeface="Tahoma" panose="020B0604030504040204" pitchFamily="34" charset="0"/>
              </a:rPr>
              <a:t>5 </a:t>
            </a:r>
            <a:r>
              <a:rPr lang="x-none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относительно </a:t>
            </a:r>
            <a:r>
              <a:rPr lang="x-none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n </a:t>
            </a:r>
            <a:r>
              <a:rPr lang="x-none" dirty="0">
                <a:latin typeface="Times New Roman" panose="02020603050405020304" pitchFamily="18" charset="0"/>
                <a:ea typeface="Times New Roman" panose="02020603050405020304" pitchFamily="18" charset="0"/>
              </a:rPr>
              <a:t>= 1</a:t>
            </a:r>
            <a:r>
              <a:rPr lang="x-none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Какой уровень ожидать на анализаторе спектра, если проделать экспериментальное исследование для определения коэффициента подавления?</a:t>
            </a:r>
            <a:endParaRPr lang="en-US" sz="16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2235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1" y="328807"/>
            <a:ext cx="9905998" cy="1056373"/>
          </a:xfrm>
        </p:spPr>
        <p:txBody>
          <a:bodyPr>
            <a:normAutofit fontScale="90000"/>
          </a:bodyPr>
          <a:lstStyle/>
          <a:p>
            <a:r>
              <a:rPr lang="x-none" b="1" i="1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Измерение коэффициентов передачи при преобразовании частоты </a:t>
            </a:r>
            <a:r>
              <a:rPr lang="x-none" b="1" i="1" spc="-1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вверх</a:t>
            </a:r>
            <a:endParaRPr lang="en-US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143001" y="138518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1598709"/>
              </p:ext>
            </p:extLst>
          </p:nvPr>
        </p:nvGraphicFramePr>
        <p:xfrm>
          <a:off x="1224482" y="2441553"/>
          <a:ext cx="4733925" cy="229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5" r:id="rId3" imgW="2926890" imgH="1416150" progId="Visio.Drawing.11">
                  <p:embed/>
                </p:oleObj>
              </mc:Choice>
              <mc:Fallback>
                <p:oleObj r:id="rId3" imgW="2926890" imgH="141615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4482" y="2441553"/>
                        <a:ext cx="4733925" cy="2295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1710650"/>
              </p:ext>
            </p:extLst>
          </p:nvPr>
        </p:nvGraphicFramePr>
        <p:xfrm>
          <a:off x="4302062" y="3589315"/>
          <a:ext cx="906463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6" name="Equation" r:id="rId5" imgW="906935" imgH="237901" progId="Equation.DSMT4">
                  <p:embed/>
                </p:oleObj>
              </mc:Choice>
              <mc:Fallback>
                <p:oleObj name="Equation" r:id="rId5" imgW="906935" imgH="237901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02062" y="3589315"/>
                        <a:ext cx="906463" cy="238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060" r="4389" b="4422"/>
          <a:stretch/>
        </p:blipFill>
        <p:spPr>
          <a:xfrm>
            <a:off x="6521864" y="1385180"/>
            <a:ext cx="4170279" cy="201244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742" r="1519" b="18680"/>
          <a:stretch/>
        </p:blipFill>
        <p:spPr>
          <a:xfrm>
            <a:off x="6499712" y="3784350"/>
            <a:ext cx="4192432" cy="1774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5289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69" t="8053" r="7063" b="9439"/>
          <a:stretch/>
        </p:blipFill>
        <p:spPr>
          <a:xfrm>
            <a:off x="2722075" y="2234345"/>
            <a:ext cx="5833450" cy="434036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364056" y="469044"/>
            <a:ext cx="902932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Измерьте коэффициент </a:t>
            </a:r>
            <a:r>
              <a:rPr lang="ru-RU" dirty="0">
                <a:latin typeface="Times New Roman" panose="02020603050405020304" pitchFamily="18" charset="0"/>
                <a:ea typeface="Book Antiqua" panose="02040602050305030304" pitchFamily="18" charset="0"/>
              </a:rPr>
              <a:t>преобразования (</a:t>
            </a:r>
            <a:r>
              <a:rPr lang="ru-RU" i="1" dirty="0">
                <a:latin typeface="Times New Roman" panose="02020603050405020304" pitchFamily="18" charset="0"/>
                <a:ea typeface="Book Antiqua" panose="02040602050305030304" pitchFamily="18" charset="0"/>
              </a:rPr>
              <a:t>Conversion Loss</a:t>
            </a:r>
            <a:r>
              <a:rPr lang="ru-RU" dirty="0">
                <a:latin typeface="Times New Roman" panose="02020603050405020304" pitchFamily="18" charset="0"/>
                <a:ea typeface="Book Antiqua" panose="02040602050305030304" pitchFamily="18" charset="0"/>
              </a:rPr>
              <a:t>), равный </a:t>
            </a:r>
            <a:r>
              <a:rPr lang="ru-RU" i="1" dirty="0">
                <a:latin typeface="Times New Roman" panose="02020603050405020304" pitchFamily="18" charset="0"/>
                <a:ea typeface="Arial" panose="020B0604020202020204" pitchFamily="34" charset="0"/>
              </a:rPr>
              <a:t>P</a:t>
            </a:r>
            <a:r>
              <a:rPr lang="ru-RU" i="1" baseline="-25000" dirty="0">
                <a:latin typeface="Times New Roman" panose="02020603050405020304" pitchFamily="18" charset="0"/>
                <a:ea typeface="Arial" panose="020B0604020202020204" pitchFamily="34" charset="0"/>
              </a:rPr>
              <a:t>RF</a:t>
            </a:r>
            <a:r>
              <a:rPr lang="ru-RU" i="1" dirty="0">
                <a:latin typeface="Times New Roman" panose="02020603050405020304" pitchFamily="18" charset="0"/>
                <a:ea typeface="Arial" panose="020B0604020202020204" pitchFamily="34" charset="0"/>
              </a:rPr>
              <a:t> /P</a:t>
            </a:r>
            <a:r>
              <a:rPr lang="ru-RU" i="1" baseline="-25000" dirty="0">
                <a:latin typeface="Times New Roman" panose="02020603050405020304" pitchFamily="18" charset="0"/>
                <a:ea typeface="Arial" panose="020B0604020202020204" pitchFamily="34" charset="0"/>
              </a:rPr>
              <a:t>IF</a:t>
            </a:r>
            <a:r>
              <a:rPr lang="ru-RU" i="1" dirty="0">
                <a:latin typeface="Times New Roman" panose="02020603050405020304" pitchFamily="18" charset="0"/>
                <a:ea typeface="Arial" panose="020B0604020202020204" pitchFamily="34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ea typeface="Book Antiqua" panose="02040602050305030304" pitchFamily="18" charset="0"/>
              </a:rPr>
              <a:t>для </a:t>
            </a:r>
            <a:r>
              <a:rPr lang="ru-RU" dirty="0">
                <a:latin typeface="Times New Roman" panose="02020603050405020304" pitchFamily="18" charset="0"/>
                <a:ea typeface="Book Antiqua" panose="02040602050305030304" pitchFamily="18" charset="0"/>
              </a:rPr>
              <a:t>частот </a:t>
            </a:r>
            <a:r>
              <a:rPr lang="ru-RU" i="1" dirty="0">
                <a:latin typeface="Times New Roman" panose="02020603050405020304" pitchFamily="18" charset="0"/>
                <a:ea typeface="Meiryo"/>
              </a:rPr>
              <a:t>{</a:t>
            </a:r>
            <a:r>
              <a:rPr lang="ru-RU" i="1" dirty="0">
                <a:latin typeface="Times New Roman" panose="02020603050405020304" pitchFamily="18" charset="0"/>
                <a:ea typeface="Arial" panose="020B0604020202020204" pitchFamily="34" charset="0"/>
              </a:rPr>
              <a:t>f</a:t>
            </a:r>
            <a:r>
              <a:rPr lang="ru-RU" i="1" baseline="-25000" dirty="0">
                <a:latin typeface="Times New Roman" panose="02020603050405020304" pitchFamily="18" charset="0"/>
                <a:ea typeface="Arial" panose="020B0604020202020204" pitchFamily="34" charset="0"/>
              </a:rPr>
              <a:t>LO</a:t>
            </a:r>
            <a:r>
              <a:rPr lang="ru-RU" i="1" dirty="0">
                <a:latin typeface="Times New Roman" panose="02020603050405020304" pitchFamily="18" charset="0"/>
                <a:ea typeface="Arial" panose="020B0604020202020204" pitchFamily="34" charset="0"/>
              </a:rPr>
              <a:t>, f</a:t>
            </a:r>
            <a:r>
              <a:rPr lang="ru-RU" i="1" baseline="-25000" dirty="0">
                <a:latin typeface="Times New Roman" panose="02020603050405020304" pitchFamily="18" charset="0"/>
                <a:ea typeface="Arial" panose="020B0604020202020204" pitchFamily="34" charset="0"/>
              </a:rPr>
              <a:t>п</a:t>
            </a:r>
            <a:r>
              <a:rPr lang="ru-RU" i="1" dirty="0">
                <a:latin typeface="Times New Roman" panose="02020603050405020304" pitchFamily="18" charset="0"/>
                <a:ea typeface="Arial" panose="020B0604020202020204" pitchFamily="34" charset="0"/>
              </a:rPr>
              <a:t> </a:t>
            </a:r>
            <a:r>
              <a:rPr lang="ru-RU" i="1" dirty="0">
                <a:latin typeface="Times New Roman" panose="02020603050405020304" pitchFamily="18" charset="0"/>
                <a:ea typeface="Meiryo"/>
              </a:rPr>
              <a:t>} </a:t>
            </a:r>
            <a:r>
              <a:rPr lang="ru-RU" dirty="0">
                <a:latin typeface="Times New Roman" panose="02020603050405020304" pitchFamily="18" charset="0"/>
                <a:ea typeface="Tahoma" panose="020B0604030504040204" pitchFamily="34" charset="0"/>
              </a:rPr>
              <a:t>= </a:t>
            </a:r>
            <a:r>
              <a:rPr lang="ru-RU" i="1" dirty="0">
                <a:latin typeface="Times New Roman" panose="02020603050405020304" pitchFamily="18" charset="0"/>
                <a:ea typeface="Meiryo"/>
              </a:rPr>
              <a:t>{</a:t>
            </a:r>
            <a:r>
              <a:rPr lang="ru-RU" i="1" dirty="0">
                <a:latin typeface="Times New Roman" panose="02020603050405020304" pitchFamily="18" charset="0"/>
                <a:ea typeface="Arial" panose="020B0604020202020204" pitchFamily="34" charset="0"/>
              </a:rPr>
              <a:t>f</a:t>
            </a:r>
            <a:r>
              <a:rPr lang="ru-RU" i="1" baseline="-25000" dirty="0">
                <a:latin typeface="Times New Roman" panose="02020603050405020304" pitchFamily="18" charset="0"/>
                <a:ea typeface="Verdana" panose="020B0604030504040204" pitchFamily="34" charset="0"/>
              </a:rPr>
              <a:t>0</a:t>
            </a:r>
            <a:r>
              <a:rPr lang="ru-RU" i="1" dirty="0">
                <a:latin typeface="Times New Roman" panose="02020603050405020304" pitchFamily="18" charset="0"/>
                <a:ea typeface="Arial" panose="020B0604020202020204" pitchFamily="34" charset="0"/>
              </a:rPr>
              <a:t>, f</a:t>
            </a:r>
            <a:r>
              <a:rPr lang="ru-RU" i="1" baseline="-25000" dirty="0">
                <a:latin typeface="Times New Roman" panose="02020603050405020304" pitchFamily="18" charset="0"/>
                <a:ea typeface="Verdana" panose="020B0604030504040204" pitchFamily="34" charset="0"/>
              </a:rPr>
              <a:t>0</a:t>
            </a:r>
            <a:r>
              <a:rPr lang="ru-RU" i="1" dirty="0">
                <a:latin typeface="Times New Roman" panose="02020603050405020304" pitchFamily="18" charset="0"/>
                <a:ea typeface="Verdana" panose="020B0604030504040204" pitchFamily="34" charset="0"/>
              </a:rPr>
              <a:t> </a:t>
            </a:r>
            <a:r>
              <a:rPr lang="ru-RU" i="1" dirty="0">
                <a:latin typeface="Times New Roman" panose="02020603050405020304" pitchFamily="18" charset="0"/>
                <a:ea typeface="Tahoma" panose="020B0604030504040204" pitchFamily="34" charset="0"/>
              </a:rPr>
              <a:t>+ ∆; 2</a:t>
            </a:r>
            <a:r>
              <a:rPr lang="ru-RU" i="1" dirty="0">
                <a:latin typeface="Times New Roman" panose="02020603050405020304" pitchFamily="18" charset="0"/>
                <a:ea typeface="Arial" panose="020B0604020202020204" pitchFamily="34" charset="0"/>
              </a:rPr>
              <a:t>f</a:t>
            </a:r>
            <a:r>
              <a:rPr lang="ru-RU" i="1" baseline="-25000" dirty="0">
                <a:latin typeface="Times New Roman" panose="02020603050405020304" pitchFamily="18" charset="0"/>
                <a:ea typeface="Verdana" panose="020B0604030504040204" pitchFamily="34" charset="0"/>
              </a:rPr>
              <a:t>0</a:t>
            </a:r>
            <a:r>
              <a:rPr lang="ru-RU" i="1" dirty="0">
                <a:latin typeface="Times New Roman" panose="02020603050405020304" pitchFamily="18" charset="0"/>
                <a:ea typeface="Arial" panose="020B0604020202020204" pitchFamily="34" charset="0"/>
              </a:rPr>
              <a:t>, </a:t>
            </a:r>
            <a:r>
              <a:rPr lang="ru-RU" i="1" dirty="0">
                <a:latin typeface="Times New Roman" panose="02020603050405020304" pitchFamily="18" charset="0"/>
                <a:ea typeface="Tahoma" panose="020B0604030504040204" pitchFamily="34" charset="0"/>
              </a:rPr>
              <a:t>2</a:t>
            </a:r>
            <a:r>
              <a:rPr lang="ru-RU" i="1" dirty="0">
                <a:latin typeface="Times New Roman" panose="02020603050405020304" pitchFamily="18" charset="0"/>
                <a:ea typeface="Arial" panose="020B0604020202020204" pitchFamily="34" charset="0"/>
              </a:rPr>
              <a:t>f</a:t>
            </a:r>
            <a:r>
              <a:rPr lang="ru-RU" i="1" baseline="-25000" dirty="0">
                <a:latin typeface="Times New Roman" panose="02020603050405020304" pitchFamily="18" charset="0"/>
                <a:ea typeface="Verdana" panose="020B0604030504040204" pitchFamily="34" charset="0"/>
              </a:rPr>
              <a:t>0</a:t>
            </a:r>
            <a:r>
              <a:rPr lang="ru-RU" i="1" dirty="0">
                <a:latin typeface="Times New Roman" panose="02020603050405020304" pitchFamily="18" charset="0"/>
                <a:ea typeface="Verdana" panose="020B0604030504040204" pitchFamily="34" charset="0"/>
              </a:rPr>
              <a:t> </a:t>
            </a:r>
            <a:r>
              <a:rPr lang="ru-RU" i="1" dirty="0">
                <a:latin typeface="Times New Roman" panose="02020603050405020304" pitchFamily="18" charset="0"/>
                <a:ea typeface="Tahoma" panose="020B0604030504040204" pitchFamily="34" charset="0"/>
              </a:rPr>
              <a:t>+∆; 3</a:t>
            </a:r>
            <a:r>
              <a:rPr lang="ru-RU" i="1" dirty="0">
                <a:latin typeface="Times New Roman" panose="02020603050405020304" pitchFamily="18" charset="0"/>
                <a:ea typeface="Arial" panose="020B0604020202020204" pitchFamily="34" charset="0"/>
              </a:rPr>
              <a:t>f</a:t>
            </a:r>
            <a:r>
              <a:rPr lang="ru-RU" i="1" baseline="-25000" dirty="0">
                <a:latin typeface="Times New Roman" panose="02020603050405020304" pitchFamily="18" charset="0"/>
                <a:ea typeface="Verdana" panose="020B0604030504040204" pitchFamily="34" charset="0"/>
              </a:rPr>
              <a:t>0</a:t>
            </a:r>
            <a:r>
              <a:rPr lang="ru-RU" i="1" dirty="0">
                <a:latin typeface="Times New Roman" panose="02020603050405020304" pitchFamily="18" charset="0"/>
                <a:ea typeface="Arial" panose="020B0604020202020204" pitchFamily="34" charset="0"/>
              </a:rPr>
              <a:t>, </a:t>
            </a:r>
            <a:r>
              <a:rPr lang="ru-RU" i="1" dirty="0">
                <a:latin typeface="Times New Roman" panose="02020603050405020304" pitchFamily="18" charset="0"/>
                <a:ea typeface="Tahoma" panose="020B0604030504040204" pitchFamily="34" charset="0"/>
              </a:rPr>
              <a:t>3</a:t>
            </a:r>
            <a:r>
              <a:rPr lang="ru-RU" i="1" dirty="0">
                <a:latin typeface="Times New Roman" panose="02020603050405020304" pitchFamily="18" charset="0"/>
                <a:ea typeface="Arial" panose="020B0604020202020204" pitchFamily="34" charset="0"/>
              </a:rPr>
              <a:t>f</a:t>
            </a:r>
            <a:r>
              <a:rPr lang="ru-RU" i="1" baseline="-25000" dirty="0">
                <a:latin typeface="Times New Roman" panose="02020603050405020304" pitchFamily="18" charset="0"/>
                <a:ea typeface="Verdana" panose="020B0604030504040204" pitchFamily="34" charset="0"/>
              </a:rPr>
              <a:t>0</a:t>
            </a:r>
            <a:r>
              <a:rPr lang="ru-RU" i="1" dirty="0">
                <a:latin typeface="Times New Roman" panose="02020603050405020304" pitchFamily="18" charset="0"/>
                <a:ea typeface="Verdana" panose="020B0604030504040204" pitchFamily="34" charset="0"/>
              </a:rPr>
              <a:t> </a:t>
            </a:r>
            <a:r>
              <a:rPr lang="ru-RU" i="1" dirty="0">
                <a:latin typeface="Times New Roman" panose="02020603050405020304" pitchFamily="18" charset="0"/>
                <a:ea typeface="Tahoma" panose="020B0604030504040204" pitchFamily="34" charset="0"/>
              </a:rPr>
              <a:t>+ ∆; 4</a:t>
            </a:r>
            <a:r>
              <a:rPr lang="ru-RU" i="1" dirty="0">
                <a:latin typeface="Times New Roman" panose="02020603050405020304" pitchFamily="18" charset="0"/>
                <a:ea typeface="Arial" panose="020B0604020202020204" pitchFamily="34" charset="0"/>
              </a:rPr>
              <a:t>f</a:t>
            </a:r>
            <a:r>
              <a:rPr lang="ru-RU" i="1" baseline="-25000" dirty="0">
                <a:latin typeface="Times New Roman" panose="02020603050405020304" pitchFamily="18" charset="0"/>
                <a:ea typeface="Verdana" panose="020B0604030504040204" pitchFamily="34" charset="0"/>
              </a:rPr>
              <a:t>0</a:t>
            </a:r>
            <a:r>
              <a:rPr lang="ru-RU" i="1" dirty="0">
                <a:latin typeface="Times New Roman" panose="02020603050405020304" pitchFamily="18" charset="0"/>
                <a:ea typeface="Arial" panose="020B0604020202020204" pitchFamily="34" charset="0"/>
              </a:rPr>
              <a:t>, </a:t>
            </a:r>
            <a:r>
              <a:rPr lang="ru-RU" i="1" dirty="0">
                <a:latin typeface="Times New Roman" panose="02020603050405020304" pitchFamily="18" charset="0"/>
                <a:ea typeface="Tahoma" panose="020B0604030504040204" pitchFamily="34" charset="0"/>
              </a:rPr>
              <a:t>4</a:t>
            </a:r>
            <a:r>
              <a:rPr lang="ru-RU" i="1" dirty="0">
                <a:latin typeface="Times New Roman" panose="02020603050405020304" pitchFamily="18" charset="0"/>
                <a:ea typeface="Arial" panose="020B0604020202020204" pitchFamily="34" charset="0"/>
              </a:rPr>
              <a:t>f</a:t>
            </a:r>
            <a:r>
              <a:rPr lang="ru-RU" i="1" baseline="-25000" dirty="0">
                <a:latin typeface="Times New Roman" panose="02020603050405020304" pitchFamily="18" charset="0"/>
                <a:ea typeface="Verdana" panose="020B0604030504040204" pitchFamily="34" charset="0"/>
              </a:rPr>
              <a:t>0</a:t>
            </a:r>
            <a:r>
              <a:rPr lang="ru-RU" i="1" dirty="0">
                <a:latin typeface="Times New Roman" panose="02020603050405020304" pitchFamily="18" charset="0"/>
                <a:ea typeface="Verdana" panose="020B0604030504040204" pitchFamily="34" charset="0"/>
              </a:rPr>
              <a:t> </a:t>
            </a:r>
            <a:r>
              <a:rPr lang="ru-RU" i="1" dirty="0">
                <a:latin typeface="Times New Roman" panose="02020603050405020304" pitchFamily="18" charset="0"/>
                <a:ea typeface="Tahoma" panose="020B0604030504040204" pitchFamily="34" charset="0"/>
              </a:rPr>
              <a:t>+∆; 5</a:t>
            </a:r>
            <a:r>
              <a:rPr lang="ru-RU" i="1" dirty="0">
                <a:latin typeface="Times New Roman" panose="02020603050405020304" pitchFamily="18" charset="0"/>
                <a:ea typeface="Arial" panose="020B0604020202020204" pitchFamily="34" charset="0"/>
              </a:rPr>
              <a:t>f</a:t>
            </a:r>
            <a:r>
              <a:rPr lang="ru-RU" i="1" baseline="-25000" dirty="0">
                <a:latin typeface="Times New Roman" panose="02020603050405020304" pitchFamily="18" charset="0"/>
                <a:ea typeface="Verdana" panose="020B0604030504040204" pitchFamily="34" charset="0"/>
              </a:rPr>
              <a:t>0</a:t>
            </a:r>
            <a:r>
              <a:rPr lang="ru-RU" i="1" dirty="0">
                <a:latin typeface="Times New Roman" panose="02020603050405020304" pitchFamily="18" charset="0"/>
                <a:ea typeface="Arial" panose="020B0604020202020204" pitchFamily="34" charset="0"/>
              </a:rPr>
              <a:t>, </a:t>
            </a:r>
            <a:r>
              <a:rPr lang="ru-RU" i="1" dirty="0">
                <a:latin typeface="Times New Roman" panose="02020603050405020304" pitchFamily="18" charset="0"/>
                <a:ea typeface="Tahoma" panose="020B0604030504040204" pitchFamily="34" charset="0"/>
              </a:rPr>
              <a:t>5</a:t>
            </a:r>
            <a:r>
              <a:rPr lang="ru-RU" i="1" dirty="0">
                <a:latin typeface="Times New Roman" panose="02020603050405020304" pitchFamily="18" charset="0"/>
                <a:ea typeface="Arial" panose="020B0604020202020204" pitchFamily="34" charset="0"/>
              </a:rPr>
              <a:t>f</a:t>
            </a:r>
            <a:r>
              <a:rPr lang="ru-RU" i="1" baseline="-25000" dirty="0">
                <a:latin typeface="Times New Roman" panose="02020603050405020304" pitchFamily="18" charset="0"/>
                <a:ea typeface="Verdana" panose="020B0604030504040204" pitchFamily="34" charset="0"/>
              </a:rPr>
              <a:t>0</a:t>
            </a:r>
            <a:r>
              <a:rPr lang="ru-RU" i="1" dirty="0">
                <a:latin typeface="Times New Roman" panose="02020603050405020304" pitchFamily="18" charset="0"/>
                <a:ea typeface="Verdana" panose="020B0604030504040204" pitchFamily="34" charset="0"/>
              </a:rPr>
              <a:t> </a:t>
            </a:r>
            <a:r>
              <a:rPr lang="ru-RU" i="1" dirty="0">
                <a:latin typeface="Times New Roman" panose="02020603050405020304" pitchFamily="18" charset="0"/>
                <a:ea typeface="Tahoma" panose="020B0604030504040204" pitchFamily="34" charset="0"/>
              </a:rPr>
              <a:t>+ ∆</a:t>
            </a:r>
            <a:r>
              <a:rPr lang="ru-RU" i="1" dirty="0" smtClean="0">
                <a:latin typeface="Times New Roman" panose="02020603050405020304" pitchFamily="18" charset="0"/>
                <a:ea typeface="Meiryo"/>
              </a:rPr>
              <a:t>}</a:t>
            </a:r>
            <a:r>
              <a:rPr lang="ru-RU" dirty="0" smtClean="0">
                <a:latin typeface="Times New Roman" panose="02020603050405020304" pitchFamily="18" charset="0"/>
                <a:ea typeface="Book Antiqua" panose="02040602050305030304" pitchFamily="18" charset="0"/>
              </a:rPr>
              <a:t>,</a:t>
            </a:r>
          </a:p>
          <a:p>
            <a:r>
              <a:rPr lang="ru-RU" dirty="0" smtClean="0">
                <a:latin typeface="Times New Roman" panose="02020603050405020304" pitchFamily="18" charset="0"/>
                <a:ea typeface="Book Antiqua" panose="02040602050305030304" pitchFamily="18" charset="0"/>
              </a:rPr>
              <a:t>      </a:t>
            </a:r>
            <a:r>
              <a:rPr lang="ru-RU" i="1" dirty="0">
                <a:latin typeface="Times New Roman" panose="02020603050405020304" pitchFamily="18" charset="0"/>
                <a:ea typeface="Arial" panose="020B0604020202020204" pitchFamily="34" charset="0"/>
              </a:rPr>
              <a:t>f</a:t>
            </a:r>
            <a:r>
              <a:rPr lang="ru-RU" baseline="-25000" dirty="0">
                <a:latin typeface="Times New Roman" panose="02020603050405020304" pitchFamily="18" charset="0"/>
                <a:ea typeface="Verdana" panose="020B0604030504040204" pitchFamily="34" charset="0"/>
              </a:rPr>
              <a:t>0</a:t>
            </a:r>
            <a:r>
              <a:rPr lang="ru-RU" dirty="0">
                <a:latin typeface="Times New Roman" panose="02020603050405020304" pitchFamily="18" charset="0"/>
                <a:ea typeface="Verdana" panose="020B0604030504040204" pitchFamily="34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ea typeface="Tahoma" panose="020B0604030504040204" pitchFamily="34" charset="0"/>
              </a:rPr>
              <a:t>=</a:t>
            </a:r>
            <a:r>
              <a:rPr lang="ru-RU" i="1" dirty="0">
                <a:latin typeface="Times New Roman" panose="02020603050405020304" pitchFamily="18" charset="0"/>
                <a:ea typeface="Tahoma" panose="020B0604030504040204" pitchFamily="34" charset="0"/>
              </a:rPr>
              <a:t>100 </a:t>
            </a:r>
            <a:r>
              <a:rPr lang="ru-RU" i="1" dirty="0">
                <a:latin typeface="Times New Roman" panose="02020603050405020304" pitchFamily="18" charset="0"/>
                <a:ea typeface="Book Antiqua" panose="02040602050305030304" pitchFamily="18" charset="0"/>
              </a:rPr>
              <a:t>МГц,  </a:t>
            </a:r>
            <a:r>
              <a:rPr lang="ru-RU" i="1" dirty="0">
                <a:latin typeface="Times New Roman" panose="02020603050405020304" pitchFamily="18" charset="0"/>
                <a:ea typeface="Tahoma" panose="020B0604030504040204" pitchFamily="34" charset="0"/>
              </a:rPr>
              <a:t>∆ =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fс =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20 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МГц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Рассмотреть спектральные составляющие на выходе ПЧ для случая fг =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n*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100 МГц, где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n – 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номер бригады. В отчете указать каждую спектральную составляющую и ее связь с гармониками гетеродина и сигнала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24984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4497" y="319754"/>
            <a:ext cx="10238793" cy="1478570"/>
          </a:xfrm>
        </p:spPr>
        <p:txBody>
          <a:bodyPr>
            <a:normAutofit fontScale="90000"/>
          </a:bodyPr>
          <a:lstStyle/>
          <a:p>
            <a:r>
              <a:rPr lang="x-none" b="1" i="1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Измерение фазовой и амплитудной характеристик смесителя в режиме </a:t>
            </a:r>
            <a:r>
              <a:rPr lang="x-none" b="1" i="1" spc="-1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детектора</a:t>
            </a:r>
            <a:endParaRPr lang="en-US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1764801"/>
              </p:ext>
            </p:extLst>
          </p:nvPr>
        </p:nvGraphicFramePr>
        <p:xfrm>
          <a:off x="766859" y="3437278"/>
          <a:ext cx="2763994" cy="334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2" name="Equation" r:id="rId3" imgW="3703497" imgH="447730" progId="Equation.DSMT4">
                  <p:embed/>
                </p:oleObj>
              </mc:Choice>
              <mc:Fallback>
                <p:oleObj name="Equation" r:id="rId3" imgW="3703497" imgH="44773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66859" y="3437278"/>
                        <a:ext cx="2763994" cy="3340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5"/>
          <p:cNvGrpSpPr/>
          <p:nvPr/>
        </p:nvGrpSpPr>
        <p:grpSpPr>
          <a:xfrm>
            <a:off x="909522" y="1660172"/>
            <a:ext cx="2349723" cy="1651485"/>
            <a:chOff x="4177824" y="1261820"/>
            <a:chExt cx="1729870" cy="1200594"/>
          </a:xfrm>
        </p:grpSpPr>
        <p:sp>
          <p:nvSpPr>
            <p:cNvPr id="7" name="Прямоугольник 12"/>
            <p:cNvSpPr/>
            <p:nvPr/>
          </p:nvSpPr>
          <p:spPr>
            <a:xfrm>
              <a:off x="4273602" y="1353144"/>
              <a:ext cx="1634092" cy="110927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aphicFrame>
          <p:nvGraphicFramePr>
            <p:cNvPr id="8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53594550"/>
                </p:ext>
              </p:extLst>
            </p:nvPr>
          </p:nvGraphicFramePr>
          <p:xfrm>
            <a:off x="4177824" y="1261820"/>
            <a:ext cx="1724025" cy="1190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53" r:id="rId5" imgW="1076480" imgH="742230" progId="">
                    <p:embed/>
                  </p:oleObj>
                </mc:Choice>
                <mc:Fallback>
                  <p:oleObj r:id="rId5" imgW="1076480" imgH="742230" progId="">
                    <p:embed/>
                    <p:pic>
                      <p:nvPicPr>
                        <p:cNvPr id="14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7824" y="1261820"/>
                          <a:ext cx="1724025" cy="11906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809999" y="1796642"/>
            <a:ext cx="3126985" cy="234523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517344" y="1796643"/>
            <a:ext cx="3126985" cy="234523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312889" y="3771374"/>
            <a:ext cx="3829615" cy="10669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3">
              <a:spcBef>
                <a:spcPts val="155"/>
              </a:spcBef>
              <a:spcAft>
                <a:spcPts val="0"/>
              </a:spcAft>
              <a:buSzPts val="1000"/>
              <a:tabLst>
                <a:tab pos="1366520" algn="l"/>
              </a:tabLst>
            </a:pPr>
            <a:r>
              <a:rPr lang="en-US" sz="1200" b="1" dirty="0" smtClean="0">
                <a:latin typeface="Arial" panose="020B0604020202020204" pitchFamily="34" charset="0"/>
                <a:ea typeface="Arial Unicode MS"/>
                <a:cs typeface="Arial" panose="020B0604020202020204" pitchFamily="34" charset="0"/>
              </a:rPr>
              <a:t>Source:</a:t>
            </a:r>
            <a:r>
              <a:rPr lang="ru-RU" sz="1200" b="1" dirty="0" smtClean="0">
                <a:latin typeface="Arial" panose="020B0604020202020204" pitchFamily="34" charset="0"/>
                <a:ea typeface="Arial Unicode MS"/>
                <a:cs typeface="Arial" panose="020B0604020202020204" pitchFamily="34" charset="0"/>
              </a:rPr>
              <a:t> </a:t>
            </a:r>
          </a:p>
          <a:p>
            <a:pPr marL="171450" lvl="3" indent="-171450">
              <a:spcBef>
                <a:spcPts val="155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•"/>
              <a:tabLst>
                <a:tab pos="1366520" algn="l"/>
              </a:tabLst>
            </a:pPr>
            <a:r>
              <a:rPr lang="en-US" sz="1200" dirty="0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Internal</a:t>
            </a:r>
            <a:r>
              <a:rPr lang="en-US" sz="1200" spc="-115" dirty="0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200" dirty="0">
                <a:latin typeface="Arial" panose="020B0604020202020204" pitchFamily="34" charset="0"/>
                <a:ea typeface="Book Antiqua" panose="02040602050305030304" pitchFamily="18" charset="0"/>
                <a:cs typeface="Arial" panose="020B0604020202020204" pitchFamily="34" charset="0"/>
              </a:rPr>
              <a:t>–</a:t>
            </a:r>
            <a:r>
              <a:rPr lang="en-US" sz="1200" spc="-50" dirty="0">
                <a:latin typeface="Arial" panose="020B0604020202020204" pitchFamily="34" charset="0"/>
                <a:ea typeface="Book Antiqua" panose="02040602050305030304" pitchFamily="18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ea typeface="Book Antiqua" panose="02040602050305030304" pitchFamily="18" charset="0"/>
                <a:cs typeface="Arial" panose="020B0604020202020204" pitchFamily="34" charset="0"/>
              </a:rPr>
              <a:t>внутренний</a:t>
            </a:r>
            <a:r>
              <a:rPr lang="en-US" sz="1200" spc="-55" dirty="0">
                <a:latin typeface="Arial" panose="020B0604020202020204" pitchFamily="34" charset="0"/>
                <a:ea typeface="Book Antiqua" panose="02040602050305030304" pitchFamily="18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ea typeface="Book Antiqua" panose="02040602050305030304" pitchFamily="18" charset="0"/>
                <a:cs typeface="Arial" panose="020B0604020202020204" pitchFamily="34" charset="0"/>
              </a:rPr>
              <a:t>опорный</a:t>
            </a:r>
            <a:r>
              <a:rPr lang="en-US" sz="1200" spc="-55" dirty="0">
                <a:latin typeface="Arial" panose="020B0604020202020204" pitchFamily="34" charset="0"/>
                <a:ea typeface="Book Antiqua" panose="02040602050305030304" pitchFamily="18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ea typeface="Book Antiqua" panose="02040602050305030304" pitchFamily="18" charset="0"/>
                <a:cs typeface="Arial" panose="020B0604020202020204" pitchFamily="34" charset="0"/>
              </a:rPr>
              <a:t>генератор</a:t>
            </a:r>
            <a:r>
              <a:rPr lang="en-US" sz="1200" dirty="0" smtClean="0">
                <a:latin typeface="Arial" panose="020B0604020202020204" pitchFamily="34" charset="0"/>
                <a:ea typeface="Book Antiqua" panose="02040602050305030304" pitchFamily="18" charset="0"/>
                <a:cs typeface="Arial" panose="020B0604020202020204" pitchFamily="34" charset="0"/>
              </a:rPr>
              <a:t>;</a:t>
            </a:r>
            <a:r>
              <a:rPr lang="ru-RU" sz="1200" dirty="0" smtClean="0">
                <a:latin typeface="Arial" panose="020B0604020202020204" pitchFamily="34" charset="0"/>
                <a:ea typeface="Book Antiqua" panose="02040602050305030304" pitchFamily="18" charset="0"/>
                <a:cs typeface="Arial" panose="020B0604020202020204" pitchFamily="34" charset="0"/>
              </a:rPr>
              <a:t> </a:t>
            </a:r>
          </a:p>
          <a:p>
            <a:pPr marL="171450" lvl="3" indent="-171450">
              <a:spcBef>
                <a:spcPts val="155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•"/>
              <a:tabLst>
                <a:tab pos="1366520" algn="l"/>
              </a:tabLst>
            </a:pPr>
            <a:r>
              <a:rPr lang="en-US" sz="1200" dirty="0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External</a:t>
            </a:r>
            <a:r>
              <a:rPr lang="en-US" sz="1200" spc="-160" dirty="0" smtClean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ru-RU" sz="1200" dirty="0">
                <a:latin typeface="Arial" panose="020B0604020202020204" pitchFamily="34" charset="0"/>
                <a:ea typeface="Book Antiqua" panose="02040602050305030304" pitchFamily="18" charset="0"/>
                <a:cs typeface="Arial" panose="020B0604020202020204" pitchFamily="34" charset="0"/>
              </a:rPr>
              <a:t>–</a:t>
            </a:r>
            <a:r>
              <a:rPr lang="ru-RU" sz="1200" spc="-100" dirty="0">
                <a:latin typeface="Arial" panose="020B0604020202020204" pitchFamily="34" charset="0"/>
                <a:ea typeface="Book Antiqua" panose="02040602050305030304" pitchFamily="18" charset="0"/>
                <a:cs typeface="Arial" panose="020B0604020202020204" pitchFamily="34" charset="0"/>
              </a:rPr>
              <a:t> </a:t>
            </a:r>
            <a:r>
              <a:rPr lang="ru-RU" sz="1200" dirty="0">
                <a:latin typeface="Arial" panose="020B0604020202020204" pitchFamily="34" charset="0"/>
                <a:ea typeface="Book Antiqua" panose="02040602050305030304" pitchFamily="18" charset="0"/>
                <a:cs typeface="Arial" panose="020B0604020202020204" pitchFamily="34" charset="0"/>
              </a:rPr>
              <a:t>в</a:t>
            </a:r>
            <a:r>
              <a:rPr lang="ru-RU" sz="1200" spc="-90" dirty="0">
                <a:latin typeface="Arial" panose="020B0604020202020204" pitchFamily="34" charset="0"/>
                <a:ea typeface="Book Antiqua" panose="02040602050305030304" pitchFamily="18" charset="0"/>
                <a:cs typeface="Arial" panose="020B0604020202020204" pitchFamily="34" charset="0"/>
              </a:rPr>
              <a:t> </a:t>
            </a:r>
            <a:r>
              <a:rPr lang="ru-RU" sz="1200" spc="-10" dirty="0">
                <a:latin typeface="Arial" panose="020B0604020202020204" pitchFamily="34" charset="0"/>
                <a:ea typeface="Book Antiqua" panose="02040602050305030304" pitchFamily="18" charset="0"/>
                <a:cs typeface="Arial" panose="020B0604020202020204" pitchFamily="34" charset="0"/>
              </a:rPr>
              <a:t>ка</a:t>
            </a:r>
            <a:r>
              <a:rPr lang="ru-RU" sz="1200" spc="-15" dirty="0">
                <a:latin typeface="Arial" panose="020B0604020202020204" pitchFamily="34" charset="0"/>
                <a:ea typeface="Book Antiqua" panose="02040602050305030304" pitchFamily="18" charset="0"/>
                <a:cs typeface="Arial" panose="020B0604020202020204" pitchFamily="34" charset="0"/>
              </a:rPr>
              <a:t>честве</a:t>
            </a:r>
            <a:r>
              <a:rPr lang="ru-RU" sz="1200" spc="-95" dirty="0">
                <a:latin typeface="Arial" panose="020B0604020202020204" pitchFamily="34" charset="0"/>
                <a:ea typeface="Book Antiqua" panose="02040602050305030304" pitchFamily="18" charset="0"/>
                <a:cs typeface="Arial" panose="020B0604020202020204" pitchFamily="34" charset="0"/>
              </a:rPr>
              <a:t> </a:t>
            </a:r>
            <a:r>
              <a:rPr lang="ru-RU" sz="1200" dirty="0">
                <a:latin typeface="Arial" panose="020B0604020202020204" pitchFamily="34" charset="0"/>
                <a:ea typeface="Book Antiqua" panose="02040602050305030304" pitchFamily="18" charset="0"/>
                <a:cs typeface="Arial" panose="020B0604020202020204" pitchFamily="34" charset="0"/>
              </a:rPr>
              <a:t>опорной</a:t>
            </a:r>
            <a:r>
              <a:rPr lang="ru-RU" sz="1200" spc="-100" dirty="0">
                <a:latin typeface="Arial" panose="020B0604020202020204" pitchFamily="34" charset="0"/>
                <a:ea typeface="Book Antiqua" panose="02040602050305030304" pitchFamily="18" charset="0"/>
                <a:cs typeface="Arial" panose="020B0604020202020204" pitchFamily="34" charset="0"/>
              </a:rPr>
              <a:t> </a:t>
            </a:r>
            <a:r>
              <a:rPr lang="ru-RU" sz="1200" dirty="0">
                <a:latin typeface="Arial" panose="020B0604020202020204" pitchFamily="34" charset="0"/>
                <a:ea typeface="Book Antiqua" panose="02040602050305030304" pitchFamily="18" charset="0"/>
                <a:cs typeface="Arial" panose="020B0604020202020204" pitchFamily="34" charset="0"/>
              </a:rPr>
              <a:t>частоты</a:t>
            </a:r>
            <a:r>
              <a:rPr lang="ru-RU" sz="1200" spc="-90" dirty="0">
                <a:latin typeface="Arial" panose="020B0604020202020204" pitchFamily="34" charset="0"/>
                <a:ea typeface="Book Antiqua" panose="02040602050305030304" pitchFamily="18" charset="0"/>
                <a:cs typeface="Arial" panose="020B0604020202020204" pitchFamily="34" charset="0"/>
              </a:rPr>
              <a:t> </a:t>
            </a:r>
            <a:r>
              <a:rPr lang="ru-RU" sz="1200" spc="-10" dirty="0">
                <a:latin typeface="Arial" panose="020B0604020202020204" pitchFamily="34" charset="0"/>
                <a:ea typeface="Book Antiqua" panose="02040602050305030304" pitchFamily="18" charset="0"/>
                <a:cs typeface="Arial" panose="020B0604020202020204" pitchFamily="34" charset="0"/>
              </a:rPr>
              <a:t>использу</a:t>
            </a:r>
            <a:r>
              <a:rPr lang="ru-RU" sz="1200" spc="-5" dirty="0">
                <a:latin typeface="Arial" panose="020B0604020202020204" pitchFamily="34" charset="0"/>
                <a:ea typeface="Book Antiqua" panose="02040602050305030304" pitchFamily="18" charset="0"/>
                <a:cs typeface="Arial" panose="020B0604020202020204" pitchFamily="34" charset="0"/>
              </a:rPr>
              <a:t>ется</a:t>
            </a:r>
            <a:r>
              <a:rPr lang="ru-RU" sz="1200" spc="-95" dirty="0">
                <a:latin typeface="Arial" panose="020B0604020202020204" pitchFamily="34" charset="0"/>
                <a:ea typeface="Book Antiqua" panose="02040602050305030304" pitchFamily="18" charset="0"/>
                <a:cs typeface="Arial" panose="020B0604020202020204" pitchFamily="34" charset="0"/>
              </a:rPr>
              <a:t> </a:t>
            </a:r>
            <a:r>
              <a:rPr lang="ru-RU" sz="1200" dirty="0">
                <a:latin typeface="Arial" panose="020B0604020202020204" pitchFamily="34" charset="0"/>
                <a:ea typeface="Book Antiqua" panose="02040602050305030304" pitchFamily="18" charset="0"/>
                <a:cs typeface="Arial" panose="020B0604020202020204" pitchFamily="34" charset="0"/>
              </a:rPr>
              <a:t>сигнал,</a:t>
            </a:r>
            <a:r>
              <a:rPr lang="ru-RU" sz="1200" spc="-95" dirty="0">
                <a:latin typeface="Arial" panose="020B0604020202020204" pitchFamily="34" charset="0"/>
                <a:ea typeface="Book Antiqua" panose="02040602050305030304" pitchFamily="18" charset="0"/>
                <a:cs typeface="Arial" panose="020B0604020202020204" pitchFamily="34" charset="0"/>
              </a:rPr>
              <a:t> </a:t>
            </a:r>
            <a:r>
              <a:rPr lang="ru-RU" sz="1200" spc="-15" dirty="0">
                <a:latin typeface="Arial" panose="020B0604020202020204" pitchFamily="34" charset="0"/>
                <a:ea typeface="Book Antiqua" panose="02040602050305030304" pitchFamily="18" charset="0"/>
                <a:cs typeface="Arial" panose="020B0604020202020204" pitchFamily="34" charset="0"/>
              </a:rPr>
              <a:t>пода-</a:t>
            </a:r>
            <a:r>
              <a:rPr lang="ru-RU" sz="1200" spc="140" dirty="0">
                <a:latin typeface="Arial" panose="020B0604020202020204" pitchFamily="34" charset="0"/>
                <a:ea typeface="Book Antiqua" panose="02040602050305030304" pitchFamily="18" charset="0"/>
                <a:cs typeface="Arial" panose="020B0604020202020204" pitchFamily="34" charset="0"/>
              </a:rPr>
              <a:t> </a:t>
            </a:r>
            <a:r>
              <a:rPr lang="ru-RU" sz="1200" dirty="0">
                <a:latin typeface="Arial" panose="020B0604020202020204" pitchFamily="34" charset="0"/>
                <a:ea typeface="Book Antiqua" panose="02040602050305030304" pitchFamily="18" charset="0"/>
                <a:cs typeface="Arial" panose="020B0604020202020204" pitchFamily="34" charset="0"/>
              </a:rPr>
              <a:t>ваемый</a:t>
            </a:r>
            <a:r>
              <a:rPr lang="ru-RU" sz="1200" spc="-10" dirty="0">
                <a:latin typeface="Arial" panose="020B0604020202020204" pitchFamily="34" charset="0"/>
                <a:ea typeface="Book Antiqua" panose="02040602050305030304" pitchFamily="18" charset="0"/>
                <a:cs typeface="Arial" panose="020B0604020202020204" pitchFamily="34" charset="0"/>
              </a:rPr>
              <a:t> </a:t>
            </a:r>
            <a:r>
              <a:rPr lang="ru-RU" sz="1200" dirty="0">
                <a:latin typeface="Arial" panose="020B0604020202020204" pitchFamily="34" charset="0"/>
                <a:ea typeface="Book Antiqua" panose="02040602050305030304" pitchFamily="18" charset="0"/>
                <a:cs typeface="Arial" panose="020B0604020202020204" pitchFamily="34" charset="0"/>
              </a:rPr>
              <a:t>на</a:t>
            </a:r>
            <a:r>
              <a:rPr lang="ru-RU" sz="1200" spc="-10" dirty="0">
                <a:latin typeface="Arial" panose="020B0604020202020204" pitchFamily="34" charset="0"/>
                <a:ea typeface="Book Antiqua" panose="02040602050305030304" pitchFamily="18" charset="0"/>
                <a:cs typeface="Arial" panose="020B0604020202020204" pitchFamily="34" charset="0"/>
              </a:rPr>
              <a:t> </a:t>
            </a:r>
            <a:r>
              <a:rPr lang="ru-RU" sz="1200" spc="-15" dirty="0">
                <a:latin typeface="Arial" panose="020B0604020202020204" pitchFamily="34" charset="0"/>
                <a:ea typeface="Book Antiqua" panose="02040602050305030304" pitchFamily="18" charset="0"/>
                <a:cs typeface="Arial" panose="020B0604020202020204" pitchFamily="34" charset="0"/>
              </a:rPr>
              <a:t>вх</a:t>
            </a:r>
            <a:r>
              <a:rPr lang="ru-RU" sz="1200" spc="-20" dirty="0">
                <a:latin typeface="Arial" panose="020B0604020202020204" pitchFamily="34" charset="0"/>
                <a:ea typeface="Book Antiqua" panose="02040602050305030304" pitchFamily="18" charset="0"/>
                <a:cs typeface="Arial" panose="020B0604020202020204" pitchFamily="34" charset="0"/>
              </a:rPr>
              <a:t>од</a:t>
            </a:r>
            <a:r>
              <a:rPr lang="ru-RU" sz="1200" spc="-5" dirty="0">
                <a:latin typeface="Arial" panose="020B0604020202020204" pitchFamily="34" charset="0"/>
                <a:ea typeface="Book Antiqua" panose="02040602050305030304" pitchFamily="18" charset="0"/>
                <a:cs typeface="Arial" panose="020B0604020202020204" pitchFamily="34" charset="0"/>
              </a:rPr>
              <a:t> </a:t>
            </a:r>
            <a:r>
              <a:rPr lang="en-US" sz="12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REF</a:t>
            </a:r>
            <a:r>
              <a:rPr lang="en-US" sz="1200" spc="-75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2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In</a:t>
            </a:r>
            <a:r>
              <a:rPr lang="ru-RU" sz="1200" dirty="0">
                <a:latin typeface="Arial" panose="020B0604020202020204" pitchFamily="34" charset="0"/>
                <a:ea typeface="Book Antiqua" panose="02040602050305030304" pitchFamily="18" charset="0"/>
                <a:cs typeface="Arial" panose="020B0604020202020204" pitchFamily="34" charset="0"/>
              </a:rPr>
              <a:t>;</a:t>
            </a:r>
            <a:endParaRPr lang="en-US" sz="1200" dirty="0">
              <a:effectLst/>
              <a:latin typeface="Arial" panose="020B0604020202020204" pitchFamily="34" charset="0"/>
              <a:ea typeface="Book Antiqua" panose="02040602050305030304" pitchFamily="18" charset="0"/>
              <a:cs typeface="Arial" panose="020B0604020202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373709" y="4777696"/>
            <a:ext cx="4311584" cy="1672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3">
              <a:spcBef>
                <a:spcPts val="360"/>
              </a:spcBef>
              <a:spcAft>
                <a:spcPts val="0"/>
              </a:spcAft>
              <a:buSzPts val="1000"/>
              <a:tabLst>
                <a:tab pos="1366520" algn="l"/>
              </a:tabLst>
            </a:pPr>
            <a:r>
              <a:rPr lang="ru-RU" sz="1200" b="1" dirty="0">
                <a:latin typeface="Arial" panose="020B0604020202020204" pitchFamily="34" charset="0"/>
                <a:ea typeface="Book Antiqua" panose="02040602050305030304" pitchFamily="18" charset="0"/>
                <a:cs typeface="Arial" panose="020B0604020202020204" pitchFamily="34" charset="0"/>
              </a:rPr>
              <a:t>Выход опорной частоты (</a:t>
            </a:r>
            <a:r>
              <a:rPr lang="en-US" sz="1200" b="1" dirty="0">
                <a:latin typeface="Arial" panose="020B0604020202020204" pitchFamily="34" charset="0"/>
                <a:ea typeface="Book Antiqua" panose="02040602050305030304" pitchFamily="18" charset="0"/>
                <a:cs typeface="Arial" panose="020B0604020202020204" pitchFamily="34" charset="0"/>
              </a:rPr>
              <a:t>Ref Output</a:t>
            </a:r>
            <a:r>
              <a:rPr lang="ru-RU" sz="1200" b="1" dirty="0">
                <a:latin typeface="Arial" panose="020B0604020202020204" pitchFamily="34" charset="0"/>
                <a:ea typeface="Book Antiqua" panose="02040602050305030304" pitchFamily="18" charset="0"/>
                <a:cs typeface="Arial" panose="020B0604020202020204" pitchFamily="34" charset="0"/>
              </a:rPr>
              <a:t>): </a:t>
            </a:r>
          </a:p>
          <a:p>
            <a:pPr marL="171450" lvl="3" indent="-171450">
              <a:spcBef>
                <a:spcPts val="36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•"/>
              <a:tabLst>
                <a:tab pos="1366520" algn="l"/>
              </a:tabLst>
            </a:pPr>
            <a:r>
              <a:rPr lang="en-US" sz="1200" dirty="0">
                <a:latin typeface="Arial" panose="020B0604020202020204" pitchFamily="34" charset="0"/>
                <a:ea typeface="Book Antiqua" panose="02040602050305030304" pitchFamily="18" charset="0"/>
                <a:cs typeface="Arial" panose="020B0604020202020204" pitchFamily="34" charset="0"/>
              </a:rPr>
              <a:t>On </a:t>
            </a:r>
            <a:r>
              <a:rPr lang="ru-RU" sz="1200" dirty="0">
                <a:latin typeface="Arial" panose="020B0604020202020204" pitchFamily="34" charset="0"/>
                <a:ea typeface="Book Antiqua" panose="02040602050305030304" pitchFamily="18" charset="0"/>
                <a:cs typeface="Arial" panose="020B0604020202020204" pitchFamily="34" charset="0"/>
              </a:rPr>
              <a:t>– выход включен, сигнал текущей опорной частоты прибора выводится на выход </a:t>
            </a:r>
            <a:r>
              <a:rPr lang="en-US" sz="1200" dirty="0">
                <a:latin typeface="Arial" panose="020B0604020202020204" pitchFamily="34" charset="0"/>
                <a:ea typeface="Book Antiqua" panose="02040602050305030304" pitchFamily="18" charset="0"/>
                <a:cs typeface="Arial" panose="020B0604020202020204" pitchFamily="34" charset="0"/>
              </a:rPr>
              <a:t>REF Out</a:t>
            </a:r>
            <a:r>
              <a:rPr lang="ru-RU" sz="1200" dirty="0">
                <a:latin typeface="Arial" panose="020B0604020202020204" pitchFamily="34" charset="0"/>
                <a:ea typeface="Book Antiqua" panose="02040602050305030304" pitchFamily="18" charset="0"/>
                <a:cs typeface="Arial" panose="020B0604020202020204" pitchFamily="34" charset="0"/>
              </a:rPr>
              <a:t>. При включенном внутреннем </a:t>
            </a:r>
            <a:r>
              <a:rPr lang="ru-RU" sz="1200" dirty="0" smtClean="0">
                <a:latin typeface="Arial" panose="020B0604020202020204" pitchFamily="34" charset="0"/>
                <a:ea typeface="Book Antiqua" panose="02040602050305030304" pitchFamily="18" charset="0"/>
                <a:cs typeface="Arial" panose="020B0604020202020204" pitchFamily="34" charset="0"/>
              </a:rPr>
              <a:t>опорном </a:t>
            </a:r>
            <a:r>
              <a:rPr lang="ru-RU" sz="1200" dirty="0">
                <a:latin typeface="Arial" panose="020B0604020202020204" pitchFamily="34" charset="0"/>
                <a:ea typeface="Book Antiqua" panose="02040602050305030304" pitchFamily="18" charset="0"/>
                <a:cs typeface="Arial" panose="020B0604020202020204" pitchFamily="34" charset="0"/>
              </a:rPr>
              <a:t>генераторе, сигнал берется с него, при включенном внешнем, – вход </a:t>
            </a:r>
            <a:r>
              <a:rPr lang="en-US" sz="1200" dirty="0">
                <a:latin typeface="Arial" panose="020B0604020202020204" pitchFamily="34" charset="0"/>
                <a:ea typeface="Book Antiqua" panose="02040602050305030304" pitchFamily="18" charset="0"/>
                <a:cs typeface="Arial" panose="020B0604020202020204" pitchFamily="34" charset="0"/>
              </a:rPr>
              <a:t>REF In </a:t>
            </a:r>
            <a:r>
              <a:rPr lang="ru-RU" sz="1200" dirty="0">
                <a:latin typeface="Arial" panose="020B0604020202020204" pitchFamily="34" charset="0"/>
                <a:ea typeface="Book Antiqua" panose="02040602050305030304" pitchFamily="18" charset="0"/>
                <a:cs typeface="Arial" panose="020B0604020202020204" pitchFamily="34" charset="0"/>
              </a:rPr>
              <a:t>подается через буферный усилитель на выход </a:t>
            </a:r>
            <a:r>
              <a:rPr lang="en-US" sz="1200" dirty="0">
                <a:latin typeface="Arial" panose="020B0604020202020204" pitchFamily="34" charset="0"/>
                <a:ea typeface="Book Antiqua" panose="02040602050305030304" pitchFamily="18" charset="0"/>
                <a:cs typeface="Arial" panose="020B0604020202020204" pitchFamily="34" charset="0"/>
              </a:rPr>
              <a:t>REF Out</a:t>
            </a:r>
            <a:r>
              <a:rPr lang="ru-RU" sz="1200" dirty="0">
                <a:latin typeface="Arial" panose="020B0604020202020204" pitchFamily="34" charset="0"/>
                <a:ea typeface="Book Antiqua" panose="02040602050305030304" pitchFamily="18" charset="0"/>
                <a:cs typeface="Arial" panose="020B0604020202020204" pitchFamily="34" charset="0"/>
              </a:rPr>
              <a:t>; </a:t>
            </a:r>
          </a:p>
          <a:p>
            <a:pPr marL="171450" lvl="3" indent="-171450">
              <a:spcBef>
                <a:spcPts val="36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•"/>
              <a:tabLst>
                <a:tab pos="1366520" algn="l"/>
              </a:tabLst>
            </a:pPr>
            <a:r>
              <a:rPr lang="en-US" sz="1200" dirty="0">
                <a:latin typeface="Arial" panose="020B0604020202020204" pitchFamily="34" charset="0"/>
                <a:ea typeface="Book Antiqua" panose="02040602050305030304" pitchFamily="18" charset="0"/>
                <a:cs typeface="Arial" panose="020B0604020202020204" pitchFamily="34" charset="0"/>
              </a:rPr>
              <a:t>Off – </a:t>
            </a:r>
            <a:r>
              <a:rPr lang="en-US" sz="1200" dirty="0" err="1">
                <a:latin typeface="Arial" panose="020B0604020202020204" pitchFamily="34" charset="0"/>
                <a:ea typeface="Book Antiqua" panose="02040602050305030304" pitchFamily="18" charset="0"/>
                <a:cs typeface="Arial" panose="020B0604020202020204" pitchFamily="34" charset="0"/>
              </a:rPr>
              <a:t>выход</a:t>
            </a:r>
            <a:r>
              <a:rPr lang="en-US" sz="1200" dirty="0">
                <a:latin typeface="Arial" panose="020B0604020202020204" pitchFamily="34" charset="0"/>
                <a:ea typeface="Book Antiqua" panose="02040602050305030304" pitchFamily="18" charset="0"/>
                <a:cs typeface="Arial" panose="020B0604020202020204" pitchFamily="34" charset="0"/>
              </a:rPr>
              <a:t> REF Out </a:t>
            </a:r>
            <a:r>
              <a:rPr lang="en-US" sz="1200" dirty="0" err="1">
                <a:latin typeface="Arial" panose="020B0604020202020204" pitchFamily="34" charset="0"/>
                <a:ea typeface="Book Antiqua" panose="02040602050305030304" pitchFamily="18" charset="0"/>
                <a:cs typeface="Arial" panose="020B0604020202020204" pitchFamily="34" charset="0"/>
              </a:rPr>
              <a:t>выключен</a:t>
            </a:r>
            <a:r>
              <a:rPr lang="en-US" sz="1200" dirty="0">
                <a:latin typeface="Arial" panose="020B0604020202020204" pitchFamily="34" charset="0"/>
                <a:ea typeface="Book Antiqua" panose="02040602050305030304" pitchFamily="18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74" r="38482"/>
          <a:stretch/>
        </p:blipFill>
        <p:spPr>
          <a:xfrm rot="5400000">
            <a:off x="7609600" y="3826988"/>
            <a:ext cx="1855635" cy="3573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4679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3" t="7668"/>
          <a:stretch/>
        </p:blipFill>
        <p:spPr>
          <a:xfrm>
            <a:off x="1176950" y="851026"/>
            <a:ext cx="4472412" cy="327056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88" t="15181" r="2013" b="4819"/>
          <a:stretch/>
        </p:blipFill>
        <p:spPr>
          <a:xfrm>
            <a:off x="5948127" y="851026"/>
            <a:ext cx="4227968" cy="31631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4363770"/>
            <a:ext cx="104114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Описать методику проведения эксперимента для измерения фазовой и частотной характеристик ПЧ в режиме детектора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Изобразить одидаемые характеристики в соответствии с заданием в описании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2568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онтур">
  <a:themeElements>
    <a:clrScheme name="Контур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Контур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онтур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Контур</Template>
  <TotalTime>4771</TotalTime>
  <Words>828</Words>
  <Application>Microsoft Office PowerPoint</Application>
  <PresentationFormat>Широкоэкранный</PresentationFormat>
  <Paragraphs>148</Paragraphs>
  <Slides>34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3</vt:i4>
      </vt:variant>
      <vt:variant>
        <vt:lpstr>Заголовки слайдов</vt:lpstr>
      </vt:variant>
      <vt:variant>
        <vt:i4>34</vt:i4>
      </vt:variant>
    </vt:vector>
  </HeadingPairs>
  <TitlesOfParts>
    <vt:vector size="49" baseType="lpstr">
      <vt:lpstr>Arial</vt:lpstr>
      <vt:lpstr>Arial Unicode MS</vt:lpstr>
      <vt:lpstr>Book Antiqua</vt:lpstr>
      <vt:lpstr>Calibri</vt:lpstr>
      <vt:lpstr>Meiryo</vt:lpstr>
      <vt:lpstr>Symbol</vt:lpstr>
      <vt:lpstr>Tahoma</vt:lpstr>
      <vt:lpstr>Times New Roman</vt:lpstr>
      <vt:lpstr>Trebuchet MS</vt:lpstr>
      <vt:lpstr>Tw Cen MT</vt:lpstr>
      <vt:lpstr>Verdana</vt:lpstr>
      <vt:lpstr>Контур</vt:lpstr>
      <vt:lpstr>Equation</vt:lpstr>
      <vt:lpstr>Visio.Drawing.11</vt:lpstr>
      <vt:lpstr>Visio</vt:lpstr>
      <vt:lpstr>Измерение основных параметров РПУ</vt:lpstr>
      <vt:lpstr>Единицы измерения </vt:lpstr>
      <vt:lpstr>Быстрый перевод</vt:lpstr>
      <vt:lpstr>Используемое оборудование</vt:lpstr>
      <vt:lpstr>Анализатор спектра, построенный по принципу супергетеродинного приемника</vt:lpstr>
      <vt:lpstr>Основы работы с контрольно-измерительным оборудование</vt:lpstr>
      <vt:lpstr>Контроль области исследуемых частот</vt:lpstr>
      <vt:lpstr>Влияние полосы RBW</vt:lpstr>
      <vt:lpstr>Влияние полосы VBW</vt:lpstr>
      <vt:lpstr>Исследование спектра ЧМ-сигнала</vt:lpstr>
      <vt:lpstr>Измерение параметров фильтра</vt:lpstr>
      <vt:lpstr>Фильтры </vt:lpstr>
      <vt:lpstr>Основные параметры фильтров</vt:lpstr>
      <vt:lpstr>Измерение АЧХ фильтра</vt:lpstr>
      <vt:lpstr>Презентация PowerPoint</vt:lpstr>
      <vt:lpstr>Презентация PowerPoint</vt:lpstr>
      <vt:lpstr>Измерение модуля коэффициента отражения </vt:lpstr>
      <vt:lpstr>Измерение параметров усилителя</vt:lpstr>
      <vt:lpstr>Основные параметры усилителей</vt:lpstr>
      <vt:lpstr>коэффициент усиления</vt:lpstr>
      <vt:lpstr>Презентация PowerPoint</vt:lpstr>
      <vt:lpstr>коэффициент шума</vt:lpstr>
      <vt:lpstr>точка одно-децибельной компрессии P1dB</vt:lpstr>
      <vt:lpstr>точка пересечения по интермодуляции 3-го порядка (IP3)</vt:lpstr>
      <vt:lpstr>Презентация PowerPoint</vt:lpstr>
      <vt:lpstr>Дополнительное задание</vt:lpstr>
      <vt:lpstr>Измерение параметров преобразователя чатоты</vt:lpstr>
      <vt:lpstr>Преобразовтель частоты</vt:lpstr>
      <vt:lpstr>Измерение коэффициентов передачи при преобразовании частоты вниз</vt:lpstr>
      <vt:lpstr>Презентация PowerPoint</vt:lpstr>
      <vt:lpstr>Измерение коэффициентов передачи при преобразовании частоты вверх</vt:lpstr>
      <vt:lpstr>Презентация PowerPoint</vt:lpstr>
      <vt:lpstr>Измерение фазовой и амплитудной характеристик смесителя в режиме детектора</vt:lpstr>
      <vt:lpstr>Презентация PowerPoint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Измерение основных параметров РПУ</dc:title>
  <dc:creator>NaumovaYD</dc:creator>
  <cp:lastModifiedBy>user</cp:lastModifiedBy>
  <cp:revision>89</cp:revision>
  <dcterms:created xsi:type="dcterms:W3CDTF">2021-05-31T09:38:04Z</dcterms:created>
  <dcterms:modified xsi:type="dcterms:W3CDTF">2023-05-24T10:35:48Z</dcterms:modified>
</cp:coreProperties>
</file>